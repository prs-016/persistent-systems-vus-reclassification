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Slide0">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Slide0">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604520"/>
            <a:ext cx="10972440" cy="39772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image" Target="../media/image11.png"/><Relationship Id="rId4"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hyperlink" Target="https://drive.google.com/drive/folders/1JcLgJJ9OV8EDCesRJkCwMi_Gtl22EJk8?usp=sharing" TargetMode="External"/><Relationship Id="rId2" Type="http://schemas.openxmlformats.org/officeDocument/2006/relationships/hyperlink" Target="https://drive.google.com/file/d/1u5IW14A4_qwg5-B-mIAAT0ooxpU7hzjh/view?usp=sharing" TargetMode="External"/><Relationship Id="rId3"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hyperlink" Target="mailto:prs016@ucsd.edu" TargetMode="External"/><Relationship Id="rId2" Type="http://schemas.openxmlformats.org/officeDocument/2006/relationships/slideLayout" Target="../slideLayouts/slideLayout1.xml"/><Relationship Id="rId3" Type="http://schemas.openxmlformats.org/officeDocument/2006/relationships/hyperlink" Target="https://www.linkedin.com/in/prakhar-shah-842b48293" TargetMode="Externa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C375C"/>
        </a:solidFill>
      </p:bgPr>
    </p:bg>
    <p:spTree>
      <p:nvGrpSpPr>
        <p:cNvPr id="1" name=""/>
        <p:cNvGrpSpPr/>
        <p:nvPr/>
      </p:nvGrpSpPr>
      <p:grpSpPr>
        <a:xfrm>
          <a:off x="0" y="0"/>
          <a:ext cx="0" cy="0"/>
          <a:chOff x="0" y="0"/>
          <a:chExt cx="0" cy="0"/>
        </a:xfrm>
      </p:grpSpPr>
      <p:sp>
        <p:nvSpPr>
          <p:cNvPr id="6" name=""/>
          <p:cNvSpPr txBox="1"/>
          <p:nvPr/>
        </p:nvSpPr>
        <p:spPr>
          <a:xfrm>
            <a:off x="822960" y="2148840"/>
            <a:ext cx="10515600" cy="365760"/>
          </a:xfrm>
          <a:prstGeom prst="rect">
            <a:avLst/>
          </a:prstGeom>
          <a:noFill/>
          <a:ln w="0">
            <a:noFill/>
          </a:ln>
        </p:spPr>
        <p:txBody>
          <a:bodyPr lIns="90000" tIns="45000" rIns="90000" bIns="45000" anchor="t">
            <a:spAutoFit/>
          </a:bodyPr>
          <a:p>
            <a:r>
              <a:rPr lang="en-US" sz="1400" b="1" u="none" spc="300" strike="noStrike">
                <a:solidFill>
                  <a:srgbClr val="E9C467"/>
                </a:solidFill>
                <a:effectLst/>
                <a:uFillTx/>
                <a:latin typeface="Calibri-Bold"/>
                <a:ea typeface="Calibri-Bold"/>
              </a:rPr>
              <a:t>VUS RECLASSIFICATION FORECASTING</a:t>
            </a:r>
            <a:endParaRPr lang="en-US" sz="1400" b="0" u="none" strike="noStrike">
              <a:solidFill>
                <a:srgbClr val="FFFFFF"/>
              </a:solidFill>
              <a:effectLst/>
              <a:uFillTx/>
              <a:latin typeface="Arial"/>
            </a:endParaRPr>
          </a:p>
        </p:txBody>
      </p:sp>
      <p:sp>
        <p:nvSpPr>
          <p:cNvPr id="7" name=""/>
          <p:cNvSpPr txBox="1"/>
          <p:nvPr/>
        </p:nvSpPr>
        <p:spPr>
          <a:xfrm>
            <a:off x="822960" y="2560320"/>
            <a:ext cx="10515600" cy="1554480"/>
          </a:xfrm>
          <a:prstGeom prst="rect">
            <a:avLst/>
          </a:prstGeom>
          <a:noFill/>
          <a:ln w="0">
            <a:noFill/>
          </a:ln>
        </p:spPr>
        <p:txBody>
          <a:bodyPr lIns="90000" tIns="45000" rIns="90000" bIns="45000" anchor="t">
            <a:spAutoFit/>
          </a:bodyPr>
          <a:p>
            <a:pPr>
              <a:lnSpc>
                <a:spcPct val="105000"/>
              </a:lnSpc>
            </a:pPr>
            <a:r>
              <a:rPr lang="en-US" sz="4000" b="1" u="none" strike="noStrike">
                <a:solidFill>
                  <a:srgbClr val="FFFFFF"/>
                </a:solidFill>
                <a:effectLst/>
                <a:uFillTx/>
                <a:latin typeface="Cambria-Bold"/>
                <a:ea typeface="Cambria-Bold"/>
              </a:rPr>
              <a:t>Which Uncertain Variants Resolve Next, and How Soon</a:t>
            </a:r>
            <a:endParaRPr lang="en-US" sz="4000" b="0" u="none" strike="noStrike">
              <a:solidFill>
                <a:srgbClr val="FFFFFF"/>
              </a:solidFill>
              <a:effectLst/>
              <a:uFillTx/>
              <a:latin typeface="Arial"/>
            </a:endParaRPr>
          </a:p>
        </p:txBody>
      </p:sp>
      <p:sp>
        <p:nvSpPr>
          <p:cNvPr id="8" name=""/>
          <p:cNvSpPr txBox="1"/>
          <p:nvPr/>
        </p:nvSpPr>
        <p:spPr>
          <a:xfrm>
            <a:off x="822960" y="4160520"/>
            <a:ext cx="9601200" cy="548640"/>
          </a:xfrm>
          <a:prstGeom prst="rect">
            <a:avLst/>
          </a:prstGeom>
          <a:noFill/>
          <a:ln w="0">
            <a:noFill/>
          </a:ln>
        </p:spPr>
        <p:txBody>
          <a:bodyPr lIns="90000" tIns="45000" rIns="90000" bIns="45000" anchor="t">
            <a:spAutoFit/>
          </a:bodyPr>
          <a:p>
            <a:r>
              <a:rPr lang="en-US" sz="1500" b="0" i="1" u="none" strike="noStrike">
                <a:solidFill>
                  <a:srgbClr val="AEBEDD"/>
                </a:solidFill>
                <a:effectLst/>
                <a:uFillTx/>
                <a:latin typeface="Calibri-Italic"/>
                <a:ea typeface="Calibri-Italic"/>
              </a:rPr>
              <a:t>Results from 149 real patients, 195,127 tracked ClinVar variants, and a global reclassification watchlist</a:t>
            </a:r>
            <a:endParaRPr lang="en-US" sz="1500" b="0" u="none" strike="noStrike">
              <a:solidFill>
                <a:srgbClr val="FFFFFF"/>
              </a:solidFill>
              <a:effectLst/>
              <a:uFillTx/>
              <a:latin typeface="Arial"/>
            </a:endParaRPr>
          </a:p>
        </p:txBody>
      </p:sp>
      <p:sp>
        <p:nvSpPr>
          <p:cNvPr id="9" name=""/>
          <p:cNvSpPr/>
          <p:nvPr/>
        </p:nvSpPr>
        <p:spPr>
          <a:xfrm>
            <a:off x="822960" y="4892040"/>
            <a:ext cx="1006200" cy="41400"/>
          </a:xfrm>
          <a:custGeom>
            <a:avLst/>
            <a:gdLst/>
            <a:ahLst/>
            <a:rect l="0" t="0" r="r" b="b"/>
            <a:pathLst>
              <a:path w="2795" h="115">
                <a:moveTo>
                  <a:pt x="0" y="0"/>
                </a:moveTo>
                <a:lnTo>
                  <a:pt x="2795" y="0"/>
                </a:lnTo>
                <a:lnTo>
                  <a:pt x="2795" y="115"/>
                </a:lnTo>
                <a:lnTo>
                  <a:pt x="0" y="115"/>
                </a:lnTo>
                <a:lnTo>
                  <a:pt x="0" y="0"/>
                </a:lnTo>
                <a:close/>
              </a:path>
            </a:pathLst>
          </a:custGeom>
          <a:solidFill>
            <a:srgbClr val="E76C4E"/>
          </a:solidFill>
          <a:ln w="0">
            <a:noFill/>
          </a:ln>
        </p:spPr>
        <p:txBody>
          <a:bodyPr lIns="90000" tIns="-3600" rIns="90000" bIns="-3600" anchor="t">
            <a:noAutofit/>
          </a:bodyPr>
          <a:p>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HOW THIS WAS BUILT</a:t>
            </a:r>
            <a:endParaRPr lang="en-US" sz="1200" b="0" u="none" strike="noStrike">
              <a:solidFill>
                <a:srgbClr val="000000"/>
              </a:solidFill>
              <a:effectLst/>
              <a:uFillTx/>
              <a:latin typeface="Arial"/>
            </a:endParaRPr>
          </a:p>
        </p:txBody>
      </p:sp>
      <p:sp>
        <p:nvSpPr>
          <p:cNvPr id="11"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The End-to-End Pipeline</a:t>
            </a:r>
            <a:endParaRPr lang="en-US" sz="3000" b="0" u="none" strike="noStrike">
              <a:solidFill>
                <a:srgbClr val="000000"/>
              </a:solidFill>
              <a:effectLst/>
              <a:uFillTx/>
              <a:latin typeface="Arial"/>
            </a:endParaRPr>
          </a:p>
        </p:txBody>
      </p:sp>
      <p:sp>
        <p:nvSpPr>
          <p:cNvPr id="13"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endParaRPr lang="en-US" sz="1000" b="0" u="none" strike="noStrike">
              <a:solidFill>
                <a:srgbClr val="000000"/>
              </a:solidFill>
              <a:effectLst/>
              <a:uFillTx/>
              <a:latin typeface="Arial"/>
            </a:endParaRPr>
          </a:p>
        </p:txBody>
      </p:sp>
      <p:pic>
        <p:nvPicPr>
          <p:cNvPr id="14" name="Picture 13" descr="pipeline_diagram_annotated6.png"/>
          <p:cNvPicPr>
            <a:picLocks noChangeAspect="1"/>
          </p:cNvPicPr>
          <p:nvPr/>
        </p:nvPicPr>
        <p:blipFill>
          <a:blip r:embed="rId4"/>
          <a:stretch>
            <a:fillRect/>
          </a:stretch>
        </p:blipFill>
        <p:spPr>
          <a:xfrm>
            <a:off x="505000" y="1417320"/>
            <a:ext cx="11151520" cy="5074920"/>
          </a:xfrm>
          <a:prstGeom prst="rect">
            <a:avLst/>
          </a:prstGeom>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HOW THIS WAS BUILT</a:t>
            </a:r>
            <a:endParaRPr lang="en-US" sz="1200" b="0" u="none" strike="noStrike">
              <a:solidFill>
                <a:srgbClr val="000000"/>
              </a:solidFill>
              <a:effectLst/>
              <a:uFillTx/>
              <a:latin typeface="Arial"/>
            </a:endParaRPr>
          </a:p>
        </p:txBody>
      </p:sp>
      <p:sp>
        <p:nvSpPr>
          <p:cNvPr id="15"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Two Models</a:t>
            </a:r>
            <a:r>
              <a:rPr lang="en-US" sz="3000" b="1" u="none" strike="noStrike">
                <a:solidFill>
                  <a:srgbClr val="1F242E"/>
                </a:solidFill>
                <a:effectLst/>
                <a:uFillTx/>
                <a:latin typeface="Cambria-Bold"/>
                <a:ea typeface="Cambria-Bold"/>
              </a:rPr>
              <a:t> performing Two</a:t>
            </a:r>
            <a:r>
              <a:rPr lang="en-US" sz="3000" b="1" u="none" strike="noStrike">
                <a:solidFill>
                  <a:srgbClr val="1F242E"/>
                </a:solidFill>
                <a:effectLst/>
                <a:uFillTx/>
                <a:latin typeface="Cambria-Bold"/>
                <a:ea typeface="Cambria-Bold"/>
              </a:rPr>
              <a:t> Jobs</a:t>
            </a:r>
            <a:endParaRPr lang="en-US" sz="3000" b="0" u="none" strike="noStrike">
              <a:solidFill>
                <a:srgbClr val="000000"/>
              </a:solidFill>
              <a:effectLst/>
              <a:uFillTx/>
              <a:latin typeface="Arial"/>
            </a:endParaRPr>
          </a:p>
        </p:txBody>
      </p:sp>
      <p:sp>
        <p:nvSpPr>
          <p:cNvPr id="16" name=""/>
          <p:cNvSpPr txBox="1"/>
          <p:nvPr/>
        </p:nvSpPr>
        <p:spPr>
          <a:xfrm>
            <a:off x="548640" y="1463040"/>
            <a:ext cx="10789920" cy="548640"/>
          </a:xfrm>
          <a:prstGeom prst="rect">
            <a:avLst/>
          </a:prstGeom>
          <a:noFill/>
          <a:ln w="0">
            <a:noFill/>
          </a:ln>
        </p:spPr>
        <p:txBody>
          <a:bodyPr lIns="90000" tIns="45000" rIns="90000" bIns="45000" anchor="t">
            <a:spAutoFit/>
          </a:bodyPr>
          <a:p>
            <a:pPr>
              <a:lnSpc>
                <a:spcPct val="125000"/>
              </a:lnSpc>
            </a:pPr>
            <a:r>
              <a:rPr lang="en-US" sz="1300" b="0" u="none" strike="noStrike">
                <a:solidFill>
                  <a:srgbClr val="475265"/>
                </a:solidFill>
                <a:effectLst/>
                <a:uFillTx/>
                <a:latin typeface="Calibri"/>
                <a:ea typeface="Calibri"/>
              </a:rPr>
              <a:t>Stage 1 sorts each variant into Germline or Somatic </a:t>
            </a:r>
            <a:r>
              <a:rPr lang="en-US" sz="1300" b="0" u="none" strike="noStrike">
                <a:solidFill>
                  <a:srgbClr val="475265"/>
                </a:solidFill>
                <a:effectLst/>
                <a:uFillTx/>
                <a:latin typeface="Calibri"/>
                <a:ea typeface="Calibri"/>
              </a:rPr>
              <a:t>or VUS</a:t>
            </a:r>
            <a:r>
              <a:rPr lang="en-US" sz="1300" b="0" u="none" strike="noStrike">
                <a:solidFill>
                  <a:srgbClr val="475265"/>
                </a:solidFill>
                <a:effectLst/>
                <a:uFillTx/>
                <a:latin typeface="Calibri"/>
                <a:ea typeface="Calibri"/>
              </a:rPr>
              <a:t>. Stage 2 takes every variant still classified as a VUS and forecasts how likely it is to be reclassified</a:t>
            </a:r>
            <a:r>
              <a:rPr lang="en-US" sz="1300" b="0" u="none" strike="noStrike">
                <a:solidFill>
                  <a:srgbClr val="475265"/>
                </a:solidFill>
                <a:effectLst/>
                <a:uFillTx/>
                <a:latin typeface="Calibri"/>
                <a:ea typeface="Calibri"/>
              </a:rPr>
              <a:t>.</a:t>
            </a:r>
            <a:endParaRPr lang="en-US" sz="1300" b="0" u="none" strike="noStrike">
              <a:solidFill>
                <a:srgbClr val="000000"/>
              </a:solidFill>
              <a:effectLst/>
              <a:uFillTx/>
              <a:latin typeface="Arial"/>
            </a:endParaRPr>
          </a:p>
        </p:txBody>
      </p:sp>
      <p:sp>
        <p:nvSpPr>
          <p:cNvPr id="17" name=""/>
          <p:cNvSpPr txBox="1"/>
          <p:nvPr/>
        </p:nvSpPr>
        <p:spPr>
          <a:xfrm>
            <a:off x="548640" y="2148840"/>
            <a:ext cx="5486400" cy="274320"/>
          </a:xfrm>
          <a:prstGeom prst="rect">
            <a:avLst/>
          </a:prstGeom>
          <a:noFill/>
          <a:ln w="0">
            <a:noFill/>
          </a:ln>
        </p:spPr>
        <p:txBody>
          <a:bodyPr lIns="90000" tIns="45000" rIns="90000" bIns="45000" anchor="t">
            <a:spAutoFit/>
          </a:bodyPr>
          <a:p>
            <a:r>
              <a:rPr lang="en-US" sz="1100" b="1" u="none" spc="150" strike="noStrike">
                <a:solidFill>
                  <a:srgbClr val="279D8F"/>
                </a:solidFill>
                <a:effectLst/>
                <a:uFillTx/>
                <a:latin typeface="Calibri-Bold"/>
                <a:ea typeface="Calibri-Bold"/>
              </a:rPr>
              <a:t>STAGE 1: GERMLINE VS. SOMATIC VS. VUS · XGBOOST</a:t>
            </a:r>
            <a:endParaRPr lang="en-US" sz="1100" b="0" u="none" strike="noStrike">
              <a:solidFill>
                <a:srgbClr val="000000"/>
              </a:solidFill>
              <a:effectLst/>
              <a:uFillTx/>
              <a:latin typeface="Arial"/>
            </a:endParaRPr>
          </a:p>
        </p:txBody>
      </p:sp>
      <p:sp>
        <p:nvSpPr>
          <p:cNvPr id="18" name=""/>
          <p:cNvSpPr/>
          <p:nvPr/>
        </p:nvSpPr>
        <p:spPr>
          <a:xfrm>
            <a:off x="548640" y="2468880"/>
            <a:ext cx="2423520" cy="1051920"/>
          </a:xfrm>
          <a:custGeom>
            <a:avLst/>
            <a:gdLst/>
            <a:ahLst/>
            <a:rect l="0" t="0" r="r" b="b"/>
            <a:pathLst>
              <a:path w="6732" h="2922">
                <a:moveTo>
                  <a:pt x="6503" y="0"/>
                </a:moveTo>
                <a:cubicBezTo>
                  <a:pt x="6656" y="0"/>
                  <a:pt x="6732" y="76"/>
                  <a:pt x="6732" y="228"/>
                </a:cubicBezTo>
                <a:lnTo>
                  <a:pt x="6732" y="2693"/>
                </a:lnTo>
                <a:cubicBezTo>
                  <a:pt x="6732" y="2846"/>
                  <a:pt x="6656" y="2922"/>
                  <a:pt x="6503" y="2922"/>
                </a:cubicBezTo>
                <a:lnTo>
                  <a:pt x="228" y="2922"/>
                </a:lnTo>
                <a:cubicBezTo>
                  <a:pt x="76" y="2922"/>
                  <a:pt x="0" y="2846"/>
                  <a:pt x="0" y="2693"/>
                </a:cubicBezTo>
                <a:lnTo>
                  <a:pt x="0" y="228"/>
                </a:lnTo>
                <a:cubicBezTo>
                  <a:pt x="0" y="76"/>
                  <a:pt x="76" y="0"/>
                  <a:pt x="228" y="0"/>
                </a:cubicBezTo>
                <a:lnTo>
                  <a:pt x="650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9" name=""/>
          <p:cNvSpPr txBox="1"/>
          <p:nvPr/>
        </p:nvSpPr>
        <p:spPr>
          <a:xfrm>
            <a:off x="658440" y="2672280"/>
            <a:ext cx="2203560" cy="474480"/>
          </a:xfrm>
          <a:prstGeom prst="rect">
            <a:avLst/>
          </a:prstGeom>
          <a:noFill/>
          <a:ln w="0">
            <a:noFill/>
          </a:ln>
        </p:spPr>
        <p:txBody>
          <a:bodyPr lIns="90000" tIns="45000" rIns="90000" bIns="45000" anchor="t">
            <a:spAutoFit/>
          </a:bodyPr>
          <a:p>
            <a:r>
              <a:rPr lang="en-US" sz="2600" b="1" u="none" strike="noStrike">
                <a:solidFill>
                  <a:srgbClr val="1C375C"/>
                </a:solidFill>
                <a:effectLst/>
                <a:uFillTx/>
                <a:latin typeface="Cambria-Bold"/>
                <a:ea typeface="Cambria-Bold"/>
              </a:rPr>
              <a:t>45,706</a:t>
            </a:r>
            <a:endParaRPr lang="en-US" sz="2600" b="0" u="none" strike="noStrike">
              <a:solidFill>
                <a:srgbClr val="000000"/>
              </a:solidFill>
              <a:effectLst/>
              <a:uFillTx/>
              <a:latin typeface="Arial"/>
            </a:endParaRPr>
          </a:p>
        </p:txBody>
      </p:sp>
      <p:sp>
        <p:nvSpPr>
          <p:cNvPr id="20" name=""/>
          <p:cNvSpPr txBox="1"/>
          <p:nvPr/>
        </p:nvSpPr>
        <p:spPr>
          <a:xfrm>
            <a:off x="658440" y="3099960"/>
            <a:ext cx="2203560" cy="3996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training rows, 149 real patients</a:t>
            </a:r>
            <a:endParaRPr lang="en-US" sz="1100" b="0" u="none" strike="noStrike">
              <a:solidFill>
                <a:srgbClr val="000000"/>
              </a:solidFill>
              <a:effectLst/>
              <a:uFillTx/>
              <a:latin typeface="Arial"/>
            </a:endParaRPr>
          </a:p>
        </p:txBody>
      </p:sp>
      <p:sp>
        <p:nvSpPr>
          <p:cNvPr id="21" name=""/>
          <p:cNvSpPr/>
          <p:nvPr/>
        </p:nvSpPr>
        <p:spPr>
          <a:xfrm>
            <a:off x="3063240" y="2468880"/>
            <a:ext cx="2423520" cy="1051920"/>
          </a:xfrm>
          <a:custGeom>
            <a:avLst/>
            <a:gdLst/>
            <a:ahLst/>
            <a:rect l="0" t="0" r="r" b="b"/>
            <a:pathLst>
              <a:path w="6732" h="2922">
                <a:moveTo>
                  <a:pt x="6503" y="0"/>
                </a:moveTo>
                <a:cubicBezTo>
                  <a:pt x="6656" y="0"/>
                  <a:pt x="6732" y="76"/>
                  <a:pt x="6732" y="228"/>
                </a:cubicBezTo>
                <a:lnTo>
                  <a:pt x="6732" y="2693"/>
                </a:lnTo>
                <a:cubicBezTo>
                  <a:pt x="6732" y="2846"/>
                  <a:pt x="6656" y="2922"/>
                  <a:pt x="6503" y="2922"/>
                </a:cubicBezTo>
                <a:lnTo>
                  <a:pt x="228" y="2922"/>
                </a:lnTo>
                <a:cubicBezTo>
                  <a:pt x="76" y="2922"/>
                  <a:pt x="0" y="2846"/>
                  <a:pt x="0" y="2693"/>
                </a:cubicBezTo>
                <a:lnTo>
                  <a:pt x="0" y="228"/>
                </a:lnTo>
                <a:cubicBezTo>
                  <a:pt x="0" y="76"/>
                  <a:pt x="76" y="0"/>
                  <a:pt x="228" y="0"/>
                </a:cubicBezTo>
                <a:lnTo>
                  <a:pt x="650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22" name=""/>
          <p:cNvSpPr txBox="1"/>
          <p:nvPr/>
        </p:nvSpPr>
        <p:spPr>
          <a:xfrm>
            <a:off x="3173040" y="2672280"/>
            <a:ext cx="2203560" cy="474480"/>
          </a:xfrm>
          <a:prstGeom prst="rect">
            <a:avLst/>
          </a:prstGeom>
          <a:noFill/>
          <a:ln w="0">
            <a:noFill/>
          </a:ln>
        </p:spPr>
        <p:txBody>
          <a:bodyPr lIns="90000" tIns="45000" rIns="90000" bIns="45000" anchor="t">
            <a:spAutoFit/>
          </a:bodyPr>
          <a:p>
            <a:r>
              <a:rPr lang="en-US" sz="2600" b="1" u="none" strike="noStrike">
                <a:solidFill>
                  <a:srgbClr val="1C375C"/>
                </a:solidFill>
                <a:effectLst/>
                <a:uFillTx/>
                <a:latin typeface="Cambria-Bold"/>
                <a:ea typeface="Cambria-Bold"/>
              </a:rPr>
              <a:t>0.9</a:t>
            </a:r>
            <a:r>
              <a:rPr lang="en-US" sz="2600" b="1" u="none" strike="noStrike">
                <a:solidFill>
                  <a:srgbClr val="1C375C"/>
                </a:solidFill>
                <a:effectLst/>
                <a:uFillTx/>
                <a:latin typeface="Cambria-Bold"/>
                <a:ea typeface="Cambria-Bold"/>
              </a:rPr>
              <a:t>218</a:t>
            </a:r>
            <a:endParaRPr lang="en-US" sz="2600" b="0" u="none" strike="noStrike">
              <a:solidFill>
                <a:srgbClr val="000000"/>
              </a:solidFill>
              <a:effectLst/>
              <a:uFillTx/>
              <a:latin typeface="Arial"/>
            </a:endParaRPr>
          </a:p>
        </p:txBody>
      </p:sp>
      <p:sp>
        <p:nvSpPr>
          <p:cNvPr id="23" name=""/>
          <p:cNvSpPr txBox="1"/>
          <p:nvPr/>
        </p:nvSpPr>
        <p:spPr>
          <a:xfrm>
            <a:off x="3173040" y="3099960"/>
            <a:ext cx="2203560" cy="3996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precision at production</a:t>
            </a:r>
            <a:endParaRPr lang="en-US" sz="1100" b="0" u="none" strike="noStrike">
              <a:solidFill>
                <a:srgbClr val="000000"/>
              </a:solidFill>
              <a:effectLst/>
              <a:uFillTx/>
              <a:latin typeface="Arial"/>
            </a:endParaRPr>
          </a:p>
        </p:txBody>
      </p:sp>
      <p:sp>
        <p:nvSpPr>
          <p:cNvPr id="24" name=""/>
          <p:cNvSpPr txBox="1"/>
          <p:nvPr/>
        </p:nvSpPr>
        <p:spPr>
          <a:xfrm>
            <a:off x="548640" y="3794760"/>
            <a:ext cx="7315200" cy="274320"/>
          </a:xfrm>
          <a:prstGeom prst="rect">
            <a:avLst/>
          </a:prstGeom>
          <a:noFill/>
          <a:ln w="0">
            <a:noFill/>
          </a:ln>
        </p:spPr>
        <p:txBody>
          <a:bodyPr lIns="90000" tIns="45000" rIns="90000" bIns="45000" anchor="t">
            <a:spAutoFit/>
          </a:bodyPr>
          <a:p>
            <a:r>
              <a:rPr lang="en-US" sz="1100" b="1" u="none" spc="150" strike="noStrike">
                <a:solidFill>
                  <a:srgbClr val="279D8F"/>
                </a:solidFill>
                <a:effectLst/>
                <a:uFillTx/>
                <a:latin typeface="Calibri-Bold"/>
                <a:ea typeface="Calibri-Bold"/>
              </a:rPr>
              <a:t>STAGE 2: RECLASSIFICATION FORECAST · CATBOOST, COX, ENSEMBLE</a:t>
            </a:r>
            <a:endParaRPr lang="en-US" sz="1100" b="0" u="none" strike="noStrike">
              <a:solidFill>
                <a:srgbClr val="000000"/>
              </a:solidFill>
              <a:effectLst/>
              <a:uFillTx/>
              <a:latin typeface="Arial"/>
            </a:endParaRPr>
          </a:p>
        </p:txBody>
      </p:sp>
      <p:sp>
        <p:nvSpPr>
          <p:cNvPr id="25" name=""/>
          <p:cNvSpPr/>
          <p:nvPr/>
        </p:nvSpPr>
        <p:spPr>
          <a:xfrm>
            <a:off x="548640" y="4114800"/>
            <a:ext cx="2469240" cy="1189080"/>
          </a:xfrm>
          <a:custGeom>
            <a:avLst/>
            <a:gdLst/>
            <a:ahLst/>
            <a:rect l="0" t="0" r="r" b="b"/>
            <a:pathLst>
              <a:path w="6859" h="3303">
                <a:moveTo>
                  <a:pt x="6631" y="0"/>
                </a:moveTo>
                <a:cubicBezTo>
                  <a:pt x="6783" y="0"/>
                  <a:pt x="6859" y="76"/>
                  <a:pt x="6859" y="228"/>
                </a:cubicBezTo>
                <a:lnTo>
                  <a:pt x="6859" y="3075"/>
                </a:lnTo>
                <a:cubicBezTo>
                  <a:pt x="6859" y="3227"/>
                  <a:pt x="6783" y="3303"/>
                  <a:pt x="6631" y="3303"/>
                </a:cubicBezTo>
                <a:lnTo>
                  <a:pt x="228" y="3303"/>
                </a:lnTo>
                <a:cubicBezTo>
                  <a:pt x="76" y="3303"/>
                  <a:pt x="0" y="3227"/>
                  <a:pt x="0" y="3075"/>
                </a:cubicBezTo>
                <a:lnTo>
                  <a:pt x="0" y="228"/>
                </a:lnTo>
                <a:cubicBezTo>
                  <a:pt x="0" y="76"/>
                  <a:pt x="76" y="0"/>
                  <a:pt x="228" y="0"/>
                </a:cubicBezTo>
                <a:lnTo>
                  <a:pt x="6631" y="0"/>
                </a:lnTo>
                <a:close/>
              </a:path>
            </a:pathLst>
          </a:custGeom>
          <a:solidFill>
            <a:srgbClr val="FDEEE8"/>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26" name=""/>
          <p:cNvSpPr txBox="1"/>
          <p:nvPr/>
        </p:nvSpPr>
        <p:spPr>
          <a:xfrm>
            <a:off x="658440" y="4360320"/>
            <a:ext cx="2249280" cy="474480"/>
          </a:xfrm>
          <a:prstGeom prst="rect">
            <a:avLst/>
          </a:prstGeom>
          <a:noFill/>
          <a:ln w="0">
            <a:noFill/>
          </a:ln>
        </p:spPr>
        <p:txBody>
          <a:bodyPr lIns="90000" tIns="45000" rIns="90000" bIns="45000" anchor="t">
            <a:spAutoFit/>
          </a:bodyPr>
          <a:p>
            <a:r>
              <a:rPr lang="en-US" sz="2600" b="1" u="none" strike="noStrike">
                <a:solidFill>
                  <a:srgbClr val="E76C4E"/>
                </a:solidFill>
                <a:effectLst/>
                <a:uFillTx/>
                <a:latin typeface="Cambria-Bold"/>
                <a:ea typeface="Cambria-Bold"/>
              </a:rPr>
              <a:t>0.432</a:t>
            </a:r>
            <a:endParaRPr lang="en-US" sz="2600" b="0" u="none" strike="noStrike">
              <a:solidFill>
                <a:srgbClr val="000000"/>
              </a:solidFill>
              <a:effectLst/>
              <a:uFillTx/>
              <a:latin typeface="Arial"/>
            </a:endParaRPr>
          </a:p>
        </p:txBody>
      </p:sp>
      <p:sp>
        <p:nvSpPr>
          <p:cNvPr id="27" name=""/>
          <p:cNvSpPr txBox="1"/>
          <p:nvPr/>
        </p:nvSpPr>
        <p:spPr>
          <a:xfrm>
            <a:off x="658440" y="4827960"/>
            <a:ext cx="224928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PR-AUC · CatBoost model</a:t>
            </a:r>
            <a:endParaRPr lang="en-US" sz="1100" b="0" u="none" strike="noStrike">
              <a:solidFill>
                <a:srgbClr val="000000"/>
              </a:solidFill>
              <a:effectLst/>
              <a:uFillTx/>
              <a:latin typeface="Arial"/>
            </a:endParaRPr>
          </a:p>
        </p:txBody>
      </p:sp>
      <p:sp>
        <p:nvSpPr>
          <p:cNvPr id="28" name=""/>
          <p:cNvSpPr/>
          <p:nvPr/>
        </p:nvSpPr>
        <p:spPr>
          <a:xfrm>
            <a:off x="3200400" y="4114800"/>
            <a:ext cx="2469240" cy="1189080"/>
          </a:xfrm>
          <a:custGeom>
            <a:avLst/>
            <a:gdLst/>
            <a:ahLst/>
            <a:rect l="0" t="0" r="r" b="b"/>
            <a:pathLst>
              <a:path w="6859" h="3303">
                <a:moveTo>
                  <a:pt x="6631" y="0"/>
                </a:moveTo>
                <a:cubicBezTo>
                  <a:pt x="6783" y="0"/>
                  <a:pt x="6859" y="76"/>
                  <a:pt x="6859" y="228"/>
                </a:cubicBezTo>
                <a:lnTo>
                  <a:pt x="6859" y="3075"/>
                </a:lnTo>
                <a:cubicBezTo>
                  <a:pt x="6859" y="3227"/>
                  <a:pt x="6783" y="3303"/>
                  <a:pt x="6631" y="3303"/>
                </a:cubicBezTo>
                <a:lnTo>
                  <a:pt x="228" y="3303"/>
                </a:lnTo>
                <a:cubicBezTo>
                  <a:pt x="76" y="3303"/>
                  <a:pt x="0" y="3227"/>
                  <a:pt x="0" y="3075"/>
                </a:cubicBezTo>
                <a:lnTo>
                  <a:pt x="0" y="228"/>
                </a:lnTo>
                <a:cubicBezTo>
                  <a:pt x="0" y="76"/>
                  <a:pt x="76" y="0"/>
                  <a:pt x="228" y="0"/>
                </a:cubicBezTo>
                <a:lnTo>
                  <a:pt x="6631" y="0"/>
                </a:lnTo>
                <a:close/>
              </a:path>
            </a:pathLst>
          </a:custGeom>
          <a:solidFill>
            <a:srgbClr val="FDEEE8"/>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29" name=""/>
          <p:cNvSpPr txBox="1"/>
          <p:nvPr/>
        </p:nvSpPr>
        <p:spPr>
          <a:xfrm>
            <a:off x="3310200" y="4360320"/>
            <a:ext cx="2249280" cy="474480"/>
          </a:xfrm>
          <a:prstGeom prst="rect">
            <a:avLst/>
          </a:prstGeom>
          <a:noFill/>
          <a:ln w="0">
            <a:noFill/>
          </a:ln>
        </p:spPr>
        <p:txBody>
          <a:bodyPr lIns="90000" tIns="45000" rIns="90000" bIns="45000" anchor="t">
            <a:spAutoFit/>
          </a:bodyPr>
          <a:p>
            <a:r>
              <a:rPr lang="en-US" sz="2600" b="1" u="none" strike="noStrike">
                <a:solidFill>
                  <a:srgbClr val="E76C4E"/>
                </a:solidFill>
                <a:effectLst/>
                <a:uFillTx/>
                <a:latin typeface="Cambria-Bold"/>
                <a:ea typeface="Cambria-Bold"/>
              </a:rPr>
              <a:t>0.849</a:t>
            </a:r>
            <a:endParaRPr lang="en-US" sz="2600" b="0" u="none" strike="noStrike">
              <a:solidFill>
                <a:srgbClr val="000000"/>
              </a:solidFill>
              <a:effectLst/>
              <a:uFillTx/>
              <a:latin typeface="Arial"/>
            </a:endParaRPr>
          </a:p>
        </p:txBody>
      </p:sp>
      <p:sp>
        <p:nvSpPr>
          <p:cNvPr id="30" name=""/>
          <p:cNvSpPr txBox="1"/>
          <p:nvPr/>
        </p:nvSpPr>
        <p:spPr>
          <a:xfrm>
            <a:off x="3310200" y="4827960"/>
            <a:ext cx="224928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ROC-AUC · CatBoost model</a:t>
            </a:r>
            <a:endParaRPr lang="en-US" sz="1100" b="0" u="none" strike="noStrike">
              <a:solidFill>
                <a:srgbClr val="000000"/>
              </a:solidFill>
              <a:effectLst/>
              <a:uFillTx/>
              <a:latin typeface="Arial"/>
            </a:endParaRPr>
          </a:p>
        </p:txBody>
      </p:sp>
      <p:sp>
        <p:nvSpPr>
          <p:cNvPr id="31" name=""/>
          <p:cNvSpPr/>
          <p:nvPr/>
        </p:nvSpPr>
        <p:spPr>
          <a:xfrm>
            <a:off x="5852160" y="4114800"/>
            <a:ext cx="2469240" cy="1189080"/>
          </a:xfrm>
          <a:custGeom>
            <a:avLst/>
            <a:gdLst/>
            <a:ahLst/>
            <a:rect l="0" t="0" r="r" b="b"/>
            <a:pathLst>
              <a:path w="6859" h="3303">
                <a:moveTo>
                  <a:pt x="6631" y="0"/>
                </a:moveTo>
                <a:cubicBezTo>
                  <a:pt x="6783" y="0"/>
                  <a:pt x="6859" y="76"/>
                  <a:pt x="6859" y="228"/>
                </a:cubicBezTo>
                <a:lnTo>
                  <a:pt x="6859" y="3075"/>
                </a:lnTo>
                <a:cubicBezTo>
                  <a:pt x="6859" y="3227"/>
                  <a:pt x="6783" y="3303"/>
                  <a:pt x="6631" y="3303"/>
                </a:cubicBezTo>
                <a:lnTo>
                  <a:pt x="228" y="3303"/>
                </a:lnTo>
                <a:cubicBezTo>
                  <a:pt x="76" y="3303"/>
                  <a:pt x="0" y="3227"/>
                  <a:pt x="0" y="3075"/>
                </a:cubicBezTo>
                <a:lnTo>
                  <a:pt x="0" y="228"/>
                </a:lnTo>
                <a:cubicBezTo>
                  <a:pt x="0" y="76"/>
                  <a:pt x="76" y="0"/>
                  <a:pt x="228" y="0"/>
                </a:cubicBezTo>
                <a:lnTo>
                  <a:pt x="6631" y="0"/>
                </a:lnTo>
                <a:close/>
              </a:path>
            </a:pathLst>
          </a:custGeom>
          <a:solidFill>
            <a:srgbClr val="FDEEE8"/>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2" name=""/>
          <p:cNvSpPr txBox="1"/>
          <p:nvPr/>
        </p:nvSpPr>
        <p:spPr>
          <a:xfrm>
            <a:off x="5961960" y="4360320"/>
            <a:ext cx="2249280" cy="474480"/>
          </a:xfrm>
          <a:prstGeom prst="rect">
            <a:avLst/>
          </a:prstGeom>
          <a:noFill/>
          <a:ln w="0">
            <a:noFill/>
          </a:ln>
        </p:spPr>
        <p:txBody>
          <a:bodyPr lIns="90000" tIns="45000" rIns="90000" bIns="45000" anchor="t">
            <a:spAutoFit/>
          </a:bodyPr>
          <a:p>
            <a:r>
              <a:rPr lang="en-US" sz="2600" b="1" u="none" strike="noStrike">
                <a:solidFill>
                  <a:srgbClr val="E76C4E"/>
                </a:solidFill>
                <a:effectLst/>
                <a:uFillTx/>
                <a:latin typeface="Cambria-Bold"/>
                <a:ea typeface="Cambria-Bold"/>
              </a:rPr>
              <a:t>0.760</a:t>
            </a:r>
            <a:endParaRPr lang="en-US" sz="2600" b="0" u="none" strike="noStrike">
              <a:solidFill>
                <a:srgbClr val="000000"/>
              </a:solidFill>
              <a:effectLst/>
              <a:uFillTx/>
              <a:latin typeface="Arial"/>
            </a:endParaRPr>
          </a:p>
        </p:txBody>
      </p:sp>
      <p:sp>
        <p:nvSpPr>
          <p:cNvPr id="33" name=""/>
          <p:cNvSpPr txBox="1"/>
          <p:nvPr/>
        </p:nvSpPr>
        <p:spPr>
          <a:xfrm>
            <a:off x="5961960" y="4827960"/>
            <a:ext cx="224928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c-index · Cox timing model</a:t>
            </a:r>
            <a:endParaRPr lang="en-US" sz="1100" b="0" u="none" strike="noStrike">
              <a:solidFill>
                <a:srgbClr val="000000"/>
              </a:solidFill>
              <a:effectLst/>
              <a:uFillTx/>
              <a:latin typeface="Arial"/>
            </a:endParaRPr>
          </a:p>
        </p:txBody>
      </p:sp>
      <p:sp>
        <p:nvSpPr>
          <p:cNvPr id="34" name=""/>
          <p:cNvSpPr/>
          <p:nvPr/>
        </p:nvSpPr>
        <p:spPr>
          <a:xfrm>
            <a:off x="8503920" y="4114800"/>
            <a:ext cx="2469240" cy="1189080"/>
          </a:xfrm>
          <a:custGeom>
            <a:avLst/>
            <a:gdLst/>
            <a:ahLst/>
            <a:rect l="0" t="0" r="r" b="b"/>
            <a:pathLst>
              <a:path w="6859" h="3303">
                <a:moveTo>
                  <a:pt x="6631" y="0"/>
                </a:moveTo>
                <a:cubicBezTo>
                  <a:pt x="6783" y="0"/>
                  <a:pt x="6859" y="76"/>
                  <a:pt x="6859" y="228"/>
                </a:cubicBezTo>
                <a:lnTo>
                  <a:pt x="6859" y="3075"/>
                </a:lnTo>
                <a:cubicBezTo>
                  <a:pt x="6859" y="3227"/>
                  <a:pt x="6783" y="3303"/>
                  <a:pt x="6631" y="3303"/>
                </a:cubicBezTo>
                <a:lnTo>
                  <a:pt x="228" y="3303"/>
                </a:lnTo>
                <a:cubicBezTo>
                  <a:pt x="76" y="3303"/>
                  <a:pt x="0" y="3227"/>
                  <a:pt x="0" y="3075"/>
                </a:cubicBezTo>
                <a:lnTo>
                  <a:pt x="0" y="228"/>
                </a:lnTo>
                <a:cubicBezTo>
                  <a:pt x="0" y="76"/>
                  <a:pt x="76" y="0"/>
                  <a:pt x="228" y="0"/>
                </a:cubicBezTo>
                <a:lnTo>
                  <a:pt x="6631" y="0"/>
                </a:lnTo>
                <a:close/>
              </a:path>
            </a:pathLst>
          </a:custGeom>
          <a:solidFill>
            <a:srgbClr val="FDEEE8"/>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5" name=""/>
          <p:cNvSpPr txBox="1"/>
          <p:nvPr/>
        </p:nvSpPr>
        <p:spPr>
          <a:xfrm>
            <a:off x="8613720" y="4360320"/>
            <a:ext cx="2249280" cy="474480"/>
          </a:xfrm>
          <a:prstGeom prst="rect">
            <a:avLst/>
          </a:prstGeom>
          <a:noFill/>
          <a:ln w="0">
            <a:noFill/>
          </a:ln>
        </p:spPr>
        <p:txBody>
          <a:bodyPr lIns="90000" tIns="45000" rIns="90000" bIns="45000" anchor="t">
            <a:spAutoFit/>
          </a:bodyPr>
          <a:p>
            <a:r>
              <a:rPr lang="en-US" sz="2600" b="1" u="none" strike="noStrike">
                <a:solidFill>
                  <a:srgbClr val="E76C4E"/>
                </a:solidFill>
                <a:effectLst/>
                <a:uFillTx/>
                <a:latin typeface="Cambria-Bold"/>
                <a:ea typeface="Cambria-Bold"/>
              </a:rPr>
              <a:t>0.946</a:t>
            </a:r>
            <a:endParaRPr lang="en-US" sz="2600" b="0" u="none" strike="noStrike">
              <a:solidFill>
                <a:srgbClr val="000000"/>
              </a:solidFill>
              <a:effectLst/>
              <a:uFillTx/>
              <a:latin typeface="Arial"/>
            </a:endParaRPr>
          </a:p>
        </p:txBody>
      </p:sp>
      <p:sp>
        <p:nvSpPr>
          <p:cNvPr id="36" name=""/>
          <p:cNvSpPr txBox="1"/>
          <p:nvPr/>
        </p:nvSpPr>
        <p:spPr>
          <a:xfrm>
            <a:off x="8613720" y="4827960"/>
            <a:ext cx="224928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ROC-AUC · ensemble direction</a:t>
            </a:r>
            <a:endParaRPr lang="en-US" sz="1100" b="0" u="none" strike="noStrike">
              <a:solidFill>
                <a:srgbClr val="000000"/>
              </a:solidFill>
              <a:effectLst/>
              <a:uFillTx/>
              <a:latin typeface="Arial"/>
            </a:endParaRPr>
          </a:p>
        </p:txBody>
      </p:sp>
      <p:sp>
        <p:nvSpPr>
          <p:cNvPr id="37" name=""/>
          <p:cNvSpPr txBox="1"/>
          <p:nvPr/>
        </p:nvSpPr>
        <p:spPr>
          <a:xfrm>
            <a:off x="548640" y="5486400"/>
            <a:ext cx="10789920" cy="914400"/>
          </a:xfrm>
          <a:prstGeom prst="rect">
            <a:avLst/>
          </a:prstGeom>
          <a:noFill/>
          <a:ln w="0">
            <a:noFill/>
          </a:ln>
        </p:spPr>
        <p:txBody>
          <a:bodyPr lIns="90000" tIns="45000" rIns="90000" bIns="45000" anchor="t">
            <a:spAutoFit/>
          </a:bodyPr>
          <a:p>
            <a:pPr>
              <a:lnSpc>
                <a:spcPct val="125000"/>
              </a:lnSpc>
            </a:pPr>
            <a:r>
              <a:rPr lang="en-US" sz="1200" b="0" u="none" strike="noStrike">
                <a:solidFill>
                  <a:srgbClr val="475265"/>
                </a:solidFill>
                <a:effectLst/>
                <a:uFillTx/>
                <a:latin typeface="Calibri"/>
                <a:ea typeface="Calibri"/>
              </a:rPr>
              <a:t>Three separate models, three separate jobs: CatBoost ranks how likely a VUS is to resolve at all, a Cox proportional-hazards model estimates roughly when, and a LightGBM, XGBoost, and RandomForest ensemble predicts which way it resolves once it does (pathogenic or benign). Each is scored honestly on its own held-out test set.</a:t>
            </a:r>
            <a:endParaRPr lang="en-US" sz="1200" b="0" u="none" strike="noStrike">
              <a:solidFill>
                <a:srgbClr val="000000"/>
              </a:solidFill>
              <a:effectLst/>
              <a:uFillTx/>
              <a:latin typeface="Arial"/>
            </a:endParaRPr>
          </a:p>
        </p:txBody>
      </p:sp>
      <p:sp>
        <p:nvSpPr>
          <p:cNvPr id="38"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HOW THIS WAS BUILT</a:t>
            </a:r>
            <a:endParaRPr lang="en-US" sz="1200" b="0" u="none" strike="noStrike">
              <a:solidFill>
                <a:srgbClr val="000000"/>
              </a:solidFill>
              <a:effectLst/>
              <a:uFillTx/>
              <a:latin typeface="Arial"/>
            </a:endParaRPr>
          </a:p>
        </p:txBody>
      </p:sp>
      <p:sp>
        <p:nvSpPr>
          <p:cNvPr id="40" name=""/>
          <p:cNvSpPr txBox="1"/>
          <p:nvPr/>
        </p:nvSpPr>
        <p:spPr>
          <a:xfrm>
            <a:off x="548640" y="658440"/>
            <a:ext cx="10789920" cy="777240"/>
          </a:xfrm>
          <a:prstGeom prst="rect">
            <a:avLst/>
          </a:prstGeom>
          <a:noFill/>
          <a:ln w="0">
            <a:noFill/>
          </a:ln>
        </p:spPr>
        <p:txBody>
          <a:bodyPr lIns="90000" tIns="45000" rIns="90000" bIns="45000" anchor="t">
            <a:spAutoFit/>
          </a:bodyPr>
          <a:p>
            <a:r>
              <a:rPr lang="en-US" sz="2800" b="1" u="none" strike="noStrike">
                <a:solidFill>
                  <a:srgbClr val="1F242E"/>
                </a:solidFill>
                <a:effectLst/>
                <a:uFillTx/>
                <a:latin typeface="Cambria-Bold"/>
                <a:ea typeface="Cambria-Bold"/>
              </a:rPr>
              <a:t>The Models Behind Each Number</a:t>
            </a:r>
            <a:endParaRPr lang="en-US" sz="2800" b="0" u="none" strike="noStrike">
              <a:solidFill>
                <a:srgbClr val="000000"/>
              </a:solidFill>
              <a:effectLst/>
              <a:uFillTx/>
              <a:latin typeface="Arial"/>
            </a:endParaRPr>
          </a:p>
        </p:txBody>
      </p:sp>
      <p:sp>
        <p:nvSpPr>
          <p:cNvPr id="41" name=""/>
          <p:cNvSpPr/>
          <p:nvPr/>
        </p:nvSpPr>
        <p:spPr>
          <a:xfrm>
            <a:off x="548640" y="150876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42" name=""/>
          <p:cNvSpPr txBox="1"/>
          <p:nvPr/>
        </p:nvSpPr>
        <p:spPr>
          <a:xfrm>
            <a:off x="777240" y="1600200"/>
            <a:ext cx="2514600" cy="914400"/>
          </a:xfrm>
          <a:prstGeom prst="rect">
            <a:avLst/>
          </a:prstGeom>
          <a:noFill/>
          <a:ln w="0">
            <a:noFill/>
          </a:ln>
        </p:spPr>
        <p:txBody>
          <a:bodyPr lIns="90000" tIns="45000" rIns="90000" bIns="45000" anchor="t">
            <a:spAutoFit/>
          </a:bodyPr>
          <a:p>
            <a:pPr>
              <a:lnSpc>
                <a:spcPct val="115000"/>
              </a:lnSpc>
            </a:pPr>
            <a:r>
              <a:rPr lang="en-US" sz="1300" b="1" u="none" strike="noStrike">
                <a:solidFill>
                  <a:srgbClr val="1C375C"/>
                </a:solidFill>
                <a:effectLst/>
                <a:uFillTx/>
                <a:latin typeface="Cambria-Bold"/>
                <a:ea typeface="Cambria-Bold"/>
              </a:rPr>
              <a:t>Germline vs. somatic</a:t>
            </a:r>
            <a:endParaRPr lang="en-US" sz="1300" b="0" u="none" strike="noStrike">
              <a:solidFill>
                <a:srgbClr val="000000"/>
              </a:solidFill>
              <a:effectLst/>
              <a:uFillTx/>
              <a:latin typeface="Arial"/>
            </a:endParaRPr>
          </a:p>
        </p:txBody>
      </p:sp>
      <p:sp>
        <p:nvSpPr>
          <p:cNvPr id="43" name=""/>
          <p:cNvSpPr txBox="1"/>
          <p:nvPr/>
        </p:nvSpPr>
        <p:spPr>
          <a:xfrm>
            <a:off x="3429000" y="1600200"/>
            <a:ext cx="2880360" cy="914400"/>
          </a:xfrm>
          <a:prstGeom prst="rect">
            <a:avLst/>
          </a:prstGeom>
          <a:noFill/>
          <a:ln w="0">
            <a:noFill/>
          </a:ln>
        </p:spPr>
        <p:txBody>
          <a:bodyPr lIns="90000" tIns="45000" rIns="90000" bIns="45000" anchor="t">
            <a:spAutoFit/>
          </a:bodyPr>
          <a:p>
            <a:pPr>
              <a:lnSpc>
                <a:spcPct val="115000"/>
              </a:lnSpc>
            </a:pPr>
            <a:r>
              <a:rPr lang="en-US" sz="1100" b="1" u="none" strike="noStrike">
                <a:solidFill>
                  <a:srgbClr val="279D8F"/>
                </a:solidFill>
                <a:effectLst/>
                <a:uFillTx/>
                <a:latin typeface="Calibri-Bold"/>
                <a:ea typeface="Calibri-Bold"/>
              </a:rPr>
              <a:t>XGBoost, tuned decision threshold (0.9218)</a:t>
            </a:r>
            <a:r>
              <a:rPr sz="1200" i="1" b="0">
                <a:solidFill>
                  <a:srgbClr val="289D8F"/>
                </a:solidFill>
              </a:rPr>
              <a:t>, production model</a:t>
            </a:r>
            <a:endParaRPr lang="en-US" sz="1100" b="0" u="none" strike="noStrike">
              <a:solidFill>
                <a:srgbClr val="000000"/>
              </a:solidFill>
              <a:effectLst/>
              <a:uFillTx/>
              <a:latin typeface="Arial"/>
            </a:endParaRPr>
          </a:p>
        </p:txBody>
      </p:sp>
      <p:sp>
        <p:nvSpPr>
          <p:cNvPr id="44" name=""/>
          <p:cNvSpPr txBox="1"/>
          <p:nvPr/>
        </p:nvSpPr>
        <p:spPr>
          <a:xfrm>
            <a:off x="6446520" y="1600200"/>
            <a:ext cx="498348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ClinVar resolves most variants directly; whatever's left as a VUS gets tagged Germline or Somatic by this model. The threshold was pushed to hit 90%+ precision</a:t>
            </a:r>
            <a:r>
              <a:rPr lang="en-US" sz="1000" b="0" u="none" strike="noStrike">
                <a:solidFill>
                  <a:srgbClr val="2A3547"/>
                </a:solidFill>
                <a:effectLst/>
                <a:uFillTx/>
                <a:latin typeface="Calibri"/>
                <a:ea typeface="Calibri"/>
              </a:rPr>
              <a:t>.</a:t>
            </a:r>
            <a:endParaRPr lang="en-US" sz="1000" b="0" u="none" strike="noStrike">
              <a:solidFill>
                <a:srgbClr val="000000"/>
              </a:solidFill>
              <a:effectLst/>
              <a:uFillTx/>
              <a:latin typeface="Arial"/>
            </a:endParaRPr>
          </a:p>
        </p:txBody>
      </p:sp>
      <p:sp>
        <p:nvSpPr>
          <p:cNvPr id="45" name=""/>
          <p:cNvSpPr/>
          <p:nvPr/>
        </p:nvSpPr>
        <p:spPr>
          <a:xfrm>
            <a:off x="548640" y="271584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46" name=""/>
          <p:cNvSpPr txBox="1"/>
          <p:nvPr/>
        </p:nvSpPr>
        <p:spPr>
          <a:xfrm>
            <a:off x="777240" y="2807280"/>
            <a:ext cx="2514600" cy="914400"/>
          </a:xfrm>
          <a:prstGeom prst="rect">
            <a:avLst/>
          </a:prstGeom>
          <a:noFill/>
          <a:ln w="0">
            <a:noFill/>
          </a:ln>
        </p:spPr>
        <p:txBody>
          <a:bodyPr lIns="90000" tIns="45000" rIns="90000" bIns="45000" anchor="t">
            <a:spAutoFit/>
          </a:bodyPr>
          <a:p>
            <a:pPr>
              <a:lnSpc>
                <a:spcPct val="115000"/>
              </a:lnSpc>
            </a:pPr>
            <a:r>
              <a:rPr lang="en-US" sz="1300" b="1" u="none" strike="noStrike">
                <a:solidFill>
                  <a:srgbClr val="1C375C"/>
                </a:solidFill>
                <a:effectLst/>
                <a:uFillTx/>
                <a:latin typeface="Cambria-Bold"/>
                <a:ea typeface="Cambria-Bold"/>
              </a:rPr>
              <a:t>Will a VUS resolve at all</a:t>
            </a:r>
            <a:endParaRPr lang="en-US" sz="1300" b="0" u="none" strike="noStrike">
              <a:solidFill>
                <a:srgbClr val="000000"/>
              </a:solidFill>
              <a:effectLst/>
              <a:uFillTx/>
              <a:latin typeface="Arial"/>
            </a:endParaRPr>
          </a:p>
        </p:txBody>
      </p:sp>
      <p:sp>
        <p:nvSpPr>
          <p:cNvPr id="47" name=""/>
          <p:cNvSpPr txBox="1"/>
          <p:nvPr/>
        </p:nvSpPr>
        <p:spPr>
          <a:xfrm>
            <a:off x="3429000" y="2807280"/>
            <a:ext cx="2880360" cy="914400"/>
          </a:xfrm>
          <a:prstGeom prst="rect">
            <a:avLst/>
          </a:prstGeom>
          <a:noFill/>
          <a:ln w="0">
            <a:noFill/>
          </a:ln>
        </p:spPr>
        <p:txBody>
          <a:bodyPr lIns="90000" tIns="45000" rIns="90000" bIns="45000" anchor="t">
            <a:spAutoFit/>
          </a:bodyPr>
          <a:p>
            <a:pPr>
              <a:lnSpc>
                <a:spcPct val="115000"/>
              </a:lnSpc>
            </a:pPr>
            <a:r>
              <a:rPr lang="en-US" sz="1100" b="1" u="none" strike="noStrike">
                <a:solidFill>
                  <a:srgbClr val="279D8F"/>
                </a:solidFill>
                <a:effectLst/>
                <a:uFillTx/>
                <a:latin typeface="Calibri-Bold"/>
                <a:ea typeface="Calibri-Bold"/>
              </a:rPr>
              <a:t>Gradient-boosted trees, gene identity as a native categorical feature</a:t>
            </a:r>
            <a:r>
              <a:rPr sz="1200" i="1" b="0">
                <a:solidFill>
                  <a:srgbClr val="289D8F"/>
                </a:solidFill>
              </a:rPr>
              <a:t>, production model</a:t>
            </a:r>
            <a:endParaRPr lang="en-US" sz="1100" b="0" u="none" strike="noStrike">
              <a:solidFill>
                <a:srgbClr val="000000"/>
              </a:solidFill>
              <a:effectLst/>
              <a:uFillTx/>
              <a:latin typeface="Arial"/>
            </a:endParaRPr>
          </a:p>
        </p:txBody>
      </p:sp>
      <p:sp>
        <p:nvSpPr>
          <p:cNvPr id="48" name=""/>
          <p:cNvSpPr txBox="1"/>
          <p:nvPr/>
        </p:nvSpPr>
        <p:spPr>
          <a:xfrm>
            <a:off x="6446520" y="2807280"/>
            <a:ext cx="498348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Letting the model learn gene-level structure directly, instead of hand-encoding it into a single number first, was the single biggest </a:t>
            </a:r>
            <a:r>
              <a:rPr lang="en-US" sz="1000" b="0" u="none" strike="noStrike">
                <a:solidFill>
                  <a:srgbClr val="2A3547"/>
                </a:solidFill>
                <a:effectLst/>
                <a:uFillTx/>
                <a:latin typeface="Calibri"/>
                <a:ea typeface="Calibri"/>
              </a:rPr>
              <a:t>improvement</a:t>
            </a:r>
            <a:r>
              <a:rPr lang="en-US" sz="1000" b="0" u="none" strike="noStrike">
                <a:solidFill>
                  <a:srgbClr val="2A3547"/>
                </a:solidFill>
                <a:effectLst/>
                <a:uFillTx/>
                <a:latin typeface="Calibri"/>
                <a:ea typeface="Calibri"/>
              </a:rPr>
              <a:t> in this </a:t>
            </a:r>
            <a:r>
              <a:rPr lang="en-US" sz="1000" b="0" u="none" strike="noStrike">
                <a:solidFill>
                  <a:srgbClr val="2A3547"/>
                </a:solidFill>
                <a:effectLst/>
                <a:uFillTx/>
                <a:latin typeface="Calibri"/>
                <a:ea typeface="Calibri"/>
              </a:rPr>
              <a:t>model</a:t>
            </a:r>
            <a:r>
              <a:rPr lang="en-US" sz="1000" b="0" u="none" strike="noStrike">
                <a:solidFill>
                  <a:srgbClr val="2A3547"/>
                </a:solidFill>
                <a:effectLst/>
                <a:uFillTx/>
                <a:latin typeface="Calibri"/>
                <a:ea typeface="Calibri"/>
              </a:rPr>
              <a:t>.</a:t>
            </a:r>
            <a:endParaRPr lang="en-US" sz="1000" b="0" u="none" strike="noStrike">
              <a:solidFill>
                <a:srgbClr val="000000"/>
              </a:solidFill>
              <a:effectLst/>
              <a:uFillTx/>
              <a:latin typeface="Arial"/>
            </a:endParaRPr>
          </a:p>
        </p:txBody>
      </p:sp>
      <p:sp>
        <p:nvSpPr>
          <p:cNvPr id="49" name=""/>
          <p:cNvSpPr/>
          <p:nvPr/>
        </p:nvSpPr>
        <p:spPr>
          <a:xfrm>
            <a:off x="548640" y="392292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50" name=""/>
          <p:cNvSpPr txBox="1"/>
          <p:nvPr/>
        </p:nvSpPr>
        <p:spPr>
          <a:xfrm>
            <a:off x="777240" y="4014360"/>
            <a:ext cx="2514600" cy="914400"/>
          </a:xfrm>
          <a:prstGeom prst="rect">
            <a:avLst/>
          </a:prstGeom>
          <a:noFill/>
          <a:ln w="0">
            <a:noFill/>
          </a:ln>
        </p:spPr>
        <p:txBody>
          <a:bodyPr lIns="90000" tIns="45000" rIns="90000" bIns="45000" anchor="t">
            <a:spAutoFit/>
          </a:bodyPr>
          <a:p>
            <a:pPr>
              <a:lnSpc>
                <a:spcPct val="115000"/>
              </a:lnSpc>
            </a:pPr>
            <a:r>
              <a:rPr lang="en-US" sz="1300" b="1" u="none" strike="noStrike">
                <a:solidFill>
                  <a:srgbClr val="1C375C"/>
                </a:solidFill>
                <a:effectLst/>
                <a:uFillTx/>
                <a:latin typeface="Cambria-Bold"/>
                <a:ea typeface="Cambria-Bold"/>
              </a:rPr>
              <a:t>When it's likely to resolve</a:t>
            </a:r>
            <a:endParaRPr lang="en-US" sz="1300" b="0" u="none" strike="noStrike">
              <a:solidFill>
                <a:srgbClr val="000000"/>
              </a:solidFill>
              <a:effectLst/>
              <a:uFillTx/>
              <a:latin typeface="Arial"/>
            </a:endParaRPr>
          </a:p>
        </p:txBody>
      </p:sp>
      <p:sp>
        <p:nvSpPr>
          <p:cNvPr id="51" name=""/>
          <p:cNvSpPr txBox="1"/>
          <p:nvPr/>
        </p:nvSpPr>
        <p:spPr>
          <a:xfrm>
            <a:off x="3429000" y="4014360"/>
            <a:ext cx="2880360" cy="914400"/>
          </a:xfrm>
          <a:prstGeom prst="rect">
            <a:avLst/>
          </a:prstGeom>
          <a:noFill/>
          <a:ln w="0">
            <a:noFill/>
          </a:ln>
        </p:spPr>
        <p:txBody>
          <a:bodyPr lIns="90000" tIns="45000" rIns="90000" bIns="45000" anchor="t">
            <a:spAutoFit/>
          </a:bodyPr>
          <a:p>
            <a:pPr>
              <a:lnSpc>
                <a:spcPct val="115000"/>
              </a:lnSpc>
            </a:pPr>
            <a:r>
              <a:rPr lang="en-US" sz="1100" b="1" u="none" strike="noStrike">
                <a:solidFill>
                  <a:srgbClr val="279D8F"/>
                </a:solidFill>
                <a:effectLst/>
                <a:uFillTx/>
                <a:latin typeface="Calibri-Bold"/>
                <a:ea typeface="Calibri-Bold"/>
              </a:rPr>
              <a:t>Cox proportional-hazards survival model</a:t>
            </a:r>
            <a:r>
              <a:rPr sz="1200" i="1" b="0">
                <a:solidFill>
                  <a:srgbClr val="289D8F"/>
                </a:solidFill>
              </a:rPr>
              <a:t>, production model</a:t>
            </a:r>
            <a:endParaRPr lang="en-US" sz="1100" b="0" u="none" strike="noStrike">
              <a:solidFill>
                <a:srgbClr val="000000"/>
              </a:solidFill>
              <a:effectLst/>
              <a:uFillTx/>
              <a:latin typeface="Arial"/>
            </a:endParaRPr>
          </a:p>
        </p:txBody>
      </p:sp>
      <p:sp>
        <p:nvSpPr>
          <p:cNvPr id="52" name=""/>
          <p:cNvSpPr txBox="1"/>
          <p:nvPr/>
        </p:nvSpPr>
        <p:spPr>
          <a:xfrm>
            <a:off x="6446520" y="4014360"/>
            <a:ext cx="498348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A survival model, not a regression, because most VUS never resolve at all. Censoring has to be handled explicitly rather than treated as a missing label</a:t>
            </a:r>
            <a:r>
              <a:rPr lang="en-US" sz="1000" b="0" u="none" strike="noStrike">
                <a:solidFill>
                  <a:srgbClr val="2A3547"/>
                </a:solidFill>
                <a:effectLst/>
                <a:uFillTx/>
                <a:latin typeface="Calibri"/>
                <a:ea typeface="Calibri"/>
              </a:rPr>
              <a:t>.</a:t>
            </a:r>
            <a:endParaRPr lang="en-US" sz="1000" b="0" u="none" strike="noStrike">
              <a:solidFill>
                <a:srgbClr val="000000"/>
              </a:solidFill>
              <a:effectLst/>
              <a:uFillTx/>
              <a:latin typeface="Arial"/>
            </a:endParaRPr>
          </a:p>
        </p:txBody>
      </p:sp>
      <p:sp>
        <p:nvSpPr>
          <p:cNvPr id="53" name=""/>
          <p:cNvSpPr/>
          <p:nvPr/>
        </p:nvSpPr>
        <p:spPr>
          <a:xfrm>
            <a:off x="548640" y="512964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54" name=""/>
          <p:cNvSpPr txBox="1"/>
          <p:nvPr/>
        </p:nvSpPr>
        <p:spPr>
          <a:xfrm>
            <a:off x="777240" y="5221080"/>
            <a:ext cx="2514600" cy="914400"/>
          </a:xfrm>
          <a:prstGeom prst="rect">
            <a:avLst/>
          </a:prstGeom>
          <a:noFill/>
          <a:ln w="0">
            <a:noFill/>
          </a:ln>
        </p:spPr>
        <p:txBody>
          <a:bodyPr lIns="90000" tIns="45000" rIns="90000" bIns="45000" anchor="t">
            <a:spAutoFit/>
          </a:bodyPr>
          <a:p>
            <a:pPr>
              <a:lnSpc>
                <a:spcPct val="115000"/>
              </a:lnSpc>
            </a:pPr>
            <a:r>
              <a:rPr lang="en-US" sz="1300" b="1" u="none" strike="noStrike">
                <a:solidFill>
                  <a:srgbClr val="1C375C"/>
                </a:solidFill>
                <a:effectLst/>
                <a:uFillTx/>
                <a:latin typeface="Cambria-Bold"/>
                <a:ea typeface="Cambria-Bold"/>
              </a:rPr>
              <a:t>Which way it resolves</a:t>
            </a:r>
            <a:endParaRPr lang="en-US" sz="1300" b="0" u="none" strike="noStrike">
              <a:solidFill>
                <a:srgbClr val="000000"/>
              </a:solidFill>
              <a:effectLst/>
              <a:uFillTx/>
              <a:latin typeface="Arial"/>
            </a:endParaRPr>
          </a:p>
        </p:txBody>
      </p:sp>
      <p:sp>
        <p:nvSpPr>
          <p:cNvPr id="55" name=""/>
          <p:cNvSpPr txBox="1"/>
          <p:nvPr/>
        </p:nvSpPr>
        <p:spPr>
          <a:xfrm>
            <a:off x="3429000" y="5221080"/>
            <a:ext cx="2880360" cy="914400"/>
          </a:xfrm>
          <a:prstGeom prst="rect">
            <a:avLst/>
          </a:prstGeom>
          <a:noFill/>
          <a:ln w="0">
            <a:noFill/>
          </a:ln>
        </p:spPr>
        <p:txBody>
          <a:bodyPr lIns="90000" tIns="45000" rIns="90000" bIns="45000" anchor="t">
            <a:spAutoFit/>
          </a:bodyPr>
          <a:p>
            <a:pPr>
              <a:lnSpc>
                <a:spcPct val="115000"/>
              </a:lnSpc>
            </a:pPr>
            <a:r>
              <a:rPr lang="en-US" sz="1100" b="1" u="none" strike="noStrike">
                <a:solidFill>
                  <a:srgbClr val="279D8F"/>
                </a:solidFill>
                <a:effectLst/>
                <a:uFillTx/>
                <a:latin typeface="Calibri-Bold"/>
                <a:ea typeface="Calibri-Bold"/>
              </a:rPr>
              <a:t>Tree Ensemble of </a:t>
            </a:r>
            <a:r>
              <a:rPr lang="en-US" sz="1100" b="1" u="none" strike="noStrike">
                <a:solidFill>
                  <a:srgbClr val="279D8F"/>
                </a:solidFill>
                <a:effectLst/>
                <a:uFillTx/>
                <a:latin typeface="Calibri-Bold"/>
                <a:ea typeface="Calibri-Bold"/>
              </a:rPr>
              <a:t>LightGBM, XGBoost, and Random Forest</a:t>
            </a:r>
            <a:r>
              <a:rPr sz="1200" i="1" b="0">
                <a:solidFill>
                  <a:srgbClr val="289D8F"/>
                </a:solidFill>
              </a:rPr>
              <a:t>, production model</a:t>
            </a:r>
            <a:endParaRPr lang="en-US" sz="1100" b="0" u="none" strike="noStrike">
              <a:solidFill>
                <a:srgbClr val="000000"/>
              </a:solidFill>
              <a:effectLst/>
              <a:uFillTx/>
              <a:latin typeface="Arial"/>
            </a:endParaRPr>
          </a:p>
        </p:txBody>
      </p:sp>
      <p:sp>
        <p:nvSpPr>
          <p:cNvPr id="56" name=""/>
          <p:cNvSpPr txBox="1"/>
          <p:nvPr/>
        </p:nvSpPr>
        <p:spPr>
          <a:xfrm>
            <a:off x="6446520" y="5221080"/>
            <a:ext cx="498348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Trained only on the variants that have already resolved: a smaller, cleaner problem than predicting resolution in the first place</a:t>
            </a:r>
            <a:r>
              <a:rPr lang="en-US" sz="1000" b="0" u="none" strike="noStrike">
                <a:solidFill>
                  <a:srgbClr val="2A3547"/>
                </a:solidFill>
                <a:effectLst/>
                <a:uFillTx/>
                <a:latin typeface="Calibri"/>
                <a:ea typeface="Calibri"/>
              </a:rPr>
              <a:t>.</a:t>
            </a:r>
            <a:endParaRPr lang="en-US" sz="1000" b="0" u="none" strike="noStrike">
              <a:solidFill>
                <a:srgbClr val="000000"/>
              </a:solidFill>
              <a:effectLst/>
              <a:uFillTx/>
              <a:latin typeface="Arial"/>
            </a:endParaRPr>
          </a:p>
        </p:txBody>
      </p:sp>
      <p:sp>
        <p:nvSpPr>
          <p:cNvPr id="57"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3</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8"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DATA</a:t>
            </a:r>
            <a:endParaRPr lang="en-US" sz="1200" b="0" u="none" strike="noStrike">
              <a:solidFill>
                <a:srgbClr val="000000"/>
              </a:solidFill>
              <a:effectLst/>
              <a:uFillTx/>
              <a:latin typeface="Arial"/>
            </a:endParaRPr>
          </a:p>
        </p:txBody>
      </p:sp>
      <p:sp>
        <p:nvSpPr>
          <p:cNvPr id="59"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149</a:t>
            </a:r>
            <a:r>
              <a:rPr lang="en-US" sz="3000" b="1" u="none" strike="noStrike">
                <a:solidFill>
                  <a:srgbClr val="1F242E"/>
                </a:solidFill>
                <a:effectLst/>
                <a:uFillTx/>
                <a:latin typeface="Cambria-Bold"/>
                <a:ea typeface="Cambria-Bold"/>
              </a:rPr>
              <a:t> </a:t>
            </a:r>
            <a:r>
              <a:rPr lang="en-US" sz="3000" b="1" u="none" strike="noStrike">
                <a:solidFill>
                  <a:srgbClr val="1F242E"/>
                </a:solidFill>
                <a:effectLst/>
                <a:uFillTx/>
                <a:latin typeface="Cambria-Bold"/>
                <a:ea typeface="Cambria-Bold"/>
              </a:rPr>
              <a:t>Real Patients, Seven Cancer Types</a:t>
            </a:r>
            <a:endParaRPr lang="en-US" sz="3000" b="0" u="none" strike="noStrike">
              <a:solidFill>
                <a:srgbClr val="000000"/>
              </a:solidFill>
              <a:effectLst/>
              <a:uFillTx/>
              <a:latin typeface="Arial"/>
            </a:endParaRPr>
          </a:p>
        </p:txBody>
      </p:sp>
      <p:sp>
        <p:nvSpPr>
          <p:cNvPr id="60" name=""/>
          <p:cNvSpPr/>
          <p:nvPr/>
        </p:nvSpPr>
        <p:spPr>
          <a:xfrm>
            <a:off x="548640" y="2103120"/>
            <a:ext cx="3456720" cy="1189080"/>
          </a:xfrm>
          <a:custGeom>
            <a:avLst/>
            <a:gdLst/>
            <a:ahLst/>
            <a:rect l="0" t="0" r="r" b="b"/>
            <a:pathLst>
              <a:path w="9602" h="3303">
                <a:moveTo>
                  <a:pt x="9373" y="0"/>
                </a:moveTo>
                <a:cubicBezTo>
                  <a:pt x="9526" y="0"/>
                  <a:pt x="9602" y="76"/>
                  <a:pt x="9602" y="228"/>
                </a:cubicBezTo>
                <a:lnTo>
                  <a:pt x="9602" y="3075"/>
                </a:lnTo>
                <a:cubicBezTo>
                  <a:pt x="9602" y="3227"/>
                  <a:pt x="9526" y="3303"/>
                  <a:pt x="9373" y="3303"/>
                </a:cubicBezTo>
                <a:lnTo>
                  <a:pt x="228" y="3303"/>
                </a:lnTo>
                <a:cubicBezTo>
                  <a:pt x="76" y="3303"/>
                  <a:pt x="0" y="3227"/>
                  <a:pt x="0" y="3075"/>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61" name=""/>
          <p:cNvSpPr txBox="1"/>
          <p:nvPr/>
        </p:nvSpPr>
        <p:spPr>
          <a:xfrm>
            <a:off x="658440" y="2212920"/>
            <a:ext cx="3237120" cy="6537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149</a:t>
            </a:r>
            <a:endParaRPr lang="en-US" sz="3000" b="0" u="none" strike="noStrike">
              <a:solidFill>
                <a:srgbClr val="000000"/>
              </a:solidFill>
              <a:effectLst/>
              <a:uFillTx/>
              <a:latin typeface="Arial"/>
            </a:endParaRPr>
          </a:p>
        </p:txBody>
      </p:sp>
      <p:sp>
        <p:nvSpPr>
          <p:cNvPr id="62" name=""/>
          <p:cNvSpPr txBox="1"/>
          <p:nvPr/>
        </p:nvSpPr>
        <p:spPr>
          <a:xfrm>
            <a:off x="658440" y="2816280"/>
            <a:ext cx="323712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real patients</a:t>
            </a:r>
            <a:endParaRPr lang="en-US" sz="1100" b="0" u="none" strike="noStrike">
              <a:solidFill>
                <a:srgbClr val="000000"/>
              </a:solidFill>
              <a:effectLst/>
              <a:uFillTx/>
              <a:latin typeface="Arial"/>
            </a:endParaRPr>
          </a:p>
        </p:txBody>
      </p:sp>
      <p:sp>
        <p:nvSpPr>
          <p:cNvPr id="63" name=""/>
          <p:cNvSpPr/>
          <p:nvPr/>
        </p:nvSpPr>
        <p:spPr>
          <a:xfrm>
            <a:off x="4187880" y="2103120"/>
            <a:ext cx="3456720" cy="1189080"/>
          </a:xfrm>
          <a:custGeom>
            <a:avLst/>
            <a:gdLst/>
            <a:ahLst/>
            <a:rect l="0" t="0" r="r" b="b"/>
            <a:pathLst>
              <a:path w="9602" h="3303">
                <a:moveTo>
                  <a:pt x="9373" y="0"/>
                </a:moveTo>
                <a:cubicBezTo>
                  <a:pt x="9526" y="0"/>
                  <a:pt x="9602" y="76"/>
                  <a:pt x="9602" y="228"/>
                </a:cubicBezTo>
                <a:lnTo>
                  <a:pt x="9602" y="3075"/>
                </a:lnTo>
                <a:cubicBezTo>
                  <a:pt x="9602" y="3227"/>
                  <a:pt x="9526" y="3303"/>
                  <a:pt x="9373" y="3303"/>
                </a:cubicBezTo>
                <a:lnTo>
                  <a:pt x="228" y="3303"/>
                </a:lnTo>
                <a:cubicBezTo>
                  <a:pt x="76" y="3303"/>
                  <a:pt x="0" y="3227"/>
                  <a:pt x="0" y="3075"/>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64" name=""/>
          <p:cNvSpPr txBox="1"/>
          <p:nvPr/>
        </p:nvSpPr>
        <p:spPr>
          <a:xfrm>
            <a:off x="4297680" y="2212920"/>
            <a:ext cx="3237120" cy="6537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7</a:t>
            </a:r>
            <a:endParaRPr lang="en-US" sz="3000" b="0" u="none" strike="noStrike">
              <a:solidFill>
                <a:srgbClr val="000000"/>
              </a:solidFill>
              <a:effectLst/>
              <a:uFillTx/>
              <a:latin typeface="Arial"/>
            </a:endParaRPr>
          </a:p>
        </p:txBody>
      </p:sp>
      <p:sp>
        <p:nvSpPr>
          <p:cNvPr id="65" name=""/>
          <p:cNvSpPr txBox="1"/>
          <p:nvPr/>
        </p:nvSpPr>
        <p:spPr>
          <a:xfrm>
            <a:off x="4297680" y="2816280"/>
            <a:ext cx="323712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cancer types</a:t>
            </a:r>
            <a:endParaRPr lang="en-US" sz="1100" b="0" u="none" strike="noStrike">
              <a:solidFill>
                <a:srgbClr val="000000"/>
              </a:solidFill>
              <a:effectLst/>
              <a:uFillTx/>
              <a:latin typeface="Arial"/>
            </a:endParaRPr>
          </a:p>
        </p:txBody>
      </p:sp>
      <p:sp>
        <p:nvSpPr>
          <p:cNvPr id="66" name=""/>
          <p:cNvSpPr/>
          <p:nvPr/>
        </p:nvSpPr>
        <p:spPr>
          <a:xfrm>
            <a:off x="7827120" y="2103120"/>
            <a:ext cx="3456720" cy="1189080"/>
          </a:xfrm>
          <a:custGeom>
            <a:avLst/>
            <a:gdLst/>
            <a:ahLst/>
            <a:rect l="0" t="0" r="r" b="b"/>
            <a:pathLst>
              <a:path w="9602" h="3303">
                <a:moveTo>
                  <a:pt x="9373" y="0"/>
                </a:moveTo>
                <a:cubicBezTo>
                  <a:pt x="9526" y="0"/>
                  <a:pt x="9602" y="76"/>
                  <a:pt x="9602" y="228"/>
                </a:cubicBezTo>
                <a:lnTo>
                  <a:pt x="9602" y="3075"/>
                </a:lnTo>
                <a:cubicBezTo>
                  <a:pt x="9602" y="3227"/>
                  <a:pt x="9526" y="3303"/>
                  <a:pt x="9373" y="3303"/>
                </a:cubicBezTo>
                <a:lnTo>
                  <a:pt x="228" y="3303"/>
                </a:lnTo>
                <a:cubicBezTo>
                  <a:pt x="76" y="3303"/>
                  <a:pt x="0" y="3227"/>
                  <a:pt x="0" y="3075"/>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67" name=""/>
          <p:cNvSpPr txBox="1"/>
          <p:nvPr/>
        </p:nvSpPr>
        <p:spPr>
          <a:xfrm>
            <a:off x="7936920" y="2212920"/>
            <a:ext cx="3237120" cy="6537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45,706</a:t>
            </a:r>
            <a:endParaRPr lang="en-US" sz="3000" b="0" u="none" strike="noStrike">
              <a:solidFill>
                <a:srgbClr val="000000"/>
              </a:solidFill>
              <a:effectLst/>
              <a:uFillTx/>
              <a:latin typeface="Arial"/>
            </a:endParaRPr>
          </a:p>
        </p:txBody>
      </p:sp>
      <p:sp>
        <p:nvSpPr>
          <p:cNvPr id="68" name=""/>
          <p:cNvSpPr txBox="1"/>
          <p:nvPr/>
        </p:nvSpPr>
        <p:spPr>
          <a:xfrm>
            <a:off x="7936920" y="2816280"/>
            <a:ext cx="323712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training variants</a:t>
            </a:r>
            <a:endParaRPr lang="en-US" sz="1100" b="0" u="none" strike="noStrike">
              <a:solidFill>
                <a:srgbClr val="000000"/>
              </a:solidFill>
              <a:effectLst/>
              <a:uFillTx/>
              <a:latin typeface="Arial"/>
            </a:endParaRPr>
          </a:p>
        </p:txBody>
      </p:sp>
      <p:sp>
        <p:nvSpPr>
          <p:cNvPr id="69" name=""/>
          <p:cNvSpPr/>
          <p:nvPr/>
        </p:nvSpPr>
        <p:spPr>
          <a:xfrm>
            <a:off x="548640" y="3520440"/>
            <a:ext cx="3456720" cy="1189080"/>
          </a:xfrm>
          <a:custGeom>
            <a:avLst/>
            <a:gdLst/>
            <a:ahLst/>
            <a:rect l="0" t="0" r="r" b="b"/>
            <a:pathLst>
              <a:path w="9602" h="3303">
                <a:moveTo>
                  <a:pt x="9373" y="0"/>
                </a:moveTo>
                <a:cubicBezTo>
                  <a:pt x="9526" y="0"/>
                  <a:pt x="9602" y="76"/>
                  <a:pt x="9602" y="228"/>
                </a:cubicBezTo>
                <a:lnTo>
                  <a:pt x="9602" y="3075"/>
                </a:lnTo>
                <a:cubicBezTo>
                  <a:pt x="9602" y="3227"/>
                  <a:pt x="9526" y="3303"/>
                  <a:pt x="9373" y="3303"/>
                </a:cubicBezTo>
                <a:lnTo>
                  <a:pt x="228" y="3303"/>
                </a:lnTo>
                <a:cubicBezTo>
                  <a:pt x="76" y="3303"/>
                  <a:pt x="0" y="3227"/>
                  <a:pt x="0" y="3075"/>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70" name=""/>
          <p:cNvSpPr txBox="1"/>
          <p:nvPr/>
        </p:nvSpPr>
        <p:spPr>
          <a:xfrm>
            <a:off x="658440" y="3630240"/>
            <a:ext cx="3237120" cy="6537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34,853</a:t>
            </a:r>
            <a:endParaRPr lang="en-US" sz="3000" b="0" u="none" strike="noStrike">
              <a:solidFill>
                <a:srgbClr val="000000"/>
              </a:solidFill>
              <a:effectLst/>
              <a:uFillTx/>
              <a:latin typeface="Arial"/>
            </a:endParaRPr>
          </a:p>
        </p:txBody>
      </p:sp>
      <p:sp>
        <p:nvSpPr>
          <p:cNvPr id="71" name=""/>
          <p:cNvSpPr txBox="1"/>
          <p:nvPr/>
        </p:nvSpPr>
        <p:spPr>
          <a:xfrm>
            <a:off x="658440" y="4233600"/>
            <a:ext cx="323712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somatic calls</a:t>
            </a:r>
            <a:endParaRPr lang="en-US" sz="1100" b="0" u="none" strike="noStrike">
              <a:solidFill>
                <a:srgbClr val="000000"/>
              </a:solidFill>
              <a:effectLst/>
              <a:uFillTx/>
              <a:latin typeface="Arial"/>
            </a:endParaRPr>
          </a:p>
        </p:txBody>
      </p:sp>
      <p:sp>
        <p:nvSpPr>
          <p:cNvPr id="72" name=""/>
          <p:cNvSpPr/>
          <p:nvPr/>
        </p:nvSpPr>
        <p:spPr>
          <a:xfrm>
            <a:off x="4187880" y="3520440"/>
            <a:ext cx="3456720" cy="1189080"/>
          </a:xfrm>
          <a:custGeom>
            <a:avLst/>
            <a:gdLst/>
            <a:ahLst/>
            <a:rect l="0" t="0" r="r" b="b"/>
            <a:pathLst>
              <a:path w="9602" h="3303">
                <a:moveTo>
                  <a:pt x="9373" y="0"/>
                </a:moveTo>
                <a:cubicBezTo>
                  <a:pt x="9526" y="0"/>
                  <a:pt x="9602" y="76"/>
                  <a:pt x="9602" y="228"/>
                </a:cubicBezTo>
                <a:lnTo>
                  <a:pt x="9602" y="3075"/>
                </a:lnTo>
                <a:cubicBezTo>
                  <a:pt x="9602" y="3227"/>
                  <a:pt x="9526" y="3303"/>
                  <a:pt x="9373" y="3303"/>
                </a:cubicBezTo>
                <a:lnTo>
                  <a:pt x="228" y="3303"/>
                </a:lnTo>
                <a:cubicBezTo>
                  <a:pt x="76" y="3303"/>
                  <a:pt x="0" y="3227"/>
                  <a:pt x="0" y="3075"/>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73" name=""/>
          <p:cNvSpPr txBox="1"/>
          <p:nvPr/>
        </p:nvSpPr>
        <p:spPr>
          <a:xfrm>
            <a:off x="4297680" y="3630240"/>
            <a:ext cx="3237120" cy="6537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10,853</a:t>
            </a:r>
            <a:endParaRPr lang="en-US" sz="3000" b="0" u="none" strike="noStrike">
              <a:solidFill>
                <a:srgbClr val="000000"/>
              </a:solidFill>
              <a:effectLst/>
              <a:uFillTx/>
              <a:latin typeface="Arial"/>
            </a:endParaRPr>
          </a:p>
        </p:txBody>
      </p:sp>
      <p:sp>
        <p:nvSpPr>
          <p:cNvPr id="74" name=""/>
          <p:cNvSpPr txBox="1"/>
          <p:nvPr/>
        </p:nvSpPr>
        <p:spPr>
          <a:xfrm>
            <a:off x="4297680" y="4233600"/>
            <a:ext cx="323712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germline calls</a:t>
            </a:r>
            <a:endParaRPr lang="en-US" sz="1100" b="0" u="none" strike="noStrike">
              <a:solidFill>
                <a:srgbClr val="000000"/>
              </a:solidFill>
              <a:effectLst/>
              <a:uFillTx/>
              <a:latin typeface="Arial"/>
            </a:endParaRPr>
          </a:p>
        </p:txBody>
      </p:sp>
      <p:sp>
        <p:nvSpPr>
          <p:cNvPr id="75" name=""/>
          <p:cNvSpPr/>
          <p:nvPr/>
        </p:nvSpPr>
        <p:spPr>
          <a:xfrm>
            <a:off x="7827120" y="3520440"/>
            <a:ext cx="3456720" cy="1189080"/>
          </a:xfrm>
          <a:custGeom>
            <a:avLst/>
            <a:gdLst/>
            <a:ahLst/>
            <a:rect l="0" t="0" r="r" b="b"/>
            <a:pathLst>
              <a:path w="9602" h="3303">
                <a:moveTo>
                  <a:pt x="9373" y="0"/>
                </a:moveTo>
                <a:cubicBezTo>
                  <a:pt x="9526" y="0"/>
                  <a:pt x="9602" y="76"/>
                  <a:pt x="9602" y="228"/>
                </a:cubicBezTo>
                <a:lnTo>
                  <a:pt x="9602" y="3075"/>
                </a:lnTo>
                <a:cubicBezTo>
                  <a:pt x="9602" y="3227"/>
                  <a:pt x="9526" y="3303"/>
                  <a:pt x="9373" y="3303"/>
                </a:cubicBezTo>
                <a:lnTo>
                  <a:pt x="228" y="3303"/>
                </a:lnTo>
                <a:cubicBezTo>
                  <a:pt x="76" y="3303"/>
                  <a:pt x="0" y="3227"/>
                  <a:pt x="0" y="3075"/>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76" name=""/>
          <p:cNvSpPr txBox="1"/>
          <p:nvPr/>
        </p:nvSpPr>
        <p:spPr>
          <a:xfrm>
            <a:off x="7936920" y="3630240"/>
            <a:ext cx="3237120" cy="6537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212,782</a:t>
            </a:r>
            <a:endParaRPr lang="en-US" sz="3000" b="0" u="none" strike="noStrike">
              <a:solidFill>
                <a:srgbClr val="000000"/>
              </a:solidFill>
              <a:effectLst/>
              <a:uFillTx/>
              <a:latin typeface="Arial"/>
            </a:endParaRPr>
          </a:p>
        </p:txBody>
      </p:sp>
      <p:sp>
        <p:nvSpPr>
          <p:cNvPr id="77" name=""/>
          <p:cNvSpPr txBox="1"/>
          <p:nvPr/>
        </p:nvSpPr>
        <p:spPr>
          <a:xfrm>
            <a:off x="7936920" y="4233600"/>
            <a:ext cx="323712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VUS tracked in ClinVar</a:t>
            </a:r>
            <a:r>
              <a:rPr lang="en-US" sz="1100" b="0" u="none" strike="noStrike">
                <a:solidFill>
                  <a:srgbClr val="475265"/>
                </a:solidFill>
                <a:effectLst/>
                <a:uFillTx/>
                <a:latin typeface="Calibri"/>
                <a:ea typeface="Calibri"/>
              </a:rPr>
              <a:t>(for Stage II)</a:t>
            </a:r>
            <a:endParaRPr lang="en-US" sz="1100" b="0" u="none" strike="noStrike">
              <a:solidFill>
                <a:srgbClr val="000000"/>
              </a:solidFill>
              <a:effectLst/>
              <a:uFillTx/>
              <a:latin typeface="Arial"/>
            </a:endParaRPr>
          </a:p>
        </p:txBody>
      </p:sp>
      <p:sp>
        <p:nvSpPr>
          <p:cNvPr id="78"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4</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9"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DATA</a:t>
            </a:r>
            <a:endParaRPr lang="en-US" sz="1200" b="0" u="none" strike="noStrike">
              <a:solidFill>
                <a:srgbClr val="000000"/>
              </a:solidFill>
              <a:effectLst/>
              <a:uFillTx/>
              <a:latin typeface="Arial"/>
            </a:endParaRPr>
          </a:p>
        </p:txBody>
      </p:sp>
      <p:sp>
        <p:nvSpPr>
          <p:cNvPr id="80"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Somatic Variant Load, By Cancer Type</a:t>
            </a:r>
            <a:endParaRPr lang="en-US" sz="3000" b="0" u="none" strike="noStrike">
              <a:solidFill>
                <a:srgbClr val="000000"/>
              </a:solidFill>
              <a:effectLst/>
              <a:uFillTx/>
              <a:latin typeface="Arial"/>
            </a:endParaRPr>
          </a:p>
        </p:txBody>
      </p:sp>
      <p:pic>
        <p:nvPicPr>
          <p:cNvPr id="81" name=""/>
          <p:cNvPicPr/>
          <p:nvPr/>
        </p:nvPicPr>
        <p:blipFill>
          <a:blip r:embed="rId1"/>
          <a:stretch/>
        </p:blipFill>
        <p:spPr>
          <a:xfrm>
            <a:off x="2087704" y="1463040"/>
            <a:ext cx="7986111" cy="3750000"/>
          </a:xfrm>
          <a:prstGeom prst="rect">
            <a:avLst/>
          </a:prstGeom>
          <a:noFill/>
          <a:ln w="0">
            <a:noFill/>
          </a:ln>
        </p:spPr>
      </p:pic>
      <p:sp>
        <p:nvSpPr>
          <p:cNvPr id="82"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5</a:t>
            </a:r>
            <a:endParaRPr lang="en-US" sz="1000" b="0" u="none" strike="noStrike">
              <a:solidFill>
                <a:srgbClr val="000000"/>
              </a:solidFill>
              <a:effectLst/>
              <a:uFillTx/>
              <a:latin typeface="Arial"/>
            </a:endParaRPr>
          </a:p>
        </p:txBody>
      </p:sp>
      <p:sp>
        <p:nvSpPr>
          <p:cNvPr id="83" name="TextBox 82"/>
          <p:cNvSpPr txBox="1"/>
          <p:nvPr/>
        </p:nvSpPr>
        <p:spPr>
          <a:xfrm>
            <a:off x="822960" y="5333040"/>
            <a:ext cx="10515600" cy="950000"/>
          </a:xfrm>
          <a:prstGeom prst="rect">
            <a:avLst/>
          </a:prstGeom>
          <a:noFill/>
        </p:spPr>
        <p:txBody>
          <a:bodyPr wrap="square">
            <a:spAutoFit/>
          </a:bodyPr>
          <a:lstStyle/>
          <a:p>
            <a:r>
              <a:rPr sz="1100" i="0">
                <a:solidFill>
                  <a:srgbClr val="485366"/>
                </a:solidFill>
                <a:latin typeface="Calibri"/>
              </a:rPr>
              <a:t>SKCM carries by far the heaviest somatic load of any cohort here, and that is a real, expected biological signal rather than a data quality problem: melanoma has one of the highest tumor mutational burdens of any common cancer because UV radiation drives a distinctive, high-volume mutational signature. This is exactly why Stage 1's training set spans seven cancer types instead of one, since a model trained only on a low-burden cohort like PRAD would badly underestimate variant counts elsewhere. The gap between SKCM and PRAD here (roughly 20x) sets the real scale this project's features had to generalize across.</a:t>
            </a: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3"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DATA</a:t>
            </a:r>
            <a:endParaRPr lang="en-US" sz="1200" b="0" u="none" strike="noStrike">
              <a:solidFill>
                <a:srgbClr val="000000"/>
              </a:solidFill>
              <a:effectLst/>
              <a:uFillTx/>
              <a:latin typeface="Arial"/>
            </a:endParaRPr>
          </a:p>
        </p:txBody>
      </p:sp>
      <p:sp>
        <p:nvSpPr>
          <p:cNvPr id="84"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Mutation Burden Varies Sharply By Tumor Type</a:t>
            </a:r>
            <a:endParaRPr lang="en-US" sz="3000" b="0" u="none" strike="noStrike">
              <a:solidFill>
                <a:srgbClr val="000000"/>
              </a:solidFill>
              <a:effectLst/>
              <a:uFillTx/>
              <a:latin typeface="Arial"/>
            </a:endParaRPr>
          </a:p>
        </p:txBody>
      </p:sp>
      <p:pic>
        <p:nvPicPr>
          <p:cNvPr id="85" name=""/>
          <p:cNvPicPr/>
          <p:nvPr/>
        </p:nvPicPr>
        <p:blipFill>
          <a:blip r:embed="rId1"/>
          <a:stretch/>
        </p:blipFill>
        <p:spPr>
          <a:xfrm>
            <a:off x="2087704" y="1417320"/>
            <a:ext cx="7986111" cy="3750000"/>
          </a:xfrm>
          <a:prstGeom prst="rect">
            <a:avLst/>
          </a:prstGeom>
          <a:noFill/>
          <a:ln w="0">
            <a:noFill/>
          </a:ln>
        </p:spPr>
      </p:pic>
      <p:sp>
        <p:nvSpPr>
          <p:cNvPr id="86"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6</a:t>
            </a:r>
            <a:endParaRPr lang="en-US" sz="1000" b="0" u="none" strike="noStrike">
              <a:solidFill>
                <a:srgbClr val="000000"/>
              </a:solidFill>
              <a:effectLst/>
              <a:uFillTx/>
              <a:latin typeface="Arial"/>
            </a:endParaRPr>
          </a:p>
        </p:txBody>
      </p:sp>
      <p:sp>
        <p:nvSpPr>
          <p:cNvPr id="87" name="TextBox 86"/>
          <p:cNvSpPr txBox="1"/>
          <p:nvPr/>
        </p:nvSpPr>
        <p:spPr>
          <a:xfrm>
            <a:off x="822960" y="5287320"/>
            <a:ext cx="10515600" cy="950000"/>
          </a:xfrm>
          <a:prstGeom prst="rect">
            <a:avLst/>
          </a:prstGeom>
          <a:noFill/>
        </p:spPr>
        <p:txBody>
          <a:bodyPr wrap="square">
            <a:spAutoFit/>
          </a:bodyPr>
          <a:lstStyle/>
          <a:p>
            <a:r>
              <a:rPr sz="1100" i="0">
                <a:solidFill>
                  <a:srgbClr val="485366"/>
                </a:solidFill>
                <a:latin typeface="Calibri"/>
              </a:rPr>
              <a:t>Burden varies within a cohort almost as much as it varies across cohorts, which is the real reason a single population-wide threshold for what counts as a heavily mutated tumor would be misleading. That spread is exactly what motivates checking for hypermutator outliers directly rather than assuming cancer type alone explains mutation count, which is covered on the next slide with a real patient case. It also means gene-level mutation counts later in this deck need to be read in the context of which cohort they came from, not compared blindly across cancer types.</a:t>
            </a: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7"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DATA</a:t>
            </a:r>
            <a:endParaRPr lang="en-US" sz="1200" b="0" u="none" strike="noStrike">
              <a:solidFill>
                <a:srgbClr val="000000"/>
              </a:solidFill>
              <a:effectLst/>
              <a:uFillTx/>
              <a:latin typeface="Arial"/>
            </a:endParaRPr>
          </a:p>
        </p:txBody>
      </p:sp>
      <p:sp>
        <p:nvSpPr>
          <p:cNvPr id="88" name=""/>
          <p:cNvSpPr txBox="1"/>
          <p:nvPr/>
        </p:nvSpPr>
        <p:spPr>
          <a:xfrm>
            <a:off x="548640" y="658440"/>
            <a:ext cx="10789920" cy="97740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The Most Frequently Mutated Genes In This Cohort</a:t>
            </a:r>
            <a:endParaRPr lang="en-US" sz="3000" b="0" u="none" strike="noStrike">
              <a:solidFill>
                <a:srgbClr val="000000"/>
              </a:solidFill>
              <a:effectLst/>
              <a:uFillTx/>
              <a:latin typeface="Arial"/>
            </a:endParaRPr>
          </a:p>
        </p:txBody>
      </p:sp>
      <p:pic>
        <p:nvPicPr>
          <p:cNvPr id="89" name=""/>
          <p:cNvPicPr/>
          <p:nvPr/>
        </p:nvPicPr>
        <p:blipFill>
          <a:blip r:embed="rId1"/>
          <a:stretch/>
        </p:blipFill>
        <p:spPr>
          <a:xfrm>
            <a:off x="2288596" y="1750000"/>
            <a:ext cx="7401447" cy="3550000"/>
          </a:xfrm>
          <a:prstGeom prst="rect">
            <a:avLst/>
          </a:prstGeom>
          <a:noFill/>
          <a:ln w="0">
            <a:noFill/>
          </a:ln>
        </p:spPr>
      </p:pic>
      <p:sp>
        <p:nvSpPr>
          <p:cNvPr id="90"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7</a:t>
            </a:r>
            <a:endParaRPr lang="en-US" sz="1000" b="0" u="none" strike="noStrike">
              <a:solidFill>
                <a:srgbClr val="000000"/>
              </a:solidFill>
              <a:effectLst/>
              <a:uFillTx/>
              <a:latin typeface="Arial"/>
            </a:endParaRPr>
          </a:p>
        </p:txBody>
      </p:sp>
      <p:sp>
        <p:nvSpPr>
          <p:cNvPr id="91" name="TextBox 90"/>
          <p:cNvSpPr txBox="1"/>
          <p:nvPr/>
        </p:nvSpPr>
        <p:spPr>
          <a:xfrm>
            <a:off x="822960" y="5420000"/>
            <a:ext cx="10515600" cy="950000"/>
          </a:xfrm>
          <a:prstGeom prst="rect">
            <a:avLst/>
          </a:prstGeom>
          <a:noFill/>
        </p:spPr>
        <p:txBody>
          <a:bodyPr wrap="square">
            <a:spAutoFit/>
          </a:bodyPr>
          <a:lstStyle/>
          <a:p>
            <a:r>
              <a:rPr sz="1100" i="0">
                <a:solidFill>
                  <a:srgbClr val="485366"/>
                </a:solidFill>
                <a:latin typeface="Calibri"/>
              </a:rPr>
              <a:t>BRCA1 and BRCA2 are not in this top 10, and that is not a withholding decision on this project's part: by raw somatic mutation count they rank 2,055th and 876th in this cohort, with only 4 and 6 mutations respectively across the whole dataset. Large genes like TTN and MUC16 dominate this list because they are simply bigger genomic targets for passenger mutations to land on, not because they carry more clinical significance. This is a well known confound in cancer genomics, and it is the reason Stage 2's models use gene-level historical resolution rate rather than raw mutation frequency as a feature, since frequency alone would systematically overweight large, clinically uninteresting genes.</a:t>
            </a: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1"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DATA</a:t>
            </a:r>
            <a:endParaRPr lang="en-US" sz="1200" b="0" u="none" strike="noStrike">
              <a:solidFill>
                <a:srgbClr val="000000"/>
              </a:solidFill>
              <a:effectLst/>
              <a:uFillTx/>
              <a:latin typeface="Arial"/>
            </a:endParaRPr>
          </a:p>
        </p:txBody>
      </p:sp>
      <p:sp>
        <p:nvSpPr>
          <p:cNvPr id="92"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What Kind of Mutations These Are</a:t>
            </a:r>
            <a:endParaRPr lang="en-US" sz="3000" b="0" u="none" strike="noStrike">
              <a:solidFill>
                <a:srgbClr val="000000"/>
              </a:solidFill>
              <a:effectLst/>
              <a:uFillTx/>
              <a:latin typeface="Arial"/>
            </a:endParaRPr>
          </a:p>
        </p:txBody>
      </p:sp>
      <p:sp>
        <p:nvSpPr>
          <p:cNvPr id="94"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8</a:t>
            </a:r>
            <a:endParaRPr lang="en-US" sz="1000" b="0" u="none" strike="noStrike">
              <a:solidFill>
                <a:srgbClr val="000000"/>
              </a:solidFill>
              <a:effectLst/>
              <a:uFillTx/>
              <a:latin typeface="Arial"/>
            </a:endParaRPr>
          </a:p>
        </p:txBody>
      </p:sp>
      <p:pic>
        <p:nvPicPr>
          <p:cNvPr id="95" name="Picture 94" descr="mutation_type_breakdown_7cohort.png"/>
          <p:cNvPicPr>
            <a:picLocks noChangeAspect="1"/>
          </p:cNvPicPr>
          <p:nvPr/>
        </p:nvPicPr>
        <p:blipFill>
          <a:blip r:embed="rId3"/>
          <a:stretch>
            <a:fillRect/>
          </a:stretch>
        </p:blipFill>
        <p:spPr>
          <a:xfrm>
            <a:off x="2224877" y="1713693"/>
            <a:ext cx="7620326" cy="3550000"/>
          </a:xfrm>
          <a:prstGeom prst="rect">
            <a:avLst/>
          </a:prstGeom>
        </p:spPr>
      </p:pic>
      <p:sp>
        <p:nvSpPr>
          <p:cNvPr id="96" name="TextBox 95"/>
          <p:cNvSpPr txBox="1"/>
          <p:nvPr/>
        </p:nvSpPr>
        <p:spPr>
          <a:xfrm>
            <a:off x="822960" y="5383693"/>
            <a:ext cx="10515600" cy="950000"/>
          </a:xfrm>
          <a:prstGeom prst="rect">
            <a:avLst/>
          </a:prstGeom>
          <a:noFill/>
        </p:spPr>
        <p:txBody>
          <a:bodyPr wrap="square">
            <a:spAutoFit/>
          </a:bodyPr>
          <a:lstStyle/>
          <a:p>
            <a:r>
              <a:rPr sz="1100" i="0">
                <a:solidFill>
                  <a:srgbClr val="485366"/>
                </a:solidFill>
                <a:latin typeface="Calibri"/>
              </a:rPr>
              <a:t>Nonsynonymous SNVs dominate every one of the seven cohorts, which confirms the training labels reflect real coding-altering mutations rather than annotation noise or a pipeline bug that let synonymous variants leak through. The relative mix does shift by cohort: COAD and STAD show a noticeably higher frameshift-deletion share than BRCA or SKCM, consistent with the mismatch-repair-driven indel signatures known in colorectal and gastric cancers. The consistently small stopgain and startloss counts across cohorts also line up with the real biological expectation that most truncating events are individually rare compared to missense substitutions.</a:t>
            </a: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C375C"/>
        </a:solidFill>
      </p:bgPr>
    </p:bg>
    <p:spTree>
      <p:nvGrpSpPr>
        <p:cNvPr id="1" name=""/>
        <p:cNvGrpSpPr/>
        <p:nvPr/>
      </p:nvGrpSpPr>
      <p:grpSpPr>
        <a:xfrm>
          <a:off x="0" y="0"/>
          <a:ext cx="0" cy="0"/>
          <a:chOff x="0" y="0"/>
          <a:chExt cx="0" cy="0"/>
        </a:xfrm>
      </p:grpSpPr>
      <p:sp>
        <p:nvSpPr>
          <p:cNvPr id="95"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9C467"/>
                </a:solidFill>
                <a:effectLst/>
                <a:uFillTx/>
                <a:latin typeface="Calibri-Bold"/>
                <a:ea typeface="Calibri-Bold"/>
              </a:rPr>
              <a:t>Hymermutated tumor outlier</a:t>
            </a:r>
            <a:endParaRPr lang="en-US" sz="1200" b="0" u="none" strike="noStrike">
              <a:solidFill>
                <a:srgbClr val="FFFFFF"/>
              </a:solidFill>
              <a:effectLst/>
              <a:uFillTx/>
              <a:latin typeface="Arial"/>
            </a:endParaRPr>
          </a:p>
        </p:txBody>
      </p:sp>
      <p:sp>
        <p:nvSpPr>
          <p:cNvPr id="96" name=""/>
          <p:cNvSpPr txBox="1"/>
          <p:nvPr/>
        </p:nvSpPr>
        <p:spPr>
          <a:xfrm>
            <a:off x="548640" y="685800"/>
            <a:ext cx="10972800" cy="777240"/>
          </a:xfrm>
          <a:prstGeom prst="rect">
            <a:avLst/>
          </a:prstGeom>
          <a:noFill/>
          <a:ln w="0">
            <a:noFill/>
          </a:ln>
        </p:spPr>
        <p:txBody>
          <a:bodyPr lIns="90000" tIns="45000" rIns="90000" bIns="45000" anchor="t">
            <a:spAutoFit/>
          </a:bodyPr>
          <a:p>
            <a:r>
              <a:rPr lang="en-US" sz="2800" b="1" u="none" strike="noStrike">
                <a:solidFill>
                  <a:srgbClr val="FFFFFF"/>
                </a:solidFill>
                <a:effectLst/>
                <a:uFillTx/>
                <a:latin typeface="Cambria-Bold"/>
                <a:ea typeface="Cambria-Bold"/>
              </a:rPr>
              <a:t>One Tumor Had 96× the Normal Mutation Load</a:t>
            </a:r>
            <a:endParaRPr lang="en-US" sz="2800" b="0" u="none" strike="noStrike">
              <a:solidFill>
                <a:srgbClr val="FFFFFF"/>
              </a:solidFill>
              <a:effectLst/>
              <a:uFillTx/>
              <a:latin typeface="Arial"/>
            </a:endParaRPr>
          </a:p>
        </p:txBody>
      </p:sp>
      <p:sp>
        <p:nvSpPr>
          <p:cNvPr id="97" name=""/>
          <p:cNvSpPr/>
          <p:nvPr/>
        </p:nvSpPr>
        <p:spPr>
          <a:xfrm>
            <a:off x="548640" y="1707840"/>
            <a:ext cx="2652120" cy="1051920"/>
          </a:xfrm>
          <a:custGeom>
            <a:avLst/>
            <a:gdLst/>
            <a:ahLst/>
            <a:rect l="0" t="0" r="r" b="b"/>
            <a:pathLst>
              <a:path w="7367" h="2922">
                <a:moveTo>
                  <a:pt x="7138" y="0"/>
                </a:moveTo>
                <a:cubicBezTo>
                  <a:pt x="7291" y="0"/>
                  <a:pt x="7367" y="76"/>
                  <a:pt x="7367" y="228"/>
                </a:cubicBezTo>
                <a:lnTo>
                  <a:pt x="7367" y="2693"/>
                </a:lnTo>
                <a:cubicBezTo>
                  <a:pt x="7367" y="2846"/>
                  <a:pt x="7291" y="2922"/>
                  <a:pt x="7138" y="2922"/>
                </a:cubicBezTo>
                <a:lnTo>
                  <a:pt x="228" y="2922"/>
                </a:lnTo>
                <a:cubicBezTo>
                  <a:pt x="76" y="2922"/>
                  <a:pt x="0" y="2846"/>
                  <a:pt x="0" y="2693"/>
                </a:cubicBezTo>
                <a:lnTo>
                  <a:pt x="0" y="228"/>
                </a:lnTo>
                <a:cubicBezTo>
                  <a:pt x="0" y="76"/>
                  <a:pt x="76" y="0"/>
                  <a:pt x="228" y="0"/>
                </a:cubicBezTo>
                <a:lnTo>
                  <a:pt x="7138"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98" name=""/>
          <p:cNvSpPr txBox="1"/>
          <p:nvPr/>
        </p:nvSpPr>
        <p:spPr>
          <a:xfrm>
            <a:off x="658440" y="1850040"/>
            <a:ext cx="2432160" cy="385920"/>
          </a:xfrm>
          <a:prstGeom prst="rect">
            <a:avLst/>
          </a:prstGeom>
          <a:noFill/>
          <a:ln w="0">
            <a:noFill/>
          </a:ln>
        </p:spPr>
        <p:txBody>
          <a:bodyPr lIns="90000" tIns="45000" rIns="90000" bIns="45000" anchor="t">
            <a:spAutoFit/>
          </a:bodyPr>
          <a:p>
            <a:r>
              <a:rPr lang="en-US" sz="2000" b="1" u="none" strike="noStrike">
                <a:solidFill>
                  <a:srgbClr val="E9C467"/>
                </a:solidFill>
                <a:effectLst/>
                <a:uFillTx/>
                <a:latin typeface="Cambria-Bold"/>
                <a:ea typeface="Cambria-Bold"/>
              </a:rPr>
              <a:t>TCGA-AN-A046</a:t>
            </a:r>
            <a:endParaRPr lang="en-US" sz="2000" b="0" u="none" strike="noStrike">
              <a:solidFill>
                <a:srgbClr val="FFFFFF"/>
              </a:solidFill>
              <a:effectLst/>
              <a:uFillTx/>
              <a:latin typeface="Arial"/>
            </a:endParaRPr>
          </a:p>
        </p:txBody>
      </p:sp>
      <p:sp>
        <p:nvSpPr>
          <p:cNvPr id="99" name=""/>
          <p:cNvSpPr txBox="1"/>
          <p:nvPr/>
        </p:nvSpPr>
        <p:spPr>
          <a:xfrm>
            <a:off x="658440" y="2322720"/>
            <a:ext cx="2432160" cy="39960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patient ID</a:t>
            </a:r>
            <a:endParaRPr lang="en-US" sz="1100" b="0" u="none" strike="noStrike">
              <a:solidFill>
                <a:srgbClr val="FFFFFF"/>
              </a:solidFill>
              <a:effectLst/>
              <a:uFillTx/>
              <a:latin typeface="Arial"/>
            </a:endParaRPr>
          </a:p>
        </p:txBody>
      </p:sp>
      <p:sp>
        <p:nvSpPr>
          <p:cNvPr id="100" name=""/>
          <p:cNvSpPr/>
          <p:nvPr/>
        </p:nvSpPr>
        <p:spPr>
          <a:xfrm>
            <a:off x="3364920" y="1691640"/>
            <a:ext cx="2652120" cy="1051920"/>
          </a:xfrm>
          <a:custGeom>
            <a:avLst/>
            <a:gdLst/>
            <a:ahLst/>
            <a:rect l="0" t="0" r="r" b="b"/>
            <a:pathLst>
              <a:path w="7367" h="2922">
                <a:moveTo>
                  <a:pt x="7138" y="0"/>
                </a:moveTo>
                <a:cubicBezTo>
                  <a:pt x="7291" y="0"/>
                  <a:pt x="7367" y="76"/>
                  <a:pt x="7367" y="228"/>
                </a:cubicBezTo>
                <a:lnTo>
                  <a:pt x="7367" y="2693"/>
                </a:lnTo>
                <a:cubicBezTo>
                  <a:pt x="7367" y="2846"/>
                  <a:pt x="7291" y="2922"/>
                  <a:pt x="7138" y="2922"/>
                </a:cubicBezTo>
                <a:lnTo>
                  <a:pt x="228" y="2922"/>
                </a:lnTo>
                <a:cubicBezTo>
                  <a:pt x="76" y="2922"/>
                  <a:pt x="0" y="2846"/>
                  <a:pt x="0" y="2693"/>
                </a:cubicBezTo>
                <a:lnTo>
                  <a:pt x="0" y="228"/>
                </a:lnTo>
                <a:cubicBezTo>
                  <a:pt x="0" y="76"/>
                  <a:pt x="76" y="0"/>
                  <a:pt x="228" y="0"/>
                </a:cubicBezTo>
                <a:lnTo>
                  <a:pt x="7138"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101" name=""/>
          <p:cNvSpPr txBox="1"/>
          <p:nvPr/>
        </p:nvSpPr>
        <p:spPr>
          <a:xfrm>
            <a:off x="3474720" y="1850040"/>
            <a:ext cx="2432160" cy="681480"/>
          </a:xfrm>
          <a:prstGeom prst="rect">
            <a:avLst/>
          </a:prstGeom>
          <a:noFill/>
          <a:ln w="0">
            <a:noFill/>
          </a:ln>
        </p:spPr>
        <p:txBody>
          <a:bodyPr lIns="90000" tIns="45000" rIns="90000" bIns="45000" anchor="t">
            <a:spAutoFit/>
          </a:bodyPr>
          <a:p>
            <a:r>
              <a:rPr lang="en-US" sz="2000" b="1" u="none" strike="noStrike">
                <a:solidFill>
                  <a:srgbClr val="E9C467"/>
                </a:solidFill>
                <a:effectLst/>
                <a:uFillTx/>
                <a:latin typeface="Cambria-Bold"/>
                <a:ea typeface="Cambria-Bold"/>
              </a:rPr>
              <a:t>BRCA · Stage IIA</a:t>
            </a:r>
            <a:endParaRPr lang="en-US" sz="2000" b="0" u="none" strike="noStrike">
              <a:solidFill>
                <a:srgbClr val="FFFFFF"/>
              </a:solidFill>
              <a:effectLst/>
              <a:uFillTx/>
              <a:latin typeface="Arial"/>
            </a:endParaRPr>
          </a:p>
        </p:txBody>
      </p:sp>
      <p:sp>
        <p:nvSpPr>
          <p:cNvPr id="102" name=""/>
          <p:cNvSpPr txBox="1"/>
          <p:nvPr/>
        </p:nvSpPr>
        <p:spPr>
          <a:xfrm>
            <a:off x="3474720" y="2322720"/>
            <a:ext cx="2432160" cy="39960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diagnosis</a:t>
            </a:r>
            <a:endParaRPr lang="en-US" sz="1100" b="0" u="none" strike="noStrike">
              <a:solidFill>
                <a:srgbClr val="FFFFFF"/>
              </a:solidFill>
              <a:effectLst/>
              <a:uFillTx/>
              <a:latin typeface="Arial"/>
            </a:endParaRPr>
          </a:p>
        </p:txBody>
      </p:sp>
      <p:sp>
        <p:nvSpPr>
          <p:cNvPr id="103" name=""/>
          <p:cNvSpPr/>
          <p:nvPr/>
        </p:nvSpPr>
        <p:spPr>
          <a:xfrm>
            <a:off x="6181200" y="1691640"/>
            <a:ext cx="2652120" cy="1051920"/>
          </a:xfrm>
          <a:custGeom>
            <a:avLst/>
            <a:gdLst/>
            <a:ahLst/>
            <a:rect l="0" t="0" r="r" b="b"/>
            <a:pathLst>
              <a:path w="7367" h="2922">
                <a:moveTo>
                  <a:pt x="7138" y="0"/>
                </a:moveTo>
                <a:cubicBezTo>
                  <a:pt x="7291" y="0"/>
                  <a:pt x="7367" y="76"/>
                  <a:pt x="7367" y="228"/>
                </a:cubicBezTo>
                <a:lnTo>
                  <a:pt x="7367" y="2693"/>
                </a:lnTo>
                <a:cubicBezTo>
                  <a:pt x="7367" y="2846"/>
                  <a:pt x="7291" y="2922"/>
                  <a:pt x="7138" y="2922"/>
                </a:cubicBezTo>
                <a:lnTo>
                  <a:pt x="228" y="2922"/>
                </a:lnTo>
                <a:cubicBezTo>
                  <a:pt x="76" y="2922"/>
                  <a:pt x="0" y="2846"/>
                  <a:pt x="0" y="2693"/>
                </a:cubicBezTo>
                <a:lnTo>
                  <a:pt x="0" y="228"/>
                </a:lnTo>
                <a:cubicBezTo>
                  <a:pt x="0" y="76"/>
                  <a:pt x="76" y="0"/>
                  <a:pt x="228" y="0"/>
                </a:cubicBezTo>
                <a:lnTo>
                  <a:pt x="7138"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104" name=""/>
          <p:cNvSpPr txBox="1"/>
          <p:nvPr/>
        </p:nvSpPr>
        <p:spPr>
          <a:xfrm>
            <a:off x="6291000" y="1850040"/>
            <a:ext cx="2432160" cy="385920"/>
          </a:xfrm>
          <a:prstGeom prst="rect">
            <a:avLst/>
          </a:prstGeom>
          <a:noFill/>
          <a:ln w="0">
            <a:noFill/>
          </a:ln>
        </p:spPr>
        <p:txBody>
          <a:bodyPr lIns="90000" tIns="45000" rIns="90000" bIns="45000" anchor="t">
            <a:spAutoFit/>
          </a:bodyPr>
          <a:p>
            <a:r>
              <a:rPr lang="en-US" sz="2000" b="1" u="none" strike="noStrike">
                <a:solidFill>
                  <a:srgbClr val="E9C467"/>
                </a:solidFill>
                <a:effectLst/>
                <a:uFillTx/>
                <a:latin typeface="Cambria-Bold"/>
                <a:ea typeface="Cambria-Bold"/>
              </a:rPr>
              <a:t>68F · Alive</a:t>
            </a:r>
            <a:endParaRPr lang="en-US" sz="2000" b="0" u="none" strike="noStrike">
              <a:solidFill>
                <a:srgbClr val="FFFFFF"/>
              </a:solidFill>
              <a:effectLst/>
              <a:uFillTx/>
              <a:latin typeface="Arial"/>
            </a:endParaRPr>
          </a:p>
        </p:txBody>
      </p:sp>
      <p:sp>
        <p:nvSpPr>
          <p:cNvPr id="105" name=""/>
          <p:cNvSpPr txBox="1"/>
          <p:nvPr/>
        </p:nvSpPr>
        <p:spPr>
          <a:xfrm>
            <a:off x="6291000" y="2322720"/>
            <a:ext cx="2432160" cy="39960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clinical status</a:t>
            </a:r>
            <a:endParaRPr lang="en-US" sz="1100" b="0" u="none" strike="noStrike">
              <a:solidFill>
                <a:srgbClr val="FFFFFF"/>
              </a:solidFill>
              <a:effectLst/>
              <a:uFillTx/>
              <a:latin typeface="Arial"/>
            </a:endParaRPr>
          </a:p>
        </p:txBody>
      </p:sp>
      <p:sp>
        <p:nvSpPr>
          <p:cNvPr id="106" name=""/>
          <p:cNvSpPr/>
          <p:nvPr/>
        </p:nvSpPr>
        <p:spPr>
          <a:xfrm>
            <a:off x="8997840" y="1691640"/>
            <a:ext cx="2652120" cy="1051920"/>
          </a:xfrm>
          <a:custGeom>
            <a:avLst/>
            <a:gdLst/>
            <a:ahLst/>
            <a:rect l="0" t="0" r="r" b="b"/>
            <a:pathLst>
              <a:path w="7367" h="2922">
                <a:moveTo>
                  <a:pt x="7138" y="0"/>
                </a:moveTo>
                <a:cubicBezTo>
                  <a:pt x="7291" y="0"/>
                  <a:pt x="7367" y="76"/>
                  <a:pt x="7367" y="228"/>
                </a:cubicBezTo>
                <a:lnTo>
                  <a:pt x="7367" y="2693"/>
                </a:lnTo>
                <a:cubicBezTo>
                  <a:pt x="7367" y="2846"/>
                  <a:pt x="7291" y="2922"/>
                  <a:pt x="7138" y="2922"/>
                </a:cubicBezTo>
                <a:lnTo>
                  <a:pt x="228" y="2922"/>
                </a:lnTo>
                <a:cubicBezTo>
                  <a:pt x="76" y="2922"/>
                  <a:pt x="0" y="2846"/>
                  <a:pt x="0" y="2693"/>
                </a:cubicBezTo>
                <a:lnTo>
                  <a:pt x="0" y="228"/>
                </a:lnTo>
                <a:cubicBezTo>
                  <a:pt x="0" y="76"/>
                  <a:pt x="76" y="0"/>
                  <a:pt x="228" y="0"/>
                </a:cubicBezTo>
                <a:lnTo>
                  <a:pt x="7138"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107" name=""/>
          <p:cNvSpPr txBox="1"/>
          <p:nvPr/>
        </p:nvSpPr>
        <p:spPr>
          <a:xfrm>
            <a:off x="9107280" y="1850040"/>
            <a:ext cx="2432160" cy="385920"/>
          </a:xfrm>
          <a:prstGeom prst="rect">
            <a:avLst/>
          </a:prstGeom>
          <a:noFill/>
          <a:ln w="0">
            <a:noFill/>
          </a:ln>
        </p:spPr>
        <p:txBody>
          <a:bodyPr lIns="90000" tIns="45000" rIns="90000" bIns="45000" anchor="t">
            <a:spAutoFit/>
          </a:bodyPr>
          <a:p>
            <a:r>
              <a:rPr lang="en-US" sz="2000" b="1" u="none" strike="noStrike">
                <a:solidFill>
                  <a:srgbClr val="E9C467"/>
                </a:solidFill>
                <a:effectLst/>
                <a:uFillTx/>
                <a:latin typeface="Cambria-Bold"/>
                <a:ea typeface="Cambria-Bold"/>
              </a:rPr>
              <a:t>5,978</a:t>
            </a:r>
            <a:endParaRPr lang="en-US" sz="2000" b="0" u="none" strike="noStrike">
              <a:solidFill>
                <a:srgbClr val="FFFFFF"/>
              </a:solidFill>
              <a:effectLst/>
              <a:uFillTx/>
              <a:latin typeface="Arial"/>
            </a:endParaRPr>
          </a:p>
        </p:txBody>
      </p:sp>
      <p:sp>
        <p:nvSpPr>
          <p:cNvPr id="108" name=""/>
          <p:cNvSpPr txBox="1"/>
          <p:nvPr/>
        </p:nvSpPr>
        <p:spPr>
          <a:xfrm>
            <a:off x="9107280" y="2322720"/>
            <a:ext cx="2432160" cy="39960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somatic variants (cohort median: 62)</a:t>
            </a:r>
            <a:endParaRPr lang="en-US" sz="1100" b="0" u="none" strike="noStrike">
              <a:solidFill>
                <a:srgbClr val="FFFFFF"/>
              </a:solidFill>
              <a:effectLst/>
              <a:uFillTx/>
              <a:latin typeface="Arial"/>
            </a:endParaRPr>
          </a:p>
        </p:txBody>
      </p:sp>
      <p:sp>
        <p:nvSpPr>
          <p:cNvPr id="109" name=""/>
          <p:cNvSpPr txBox="1"/>
          <p:nvPr/>
        </p:nvSpPr>
        <p:spPr>
          <a:xfrm>
            <a:off x="548640" y="3063240"/>
            <a:ext cx="3657600" cy="274320"/>
          </a:xfrm>
          <a:prstGeom prst="rect">
            <a:avLst/>
          </a:prstGeom>
          <a:noFill/>
          <a:ln w="0">
            <a:noFill/>
          </a:ln>
        </p:spPr>
        <p:txBody>
          <a:bodyPr lIns="90000" tIns="45000" rIns="90000" bIns="45000" anchor="t">
            <a:spAutoFit/>
          </a:bodyPr>
          <a:p>
            <a:r>
              <a:rPr lang="en-US" sz="1100" b="1" u="none" spc="150" strike="noStrike">
                <a:solidFill>
                  <a:srgbClr val="E9C467"/>
                </a:solidFill>
                <a:effectLst/>
                <a:uFillTx/>
                <a:latin typeface="Calibri-Bold"/>
                <a:ea typeface="Calibri-Bold"/>
              </a:rPr>
              <a:t>WHY</a:t>
            </a:r>
            <a:endParaRPr lang="en-US" sz="1100" b="0" u="none" strike="noStrike">
              <a:solidFill>
                <a:srgbClr val="FFFFFF"/>
              </a:solidFill>
              <a:effectLst/>
              <a:uFillTx/>
              <a:latin typeface="Arial"/>
            </a:endParaRPr>
          </a:p>
        </p:txBody>
      </p:sp>
      <p:sp>
        <p:nvSpPr>
          <p:cNvPr id="110" name=""/>
          <p:cNvSpPr txBox="1"/>
          <p:nvPr/>
        </p:nvSpPr>
        <p:spPr>
          <a:xfrm>
            <a:off x="548640" y="3383280"/>
            <a:ext cx="10789920" cy="1554480"/>
          </a:xfrm>
          <a:prstGeom prst="rect">
            <a:avLst/>
          </a:prstGeom>
          <a:noFill/>
          <a:ln w="0">
            <a:noFill/>
          </a:ln>
        </p:spPr>
        <p:txBody>
          <a:bodyPr lIns="90000" tIns="45000" rIns="90000" bIns="45000" anchor="t">
            <a:spAutoFit/>
          </a:bodyPr>
          <a:p>
            <a:pPr>
              <a:lnSpc>
                <a:spcPct val="125000"/>
              </a:lnSpc>
            </a:pPr>
            <a:r>
              <a:rPr lang="en-US" sz="1300" b="0" u="none" strike="noStrike">
                <a:solidFill>
                  <a:srgbClr val="D6DEEC"/>
                </a:solidFill>
                <a:effectLst/>
                <a:uFillTx/>
                <a:latin typeface="Calibri"/>
                <a:ea typeface="Calibri"/>
              </a:rPr>
              <a:t>This tumor carries mutations in POLE (2), MSH6 (1), MLH1 (1), and PMS2 (1): the genes that proofread and repair DNA during replication. Damage one of them and every subsequent cell division adds mutations no repair pathway catches. That is a hypermutator phenotype, a</a:t>
            </a:r>
            <a:r>
              <a:rPr lang="en-US" sz="1300" b="0" u="none" strike="noStrike">
                <a:solidFill>
                  <a:srgbClr val="D6DEEC"/>
                </a:solidFill>
                <a:effectLst/>
                <a:uFillTx/>
                <a:latin typeface="Calibri"/>
                <a:ea typeface="Calibri"/>
              </a:rPr>
              <a:t>nd this is exactly why this tumor had so many more variations as compared to the median</a:t>
            </a:r>
            <a:r>
              <a:rPr lang="en-US" sz="1300" b="0" u="none" strike="noStrike">
                <a:solidFill>
                  <a:srgbClr val="D6DEEC"/>
                </a:solidFill>
                <a:effectLst/>
                <a:uFillTx/>
                <a:latin typeface="Calibri"/>
                <a:ea typeface="Calibri"/>
              </a:rPr>
              <a:t>.</a:t>
            </a:r>
            <a:endParaRPr lang="en-US" sz="1300" b="0" u="none" strike="noStrike">
              <a:solidFill>
                <a:srgbClr val="FFFFFF"/>
              </a:solidFill>
              <a:effectLst/>
              <a:uFillTx/>
              <a:latin typeface="Arial"/>
            </a:endParaRPr>
          </a:p>
        </p:txBody>
      </p:sp>
      <p:sp>
        <p:nvSpPr>
          <p:cNvPr id="111" name=""/>
          <p:cNvSpPr txBox="1"/>
          <p:nvPr/>
        </p:nvSpPr>
        <p:spPr>
          <a:xfrm>
            <a:off x="548640" y="5074920"/>
            <a:ext cx="10789920" cy="731520"/>
          </a:xfrm>
          <a:prstGeom prst="rect">
            <a:avLst/>
          </a:prstGeom>
          <a:noFill/>
          <a:ln w="0">
            <a:noFill/>
          </a:ln>
        </p:spPr>
        <p:txBody>
          <a:bodyPr lIns="90000" tIns="45000" rIns="90000" bIns="45000" anchor="t">
            <a:spAutoFit/>
          </a:bodyPr>
          <a:p>
            <a:pPr>
              <a:lnSpc>
                <a:spcPct val="125000"/>
              </a:lnSpc>
            </a:pPr>
            <a:r>
              <a:rPr lang="en-US" sz="1200" b="0" u="none" strike="noStrike">
                <a:solidFill>
                  <a:srgbClr val="9FB0CE"/>
                </a:solidFill>
                <a:effectLst/>
                <a:uFillTx/>
                <a:latin typeface="Calibri"/>
                <a:ea typeface="Calibri"/>
              </a:rPr>
              <a:t>Most mutated genes overall in this tumor: TTN (38), DST (17), SYNE1 (11), RYR2 (10). These are large genes that pick up passenger mutations at a rate proportional to how hypermutated the tumor already is</a:t>
            </a:r>
            <a:r>
              <a:rPr lang="en-US" sz="1200" b="0" u="none" strike="noStrike">
                <a:solidFill>
                  <a:srgbClr val="9FB0CE"/>
                </a:solidFill>
                <a:effectLst/>
                <a:uFillTx/>
                <a:latin typeface="Calibri"/>
                <a:ea typeface="Calibri"/>
              </a:rPr>
              <a:t>.</a:t>
            </a:r>
            <a:endParaRPr lang="en-US" sz="1200" b="0" u="none" strike="noStrike">
              <a:solidFill>
                <a:srgbClr val="FFFFFF"/>
              </a:solidFill>
              <a:effectLst/>
              <a:uFillTx/>
              <a:latin typeface="Arial"/>
            </a:endParaRPr>
          </a:p>
        </p:txBody>
      </p:sp>
      <p:sp>
        <p:nvSpPr>
          <p:cNvPr id="112"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7B8AA5"/>
                </a:solidFill>
                <a:effectLst/>
                <a:uFillTx/>
                <a:latin typeface="Calibri"/>
                <a:ea typeface="Calibri"/>
              </a:rPr>
              <a:t>9</a:t>
            </a:r>
            <a:endParaRPr lang="en-US"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3"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MODEL BEHAVIOR</a:t>
            </a:r>
            <a:endParaRPr lang="en-US" sz="1200" b="0" u="none" strike="noStrike">
              <a:solidFill>
                <a:srgbClr val="000000"/>
              </a:solidFill>
              <a:effectLst/>
              <a:uFillTx/>
              <a:latin typeface="Arial"/>
            </a:endParaRPr>
          </a:p>
        </p:txBody>
      </p:sp>
      <p:sp>
        <p:nvSpPr>
          <p:cNvPr id="114"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What the Model Gets Right, and What It Doesn't</a:t>
            </a:r>
            <a:endParaRPr lang="en-US" sz="3000" b="0" u="none" strike="noStrike">
              <a:solidFill>
                <a:srgbClr val="000000"/>
              </a:solidFill>
              <a:effectLst/>
              <a:uFillTx/>
              <a:latin typeface="Arial"/>
            </a:endParaRPr>
          </a:p>
        </p:txBody>
      </p:sp>
      <p:pic>
        <p:nvPicPr>
          <p:cNvPr id="115" name=""/>
          <p:cNvPicPr/>
          <p:nvPr/>
        </p:nvPicPr>
        <p:blipFill>
          <a:blip r:embed="rId1"/>
          <a:stretch/>
        </p:blipFill>
        <p:spPr>
          <a:xfrm>
            <a:off x="745200" y="2377440"/>
            <a:ext cx="10698480" cy="3291840"/>
          </a:xfrm>
          <a:prstGeom prst="rect">
            <a:avLst/>
          </a:prstGeom>
          <a:noFill/>
          <a:ln w="0">
            <a:noFill/>
          </a:ln>
        </p:spPr>
      </p:pic>
      <p:sp>
        <p:nvSpPr>
          <p:cNvPr id="116"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10</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7"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RECLASSIFICATION MODEL</a:t>
            </a:r>
            <a:endParaRPr lang="en-US" sz="1200" b="0" u="none" strike="noStrike">
              <a:solidFill>
                <a:srgbClr val="000000"/>
              </a:solidFill>
              <a:effectLst/>
              <a:uFillTx/>
              <a:latin typeface="Arial"/>
            </a:endParaRPr>
          </a:p>
        </p:txBody>
      </p:sp>
      <p:sp>
        <p:nvSpPr>
          <p:cNvPr id="118" name=""/>
          <p:cNvSpPr txBox="1"/>
          <p:nvPr/>
        </p:nvSpPr>
        <p:spPr>
          <a:xfrm>
            <a:off x="548640" y="658440"/>
            <a:ext cx="10789920" cy="97740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How the Model Learns What 'Likely to Resolve' Means</a:t>
            </a:r>
            <a:endParaRPr lang="en-US" sz="3000" b="0" u="none" strike="noStrike">
              <a:solidFill>
                <a:srgbClr val="000000"/>
              </a:solidFill>
              <a:effectLst/>
              <a:uFillTx/>
              <a:latin typeface="Arial"/>
            </a:endParaRPr>
          </a:p>
        </p:txBody>
      </p:sp>
      <p:sp>
        <p:nvSpPr>
          <p:cNvPr id="119" name=""/>
          <p:cNvSpPr txBox="1"/>
          <p:nvPr/>
        </p:nvSpPr>
        <p:spPr>
          <a:xfrm>
            <a:off x="548640" y="1417320"/>
            <a:ext cx="10789920" cy="548640"/>
          </a:xfrm>
          <a:prstGeom prst="rect">
            <a:avLst/>
          </a:prstGeom>
          <a:noFill/>
          <a:ln w="0">
            <a:noFill/>
          </a:ln>
        </p:spPr>
        <p:txBody>
          <a:bodyPr lIns="90000" tIns="45000" rIns="90000" bIns="45000" anchor="t">
            <a:spAutoFit/>
          </a:bodyPr>
          <a:p>
            <a:pPr>
              <a:lnSpc>
                <a:spcPct val="125000"/>
              </a:lnSpc>
            </a:pPr>
            <a:r>
              <a:rPr lang="en-US" sz="1300" b="0" u="none" strike="noStrike">
                <a:solidFill>
                  <a:srgbClr val="475265"/>
                </a:solidFill>
                <a:effectLst/>
                <a:uFillTx/>
                <a:latin typeface="Calibri"/>
                <a:ea typeface="Calibri"/>
              </a:rPr>
              <a:t>Ground truth comes from comparing two ClinVar snapshots: everything that was a VUS in 2019, checked against what it became by 2026</a:t>
            </a:r>
            <a:r>
              <a:rPr lang="en-US" sz="1300" b="0" u="none" strike="noStrike">
                <a:solidFill>
                  <a:srgbClr val="475265"/>
                </a:solidFill>
                <a:effectLst/>
                <a:uFillTx/>
                <a:latin typeface="Calibri"/>
                <a:ea typeface="Calibri"/>
              </a:rPr>
              <a:t>:</a:t>
            </a:r>
            <a:endParaRPr lang="en-US" sz="1300" b="0" u="none" strike="noStrike">
              <a:solidFill>
                <a:srgbClr val="000000"/>
              </a:solidFill>
              <a:effectLst/>
              <a:uFillTx/>
              <a:latin typeface="Arial"/>
            </a:endParaRPr>
          </a:p>
        </p:txBody>
      </p:sp>
      <p:sp>
        <p:nvSpPr>
          <p:cNvPr id="120" name=""/>
          <p:cNvSpPr/>
          <p:nvPr/>
        </p:nvSpPr>
        <p:spPr>
          <a:xfrm>
            <a:off x="548640" y="2286000"/>
            <a:ext cx="3456720" cy="1371960"/>
          </a:xfrm>
          <a:custGeom>
            <a:avLst/>
            <a:gdLst/>
            <a:ahLst/>
            <a:rect l="0" t="0" r="r" b="b"/>
            <a:pathLst>
              <a:path w="9602" h="3811">
                <a:moveTo>
                  <a:pt x="9373" y="0"/>
                </a:moveTo>
                <a:cubicBezTo>
                  <a:pt x="9526" y="0"/>
                  <a:pt x="9602" y="76"/>
                  <a:pt x="9602" y="228"/>
                </a:cubicBezTo>
                <a:lnTo>
                  <a:pt x="9602" y="3582"/>
                </a:lnTo>
                <a:cubicBezTo>
                  <a:pt x="9602" y="3735"/>
                  <a:pt x="9526" y="3811"/>
                  <a:pt x="9373" y="3811"/>
                </a:cubicBezTo>
                <a:lnTo>
                  <a:pt x="228" y="3811"/>
                </a:lnTo>
                <a:cubicBezTo>
                  <a:pt x="76" y="3811"/>
                  <a:pt x="0" y="3735"/>
                  <a:pt x="0" y="3582"/>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21" name=""/>
          <p:cNvSpPr txBox="1"/>
          <p:nvPr/>
        </p:nvSpPr>
        <p:spPr>
          <a:xfrm>
            <a:off x="658440" y="2395800"/>
            <a:ext cx="3237120" cy="7545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212,782</a:t>
            </a:r>
            <a:endParaRPr lang="en-US" sz="3000" b="0" u="none" strike="noStrike">
              <a:solidFill>
                <a:srgbClr val="000000"/>
              </a:solidFill>
              <a:effectLst/>
              <a:uFillTx/>
              <a:latin typeface="Arial"/>
            </a:endParaRPr>
          </a:p>
        </p:txBody>
      </p:sp>
      <p:sp>
        <p:nvSpPr>
          <p:cNvPr id="122" name=""/>
          <p:cNvSpPr txBox="1"/>
          <p:nvPr/>
        </p:nvSpPr>
        <p:spPr>
          <a:xfrm>
            <a:off x="658440" y="3108960"/>
            <a:ext cx="3237120" cy="52128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VUS tracked across both snapshots</a:t>
            </a:r>
            <a:endParaRPr lang="en-US" sz="1100" b="0" u="none" strike="noStrike">
              <a:solidFill>
                <a:srgbClr val="000000"/>
              </a:solidFill>
              <a:effectLst/>
              <a:uFillTx/>
              <a:latin typeface="Arial"/>
            </a:endParaRPr>
          </a:p>
        </p:txBody>
      </p:sp>
      <p:sp>
        <p:nvSpPr>
          <p:cNvPr id="123" name=""/>
          <p:cNvSpPr/>
          <p:nvPr/>
        </p:nvSpPr>
        <p:spPr>
          <a:xfrm>
            <a:off x="4187880" y="2286000"/>
            <a:ext cx="3456720" cy="1371960"/>
          </a:xfrm>
          <a:custGeom>
            <a:avLst/>
            <a:gdLst/>
            <a:ahLst/>
            <a:rect l="0" t="0" r="r" b="b"/>
            <a:pathLst>
              <a:path w="9602" h="3811">
                <a:moveTo>
                  <a:pt x="9373" y="0"/>
                </a:moveTo>
                <a:cubicBezTo>
                  <a:pt x="9526" y="0"/>
                  <a:pt x="9602" y="76"/>
                  <a:pt x="9602" y="228"/>
                </a:cubicBezTo>
                <a:lnTo>
                  <a:pt x="9602" y="3582"/>
                </a:lnTo>
                <a:cubicBezTo>
                  <a:pt x="9602" y="3735"/>
                  <a:pt x="9526" y="3811"/>
                  <a:pt x="9373" y="3811"/>
                </a:cubicBezTo>
                <a:lnTo>
                  <a:pt x="228" y="3811"/>
                </a:lnTo>
                <a:cubicBezTo>
                  <a:pt x="76" y="3811"/>
                  <a:pt x="0" y="3735"/>
                  <a:pt x="0" y="3582"/>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24" name=""/>
          <p:cNvSpPr txBox="1"/>
          <p:nvPr/>
        </p:nvSpPr>
        <p:spPr>
          <a:xfrm>
            <a:off x="4297680" y="2395800"/>
            <a:ext cx="3237120" cy="7545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7.02%</a:t>
            </a:r>
            <a:endParaRPr lang="en-US" sz="3000" b="0" u="none" strike="noStrike">
              <a:solidFill>
                <a:srgbClr val="000000"/>
              </a:solidFill>
              <a:effectLst/>
              <a:uFillTx/>
              <a:latin typeface="Arial"/>
            </a:endParaRPr>
          </a:p>
        </p:txBody>
      </p:sp>
      <p:sp>
        <p:nvSpPr>
          <p:cNvPr id="125" name=""/>
          <p:cNvSpPr txBox="1"/>
          <p:nvPr/>
        </p:nvSpPr>
        <p:spPr>
          <a:xfrm>
            <a:off x="4297680" y="3108960"/>
            <a:ext cx="3237120" cy="52128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were reclassified within that window</a:t>
            </a:r>
            <a:endParaRPr lang="en-US" sz="1100" b="0" u="none" strike="noStrike">
              <a:solidFill>
                <a:srgbClr val="000000"/>
              </a:solidFill>
              <a:effectLst/>
              <a:uFillTx/>
              <a:latin typeface="Arial"/>
            </a:endParaRPr>
          </a:p>
        </p:txBody>
      </p:sp>
      <p:sp>
        <p:nvSpPr>
          <p:cNvPr id="126" name=""/>
          <p:cNvSpPr/>
          <p:nvPr/>
        </p:nvSpPr>
        <p:spPr>
          <a:xfrm>
            <a:off x="7827120" y="2286000"/>
            <a:ext cx="3456720" cy="1371960"/>
          </a:xfrm>
          <a:custGeom>
            <a:avLst/>
            <a:gdLst/>
            <a:ahLst/>
            <a:rect l="0" t="0" r="r" b="b"/>
            <a:pathLst>
              <a:path w="9602" h="3811">
                <a:moveTo>
                  <a:pt x="9373" y="0"/>
                </a:moveTo>
                <a:cubicBezTo>
                  <a:pt x="9526" y="0"/>
                  <a:pt x="9602" y="76"/>
                  <a:pt x="9602" y="228"/>
                </a:cubicBezTo>
                <a:lnTo>
                  <a:pt x="9602" y="3582"/>
                </a:lnTo>
                <a:cubicBezTo>
                  <a:pt x="9602" y="3735"/>
                  <a:pt x="9526" y="3811"/>
                  <a:pt x="9373" y="3811"/>
                </a:cubicBezTo>
                <a:lnTo>
                  <a:pt x="228" y="3811"/>
                </a:lnTo>
                <a:cubicBezTo>
                  <a:pt x="76" y="3811"/>
                  <a:pt x="0" y="3735"/>
                  <a:pt x="0" y="3582"/>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27" name=""/>
          <p:cNvSpPr txBox="1"/>
          <p:nvPr/>
        </p:nvSpPr>
        <p:spPr>
          <a:xfrm>
            <a:off x="7936920" y="2395800"/>
            <a:ext cx="3237120" cy="7545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195,127</a:t>
            </a:r>
            <a:endParaRPr lang="en-US" sz="3000" b="0" u="none" strike="noStrike">
              <a:solidFill>
                <a:srgbClr val="000000"/>
              </a:solidFill>
              <a:effectLst/>
              <a:uFillTx/>
              <a:latin typeface="Arial"/>
            </a:endParaRPr>
          </a:p>
        </p:txBody>
      </p:sp>
      <p:sp>
        <p:nvSpPr>
          <p:cNvPr id="128" name=""/>
          <p:cNvSpPr txBox="1"/>
          <p:nvPr/>
        </p:nvSpPr>
        <p:spPr>
          <a:xfrm>
            <a:off x="7936920" y="3108960"/>
            <a:ext cx="3237120" cy="52128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kept usable GRCh38 coordinates for training</a:t>
            </a:r>
            <a:endParaRPr lang="en-US" sz="1100" b="0" u="none" strike="noStrike">
              <a:solidFill>
                <a:srgbClr val="000000"/>
              </a:solidFill>
              <a:effectLst/>
              <a:uFillTx/>
              <a:latin typeface="Arial"/>
            </a:endParaRPr>
          </a:p>
        </p:txBody>
      </p:sp>
      <p:sp>
        <p:nvSpPr>
          <p:cNvPr id="129" name=""/>
          <p:cNvSpPr txBox="1"/>
          <p:nvPr/>
        </p:nvSpPr>
        <p:spPr>
          <a:xfrm>
            <a:off x="548640" y="4114800"/>
            <a:ext cx="10789920" cy="822960"/>
          </a:xfrm>
          <a:prstGeom prst="rect">
            <a:avLst/>
          </a:prstGeom>
          <a:noFill/>
          <a:ln w="0">
            <a:noFill/>
          </a:ln>
        </p:spPr>
        <p:txBody>
          <a:bodyPr lIns="90000" tIns="45000" rIns="90000" bIns="45000" anchor="t">
            <a:spAutoFit/>
          </a:bodyPr>
          <a:p>
            <a:pPr>
              <a:lnSpc>
                <a:spcPct val="125000"/>
              </a:lnSpc>
            </a:pPr>
            <a:r>
              <a:rPr lang="en-US" sz="1300" b="0" u="none" strike="noStrike">
                <a:solidFill>
                  <a:srgbClr val="475265"/>
                </a:solidFill>
                <a:effectLst/>
                <a:uFillTx/>
                <a:latin typeface="Calibri"/>
                <a:ea typeface="Calibri"/>
              </a:rPr>
              <a:t>This is a historical, population-wide comparison. It is not a simulation, and it is not tied to any single patient's variant list. The model is trained once, on this label set, and then applied to score any VUS in ClinVar</a:t>
            </a:r>
            <a:r>
              <a:rPr lang="en-US" sz="1300" b="0" u="none" strike="noStrike">
                <a:solidFill>
                  <a:srgbClr val="475265"/>
                </a:solidFill>
                <a:effectLst/>
                <a:uFillTx/>
                <a:latin typeface="Calibri"/>
                <a:ea typeface="Calibri"/>
              </a:rPr>
              <a:t>.</a:t>
            </a:r>
            <a:endParaRPr lang="en-US" sz="1300" b="0" u="none" strike="noStrike">
              <a:solidFill>
                <a:srgbClr val="000000"/>
              </a:solidFill>
              <a:effectLst/>
              <a:uFillTx/>
              <a:latin typeface="Arial"/>
            </a:endParaRPr>
          </a:p>
        </p:txBody>
      </p:sp>
      <p:sp>
        <p:nvSpPr>
          <p:cNvPr id="130"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r>
              <a:rPr lang="en-US" sz="1000" b="0" u="none" strike="noStrike">
                <a:solidFill>
                  <a:srgbClr val="8D99AE"/>
                </a:solidFill>
                <a:effectLst/>
                <a:uFillTx/>
                <a:latin typeface="Calibri"/>
                <a:ea typeface="Calibri"/>
              </a:rPr>
              <a:t>1</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1"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RECLASSIFICATION MODEL</a:t>
            </a:r>
            <a:endParaRPr lang="en-US" sz="1200" b="0" u="none" strike="noStrike">
              <a:solidFill>
                <a:srgbClr val="000000"/>
              </a:solidFill>
              <a:effectLst/>
              <a:uFillTx/>
              <a:latin typeface="Arial"/>
            </a:endParaRPr>
          </a:p>
        </p:txBody>
      </p:sp>
      <p:sp>
        <p:nvSpPr>
          <p:cNvPr id="132"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What Actually Moved the Model, Step By Step</a:t>
            </a:r>
            <a:endParaRPr lang="en-US" sz="3000" b="0" u="none" strike="noStrike">
              <a:solidFill>
                <a:srgbClr val="000000"/>
              </a:solidFill>
              <a:effectLst/>
              <a:uFillTx/>
              <a:latin typeface="Arial"/>
            </a:endParaRPr>
          </a:p>
        </p:txBody>
      </p:sp>
      <p:pic>
        <p:nvPicPr>
          <p:cNvPr id="133" name=""/>
          <p:cNvPicPr/>
          <p:nvPr/>
        </p:nvPicPr>
        <p:blipFill>
          <a:blip r:embed="rId1"/>
          <a:stretch/>
        </p:blipFill>
        <p:spPr>
          <a:xfrm>
            <a:off x="914400" y="1417320"/>
            <a:ext cx="10332720" cy="4572000"/>
          </a:xfrm>
          <a:prstGeom prst="rect">
            <a:avLst/>
          </a:prstGeom>
          <a:noFill/>
          <a:ln w="0">
            <a:noFill/>
          </a:ln>
        </p:spPr>
      </p:pic>
      <p:sp>
        <p:nvSpPr>
          <p:cNvPr id="134" name=""/>
          <p:cNvSpPr txBox="1"/>
          <p:nvPr/>
        </p:nvSpPr>
        <p:spPr>
          <a:xfrm>
            <a:off x="548640" y="6080760"/>
            <a:ext cx="10972800" cy="457200"/>
          </a:xfrm>
          <a:prstGeom prst="rect">
            <a:avLst/>
          </a:prstGeom>
          <a:noFill/>
          <a:ln w="0">
            <a:noFill/>
          </a:ln>
        </p:spPr>
        <p:txBody>
          <a:bodyPr lIns="90000" tIns="45000" rIns="90000" bIns="45000" anchor="t">
            <a:spAutoFit/>
          </a:bodyPr>
          <a:p>
            <a:pPr>
              <a:lnSpc>
                <a:spcPct val="125000"/>
              </a:lnSpc>
            </a:pPr>
            <a:r>
              <a:rPr lang="en-US" sz="1100" b="0" u="none" strike="noStrike">
                <a:solidFill>
                  <a:srgbClr val="475265"/>
                </a:solidFill>
                <a:effectLst/>
                <a:uFillTx/>
                <a:latin typeface="Calibri"/>
                <a:ea typeface="Calibri"/>
              </a:rPr>
              <a:t>The last jump came from switching to a model that handles gene identity natively instead of hand-encoding it. That recovered signal the earlier approach was leaving on the table; it wasn't a bigger dataset</a:t>
            </a:r>
            <a:r>
              <a:rPr lang="en-US" sz="1100" b="0" u="none" strike="noStrike">
                <a:solidFill>
                  <a:srgbClr val="475265"/>
                </a:solidFill>
                <a:effectLst/>
                <a:uFillTx/>
                <a:latin typeface="Calibri"/>
                <a:ea typeface="Calibri"/>
              </a:rPr>
              <a:t>.</a:t>
            </a:r>
            <a:endParaRPr lang="en-US" sz="1100" b="0" u="none" strike="noStrike">
              <a:solidFill>
                <a:srgbClr val="000000"/>
              </a:solidFill>
              <a:effectLst/>
              <a:uFillTx/>
              <a:latin typeface="Arial"/>
            </a:endParaRPr>
          </a:p>
        </p:txBody>
      </p:sp>
      <p:sp>
        <p:nvSpPr>
          <p:cNvPr id="135"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r>
              <a:rPr lang="en-US" sz="1000" b="0" u="none" strike="noStrike">
                <a:solidFill>
                  <a:srgbClr val="8D99AE"/>
                </a:solidFill>
                <a:effectLst/>
                <a:uFillTx/>
                <a:latin typeface="Calibri"/>
                <a:ea typeface="Calibri"/>
              </a:rPr>
              <a:t>2</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6"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RECLASSIFICATION MODEL</a:t>
            </a:r>
            <a:endParaRPr lang="en-US" sz="1200" b="0" u="none" strike="noStrike">
              <a:solidFill>
                <a:srgbClr val="000000"/>
              </a:solidFill>
              <a:effectLst/>
              <a:uFillTx/>
              <a:latin typeface="Arial"/>
            </a:endParaRPr>
          </a:p>
        </p:txBody>
      </p:sp>
      <p:sp>
        <p:nvSpPr>
          <p:cNvPr id="137" name=""/>
          <p:cNvSpPr txBox="1"/>
          <p:nvPr/>
        </p:nvSpPr>
        <p:spPr>
          <a:xfrm>
            <a:off x="548640" y="658440"/>
            <a:ext cx="10789920" cy="97740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How Scores Are Actually Distributed Across ClinVar</a:t>
            </a:r>
            <a:endParaRPr lang="en-US" sz="3000" b="0" u="none" strike="noStrike">
              <a:solidFill>
                <a:srgbClr val="000000"/>
              </a:solidFill>
              <a:effectLst/>
              <a:uFillTx/>
              <a:latin typeface="Arial"/>
            </a:endParaRPr>
          </a:p>
        </p:txBody>
      </p:sp>
      <p:sp>
        <p:nvSpPr>
          <p:cNvPr id="139" name=""/>
          <p:cNvSpPr txBox="1"/>
          <p:nvPr/>
        </p:nvSpPr>
        <p:spPr>
          <a:xfrm>
            <a:off x="548640" y="6080760"/>
            <a:ext cx="10972800" cy="457200"/>
          </a:xfrm>
          <a:prstGeom prst="rect">
            <a:avLst/>
          </a:prstGeom>
          <a:noFill/>
          <a:ln w="0">
            <a:noFill/>
          </a:ln>
        </p:spPr>
        <p:txBody>
          <a:bodyPr lIns="90000" tIns="45000" rIns="90000" bIns="45000" anchor="t">
            <a:spAutoFit/>
          </a:bodyPr>
          <a:p>
            <a:pPr>
              <a:lnSpc>
                <a:spcPct val="125000"/>
              </a:lnSpc>
            </a:pPr>
            <a:r>
              <a:rPr lang="en-US" sz="1100" b="0" u="none" strike="noStrike">
                <a:solidFill>
                  <a:srgbClr val="475265"/>
                </a:solidFill>
                <a:effectLst/>
                <a:uFillTx/>
                <a:latin typeface="Calibri"/>
                <a:ea typeface="Calibri"/>
              </a:rPr>
              <a:t>Most VUS cluster near the model's low-evidence baseline, now measured across the full 2,330,308-variant current ClinVar pool. The right-hand tail past 0.70 is the 1.6% high-priority pool covered later in this deck.</a:t>
            </a:r>
            <a:endParaRPr lang="en-US" sz="1100" b="0" u="none" strike="noStrike">
              <a:solidFill>
                <a:srgbClr val="000000"/>
              </a:solidFill>
              <a:effectLst/>
              <a:uFillTx/>
              <a:latin typeface="Arial"/>
            </a:endParaRPr>
          </a:p>
        </p:txBody>
      </p:sp>
      <p:sp>
        <p:nvSpPr>
          <p:cNvPr id="140"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r>
              <a:rPr lang="en-US" sz="1000" b="0" u="none" strike="noStrike">
                <a:solidFill>
                  <a:srgbClr val="8D99AE"/>
                </a:solidFill>
                <a:effectLst/>
                <a:uFillTx/>
                <a:latin typeface="Calibri"/>
                <a:ea typeface="Calibri"/>
              </a:rPr>
              <a:t>3</a:t>
            </a:r>
            <a:endParaRPr lang="en-US" sz="1000" b="0" u="none" strike="noStrike">
              <a:solidFill>
                <a:srgbClr val="000000"/>
              </a:solidFill>
              <a:effectLst/>
              <a:uFillTx/>
              <a:latin typeface="Arial"/>
            </a:endParaRPr>
          </a:p>
        </p:txBody>
      </p:sp>
      <p:pic>
        <p:nvPicPr>
          <p:cNvPr id="141" name="Picture 140" descr="score_distribution_full.png"/>
          <p:cNvPicPr>
            <a:picLocks noChangeAspect="1"/>
          </p:cNvPicPr>
          <p:nvPr/>
        </p:nvPicPr>
        <p:blipFill>
          <a:blip r:embed="rId3"/>
          <a:stretch>
            <a:fillRect/>
          </a:stretch>
        </p:blipFill>
        <p:spPr>
          <a:xfrm>
            <a:off x="1171636" y="1750000"/>
            <a:ext cx="9818248" cy="4239320"/>
          </a:xfrm>
          <a:prstGeom prst="rect">
            <a:avLst/>
          </a:prstGeom>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1"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RECLASSIFICATION MODEL</a:t>
            </a:r>
            <a:endParaRPr lang="en-US" sz="1200" b="0" u="none" strike="noStrike">
              <a:solidFill>
                <a:srgbClr val="000000"/>
              </a:solidFill>
              <a:effectLst/>
              <a:uFillTx/>
              <a:latin typeface="Arial"/>
            </a:endParaRPr>
          </a:p>
        </p:txBody>
      </p:sp>
      <p:sp>
        <p:nvSpPr>
          <p:cNvPr id="142"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The Evidence Landscape Behind Every VUS</a:t>
            </a:r>
            <a:endParaRPr lang="en-US" sz="3000" b="0" u="none" strike="noStrike">
              <a:solidFill>
                <a:srgbClr val="000000"/>
              </a:solidFill>
              <a:effectLst/>
              <a:uFillTx/>
              <a:latin typeface="Arial"/>
            </a:endParaRPr>
          </a:p>
        </p:txBody>
      </p:sp>
      <p:sp>
        <p:nvSpPr>
          <p:cNvPr id="144" name=""/>
          <p:cNvSpPr txBox="1"/>
          <p:nvPr/>
        </p:nvSpPr>
        <p:spPr>
          <a:xfrm>
            <a:off x="548640" y="4577320"/>
            <a:ext cx="10972800" cy="320000"/>
          </a:xfrm>
          <a:prstGeom prst="rect">
            <a:avLst/>
          </a:prstGeom>
          <a:noFill/>
          <a:ln w="0">
            <a:noFill/>
          </a:ln>
        </p:spPr>
        <p:txBody>
          <a:bodyPr lIns="90000" tIns="45000" rIns="90000" bIns="45000" anchor="t">
            <a:spAutoFit/>
          </a:bodyPr>
          <a:p>
            <a:pPr algn="ctr">
              <a:lnSpc>
                <a:spcPct val="125000"/>
              </a:lnSpc>
            </a:pPr>
            <a:r>
              <a:rPr lang="en-US" sz="1100" b="0" u="none" strike="noStrike">
                <a:solidFill>
                  <a:srgbClr val="475265"/>
                </a:solidFill>
                <a:effectLst/>
                <a:uFillTx/>
                <a:latin typeface="Calibri"/>
                <a:ea typeface="Calibri"/>
              </a:rPr>
              <a:t>87% of the watchlist sits at a single ClinVar star (one submitter, no conflicts).</a:t>
            </a:r>
            <a:endParaRPr lang="en-US" sz="1100" b="0" u="none" strike="noStrike">
              <a:solidFill>
                <a:srgbClr val="000000"/>
              </a:solidFill>
              <a:effectLst/>
              <a:uFillTx/>
              <a:latin typeface="Arial"/>
            </a:endParaRPr>
          </a:p>
        </p:txBody>
      </p:sp>
      <p:sp>
        <p:nvSpPr>
          <p:cNvPr id="145"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r>
              <a:rPr lang="en-US" sz="1000" b="0" u="none" strike="noStrike">
                <a:solidFill>
                  <a:srgbClr val="8D99AE"/>
                </a:solidFill>
                <a:effectLst/>
                <a:uFillTx/>
                <a:latin typeface="Calibri"/>
                <a:ea typeface="Calibri"/>
              </a:rPr>
              <a:t>4</a:t>
            </a:r>
            <a:endParaRPr lang="en-US" sz="1000" b="0" u="none" strike="noStrike">
              <a:solidFill>
                <a:srgbClr val="000000"/>
              </a:solidFill>
              <a:effectLst/>
              <a:uFillTx/>
              <a:latin typeface="Arial"/>
            </a:endParaRPr>
          </a:p>
        </p:txBody>
      </p:sp>
      <p:sp>
        <p:nvSpPr>
          <p:cNvPr id="146" name="TextBox 145"/>
          <p:cNvSpPr txBox="1"/>
          <p:nvPr/>
        </p:nvSpPr>
        <p:spPr>
          <a:xfrm>
            <a:off x="548640" y="4977320"/>
            <a:ext cx="10972800" cy="950000"/>
          </a:xfrm>
          <a:prstGeom prst="rect">
            <a:avLst/>
          </a:prstGeom>
          <a:noFill/>
        </p:spPr>
        <p:txBody>
          <a:bodyPr wrap="square">
            <a:spAutoFit/>
          </a:bodyPr>
          <a:lstStyle/>
          <a:p>
            <a:r>
              <a:rPr sz="1000" b="0">
                <a:solidFill>
                  <a:srgbClr val="485366"/>
                </a:solidFill>
                <a:latin typeface="Calibri"/>
              </a:rPr>
              <a:t>ClinVar star ratings, plain terms: 0 stars means no assertion criteria provided or submitters actively conflict. 1 star means a single submitter with a clear interpretation and no conflicts, which is where most VUS sit. 2 stars means multiple submitters agree. 3 stars means an expert review panel signed off. More stars means more independently corroborated evidence behind the current call.</a:t>
            </a:r>
          </a:p>
        </p:txBody>
      </p:sp>
      <p:sp>
        <p:nvSpPr>
          <p:cNvPr id="147" name="TextBox 146"/>
          <p:cNvSpPr txBox="1"/>
          <p:nvPr/>
        </p:nvSpPr>
        <p:spPr>
          <a:xfrm>
            <a:off x="548640" y="5957320"/>
            <a:ext cx="10972800" cy="750000"/>
          </a:xfrm>
          <a:prstGeom prst="rect">
            <a:avLst/>
          </a:prstGeom>
          <a:noFill/>
        </p:spPr>
        <p:txBody>
          <a:bodyPr wrap="square">
            <a:spAutoFit/>
          </a:bodyPr>
          <a:lstStyle/>
          <a:p>
            <a:r>
              <a:rPr sz="1000" b="0">
                <a:solidFill>
                  <a:srgbClr val="485366"/>
                </a:solidFill>
                <a:latin typeface="Calibri"/>
              </a:rPr>
              <a:t>The distribution itself is the finding: 2,036,403 of 2,330,308 VUS (87.4%) rest on a single submitter, another 249,981 (10.7%) have just one independent second opinion, and only 3,313 (0.1%) carry full three-star expert-panel review. Almost none of this population has ever been independently cross-checked, which is exactly the evidence gap a probabilistic reclassification model is meant to help prioritize, not replace.</a:t>
            </a:r>
          </a:p>
        </p:txBody>
      </p:sp>
      <p:pic>
        <p:nvPicPr>
          <p:cNvPr id="148" name="Picture 147" descr="review_stars_full.png"/>
          <p:cNvPicPr>
            <a:picLocks noChangeAspect="1"/>
          </p:cNvPicPr>
          <p:nvPr/>
        </p:nvPicPr>
        <p:blipFill>
          <a:blip r:embed="rId3"/>
          <a:stretch>
            <a:fillRect/>
          </a:stretch>
        </p:blipFill>
        <p:spPr>
          <a:xfrm>
            <a:off x="2912964" y="1417320"/>
            <a:ext cx="6366071" cy="3100000"/>
          </a:xfrm>
          <a:prstGeom prst="rect">
            <a:avLst/>
          </a:prstGeom>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6"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RECLASSIFICATION MODEL</a:t>
            </a:r>
            <a:endParaRPr lang="en-US" sz="1200" b="0" u="none" strike="noStrike">
              <a:solidFill>
                <a:srgbClr val="000000"/>
              </a:solidFill>
              <a:effectLst/>
              <a:uFillTx/>
              <a:latin typeface="Arial"/>
            </a:endParaRPr>
          </a:p>
        </p:txBody>
      </p:sp>
      <p:sp>
        <p:nvSpPr>
          <p:cNvPr id="147"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What Evidence Is Actually Available, At Scale</a:t>
            </a:r>
            <a:endParaRPr lang="en-US" sz="3000" b="0" u="none" strike="noStrike">
              <a:solidFill>
                <a:srgbClr val="000000"/>
              </a:solidFill>
              <a:effectLst/>
              <a:uFillTx/>
              <a:latin typeface="Arial"/>
            </a:endParaRPr>
          </a:p>
        </p:txBody>
      </p:sp>
      <p:sp>
        <p:nvSpPr>
          <p:cNvPr id="148" name=""/>
          <p:cNvSpPr/>
          <p:nvPr/>
        </p:nvSpPr>
        <p:spPr>
          <a:xfrm>
            <a:off x="548640" y="2194560"/>
            <a:ext cx="5258160" cy="1463400"/>
          </a:xfrm>
          <a:custGeom>
            <a:avLst/>
            <a:gdLst/>
            <a:ahLst/>
            <a:rect l="0" t="0" r="r" b="b"/>
            <a:pathLst>
              <a:path w="14606" h="4065">
                <a:moveTo>
                  <a:pt x="14377" y="0"/>
                </a:moveTo>
                <a:cubicBezTo>
                  <a:pt x="14530" y="0"/>
                  <a:pt x="14606" y="76"/>
                  <a:pt x="14606" y="228"/>
                </a:cubicBezTo>
                <a:lnTo>
                  <a:pt x="14606" y="3837"/>
                </a:lnTo>
                <a:cubicBezTo>
                  <a:pt x="14606" y="3989"/>
                  <a:pt x="14530" y="4065"/>
                  <a:pt x="14377" y="4065"/>
                </a:cubicBezTo>
                <a:lnTo>
                  <a:pt x="228" y="4065"/>
                </a:lnTo>
                <a:cubicBezTo>
                  <a:pt x="76" y="4065"/>
                  <a:pt x="0" y="3989"/>
                  <a:pt x="0" y="3837"/>
                </a:cubicBezTo>
                <a:lnTo>
                  <a:pt x="0" y="228"/>
                </a:lnTo>
                <a:cubicBezTo>
                  <a:pt x="0" y="76"/>
                  <a:pt x="76" y="0"/>
                  <a:pt x="228" y="0"/>
                </a:cubicBezTo>
                <a:lnTo>
                  <a:pt x="14377"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49" name=""/>
          <p:cNvSpPr txBox="1"/>
          <p:nvPr/>
        </p:nvSpPr>
        <p:spPr>
          <a:xfrm>
            <a:off x="658440" y="2304360"/>
            <a:ext cx="5038200" cy="804600"/>
          </a:xfrm>
          <a:prstGeom prst="rect">
            <a:avLst/>
          </a:prstGeom>
          <a:noFill/>
          <a:ln w="0">
            <a:noFill/>
          </a:ln>
        </p:spPr>
        <p:txBody>
          <a:bodyPr lIns="90000" tIns="45000" rIns="90000" bIns="45000" anchor="t">
            <a:spAutoFit/>
          </a:bodyPr>
          <a:p>
            <a:r>
              <a:rPr lang="en-US" sz="3200" b="1" u="none" strike="noStrike">
                <a:solidFill>
                  <a:srgbClr val="1C375C"/>
                </a:solidFill>
                <a:effectLst/>
                <a:uFillTx/>
                <a:latin typeface="Cambria-Bold"/>
                <a:ea typeface="Cambria-Bold"/>
              </a:rPr>
              <a:t>1,740</a:t>
            </a:r>
            <a:endParaRPr lang="en-US" sz="3200" b="0" u="none" strike="noStrike">
              <a:solidFill>
                <a:srgbClr val="000000"/>
              </a:solidFill>
              <a:effectLst/>
              <a:uFillTx/>
              <a:latin typeface="Arial"/>
            </a:endParaRPr>
          </a:p>
        </p:txBody>
      </p:sp>
      <p:sp>
        <p:nvSpPr>
          <p:cNvPr id="150" name=""/>
          <p:cNvSpPr txBox="1"/>
          <p:nvPr/>
        </p:nvSpPr>
        <p:spPr>
          <a:xfrm>
            <a:off x="658440" y="3072240"/>
            <a:ext cx="5038200" cy="5558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of 2,330,308 VUS carry a real LitVar2 literature hit (0.07%)</a:t>
            </a:r>
            <a:endParaRPr lang="en-US" sz="1100" b="0" u="none" strike="noStrike">
              <a:solidFill>
                <a:srgbClr val="000000"/>
              </a:solidFill>
              <a:effectLst/>
              <a:uFillTx/>
              <a:latin typeface="Arial"/>
            </a:endParaRPr>
          </a:p>
        </p:txBody>
      </p:sp>
      <p:sp>
        <p:nvSpPr>
          <p:cNvPr id="151" name=""/>
          <p:cNvSpPr/>
          <p:nvPr/>
        </p:nvSpPr>
        <p:spPr>
          <a:xfrm>
            <a:off x="6080760" y="2194560"/>
            <a:ext cx="5258160" cy="1463400"/>
          </a:xfrm>
          <a:custGeom>
            <a:avLst/>
            <a:gdLst/>
            <a:ahLst/>
            <a:rect l="0" t="0" r="r" b="b"/>
            <a:pathLst>
              <a:path w="14606" h="4065">
                <a:moveTo>
                  <a:pt x="14377" y="0"/>
                </a:moveTo>
                <a:cubicBezTo>
                  <a:pt x="14530" y="0"/>
                  <a:pt x="14606" y="76"/>
                  <a:pt x="14606" y="228"/>
                </a:cubicBezTo>
                <a:lnTo>
                  <a:pt x="14606" y="3837"/>
                </a:lnTo>
                <a:cubicBezTo>
                  <a:pt x="14606" y="3989"/>
                  <a:pt x="14530" y="4065"/>
                  <a:pt x="14377" y="4065"/>
                </a:cubicBezTo>
                <a:lnTo>
                  <a:pt x="228" y="4065"/>
                </a:lnTo>
                <a:cubicBezTo>
                  <a:pt x="76" y="4065"/>
                  <a:pt x="0" y="3989"/>
                  <a:pt x="0" y="3837"/>
                </a:cubicBezTo>
                <a:lnTo>
                  <a:pt x="0" y="228"/>
                </a:lnTo>
                <a:cubicBezTo>
                  <a:pt x="0" y="76"/>
                  <a:pt x="76" y="0"/>
                  <a:pt x="228" y="0"/>
                </a:cubicBezTo>
                <a:lnTo>
                  <a:pt x="14377"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52" name=""/>
          <p:cNvSpPr txBox="1"/>
          <p:nvPr/>
        </p:nvSpPr>
        <p:spPr>
          <a:xfrm>
            <a:off x="6190560" y="2304360"/>
            <a:ext cx="5038200" cy="804600"/>
          </a:xfrm>
          <a:prstGeom prst="rect">
            <a:avLst/>
          </a:prstGeom>
          <a:noFill/>
          <a:ln w="0">
            <a:noFill/>
          </a:ln>
        </p:spPr>
        <p:txBody>
          <a:bodyPr lIns="90000" tIns="45000" rIns="90000" bIns="45000" anchor="t">
            <a:spAutoFit/>
          </a:bodyPr>
          <a:p>
            <a:r>
              <a:rPr lang="en-US" sz="3200" b="1" u="none" strike="noStrike">
                <a:solidFill>
                  <a:srgbClr val="1C375C"/>
                </a:solidFill>
                <a:effectLst/>
                <a:uFillTx/>
                <a:latin typeface="Cambria-Bold"/>
                <a:ea typeface="Cambria-Bold"/>
              </a:rPr>
              <a:t>44,022</a:t>
            </a:r>
            <a:endParaRPr lang="en-US" sz="3200" b="0" u="none" strike="noStrike">
              <a:solidFill>
                <a:srgbClr val="000000"/>
              </a:solidFill>
              <a:effectLst/>
              <a:uFillTx/>
              <a:latin typeface="Arial"/>
            </a:endParaRPr>
          </a:p>
        </p:txBody>
      </p:sp>
      <p:sp>
        <p:nvSpPr>
          <p:cNvPr id="153" name=""/>
          <p:cNvSpPr txBox="1"/>
          <p:nvPr/>
        </p:nvSpPr>
        <p:spPr>
          <a:xfrm>
            <a:off x="6190560" y="3072240"/>
            <a:ext cx="5038200" cy="5558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of 2,330,308 VUS have real MaveDB functional-assay coverage (1.89%)</a:t>
            </a:r>
            <a:endParaRPr lang="en-US" sz="1100" b="0" u="none" strike="noStrike">
              <a:solidFill>
                <a:srgbClr val="000000"/>
              </a:solidFill>
              <a:effectLst/>
              <a:uFillTx/>
              <a:latin typeface="Arial"/>
            </a:endParaRPr>
          </a:p>
        </p:txBody>
      </p:sp>
      <p:sp>
        <p:nvSpPr>
          <p:cNvPr id="154" name=""/>
          <p:cNvSpPr txBox="1"/>
          <p:nvPr/>
        </p:nvSpPr>
        <p:spPr>
          <a:xfrm>
            <a:off x="548640" y="4114800"/>
            <a:ext cx="10789920" cy="1097280"/>
          </a:xfrm>
          <a:prstGeom prst="rect">
            <a:avLst/>
          </a:prstGeom>
          <a:noFill/>
          <a:ln w="0">
            <a:noFill/>
          </a:ln>
        </p:spPr>
        <p:txBody>
          <a:bodyPr lIns="90000" tIns="45000" rIns="90000" bIns="45000" anchor="t">
            <a:spAutoFit/>
          </a:bodyPr>
          <a:p>
            <a:pPr>
              <a:lnSpc>
                <a:spcPct val="125000"/>
              </a:lnSpc>
            </a:pPr>
            <a:r>
              <a:rPr lang="en-US" sz="1300" b="0" u="none" strike="noStrike">
                <a:solidFill>
                  <a:srgbClr val="2A3547"/>
                </a:solidFill>
                <a:effectLst/>
                <a:uFillTx/>
                <a:latin typeface="Calibri"/>
                <a:ea typeface="Calibri"/>
              </a:rPr>
              <a:t>When either signal is present, it's unusually informative: TP53's functional-assay and literature coverage is why it shows up repeatedly as a strong example. Coverage looks thinner in percentage terms than it did on the smaller 2019-tracked cohort, because most of the pool now consists of newer ClinVar entries that simply haven't had time to accumulate citations or assay results yet. For the overwhelming majority of VUS, the model still has to work from weaker signals: gnomAD frequency, submission counts, and gene-level history.</a:t>
            </a:r>
            <a:endParaRPr lang="en-US" sz="1300" b="0" u="none" strike="noStrike">
              <a:solidFill>
                <a:srgbClr val="000000"/>
              </a:solidFill>
              <a:effectLst/>
              <a:uFillTx/>
              <a:latin typeface="Arial"/>
            </a:endParaRPr>
          </a:p>
        </p:txBody>
      </p:sp>
      <p:sp>
        <p:nvSpPr>
          <p:cNvPr id="155"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15</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6"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RECLASSIFICATION MODEL</a:t>
            </a:r>
            <a:endParaRPr lang="en-US" sz="1200" b="0" u="none" strike="noStrike">
              <a:solidFill>
                <a:srgbClr val="000000"/>
              </a:solidFill>
              <a:effectLst/>
              <a:uFillTx/>
              <a:latin typeface="Arial"/>
            </a:endParaRPr>
          </a:p>
        </p:txBody>
      </p:sp>
      <p:sp>
        <p:nvSpPr>
          <p:cNvPr id="157"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Once It Resolves, Which Way Does It Go</a:t>
            </a:r>
            <a:r>
              <a:rPr lang="en-US" sz="3000" b="1" u="none" strike="noStrike">
                <a:solidFill>
                  <a:srgbClr val="1F242E"/>
                </a:solidFill>
                <a:effectLst/>
                <a:uFillTx/>
                <a:latin typeface="Cambria-Bold"/>
                <a:ea typeface="Cambria-Bold"/>
              </a:rPr>
              <a:t>?</a:t>
            </a:r>
            <a:endParaRPr lang="en-US" sz="3000" b="0" u="none" strike="noStrike">
              <a:solidFill>
                <a:srgbClr val="000000"/>
              </a:solidFill>
              <a:effectLst/>
              <a:uFillTx/>
              <a:latin typeface="Arial"/>
            </a:endParaRPr>
          </a:p>
        </p:txBody>
      </p:sp>
      <p:sp>
        <p:nvSpPr>
          <p:cNvPr id="158" name=""/>
          <p:cNvSpPr txBox="1"/>
          <p:nvPr/>
        </p:nvSpPr>
        <p:spPr>
          <a:xfrm>
            <a:off x="548640" y="1417320"/>
            <a:ext cx="10789920" cy="548640"/>
          </a:xfrm>
          <a:prstGeom prst="rect">
            <a:avLst/>
          </a:prstGeom>
          <a:noFill/>
          <a:ln w="0">
            <a:noFill/>
          </a:ln>
        </p:spPr>
        <p:txBody>
          <a:bodyPr lIns="90000" tIns="45000" rIns="90000" bIns="45000" anchor="t">
            <a:spAutoFit/>
          </a:bodyPr>
          <a:p>
            <a:pPr>
              <a:lnSpc>
                <a:spcPct val="125000"/>
              </a:lnSpc>
            </a:pPr>
            <a:r>
              <a:rPr lang="en-US" sz="1300" b="0" u="none" strike="noStrike">
                <a:solidFill>
                  <a:srgbClr val="475265"/>
                </a:solidFill>
                <a:effectLst/>
                <a:uFillTx/>
                <a:latin typeface="Calibri"/>
                <a:ea typeface="Calibri"/>
              </a:rPr>
              <a:t>A separate model, trained only on the 13,616 VUS that have already resolved (10,280 Benign, 3,336 Pathogenic), predicts the direction of resolution</a:t>
            </a:r>
            <a:r>
              <a:rPr lang="en-US" sz="1300" b="0" u="none" strike="noStrike">
                <a:solidFill>
                  <a:srgbClr val="475265"/>
                </a:solidFill>
                <a:effectLst/>
                <a:uFillTx/>
                <a:latin typeface="Calibri"/>
                <a:ea typeface="Calibri"/>
              </a:rPr>
              <a:t>:</a:t>
            </a:r>
            <a:endParaRPr lang="en-US" sz="1300" b="0" u="none" strike="noStrike">
              <a:solidFill>
                <a:srgbClr val="000000"/>
              </a:solidFill>
              <a:effectLst/>
              <a:uFillTx/>
              <a:latin typeface="Arial"/>
            </a:endParaRPr>
          </a:p>
        </p:txBody>
      </p:sp>
      <p:sp>
        <p:nvSpPr>
          <p:cNvPr id="159" name=""/>
          <p:cNvSpPr/>
          <p:nvPr/>
        </p:nvSpPr>
        <p:spPr>
          <a:xfrm>
            <a:off x="548640" y="2148840"/>
            <a:ext cx="3456720" cy="1280520"/>
          </a:xfrm>
          <a:custGeom>
            <a:avLst/>
            <a:gdLst/>
            <a:ahLst/>
            <a:rect l="0" t="0" r="r" b="b"/>
            <a:pathLst>
              <a:path w="9602" h="3557">
                <a:moveTo>
                  <a:pt x="9373" y="0"/>
                </a:moveTo>
                <a:cubicBezTo>
                  <a:pt x="9526" y="0"/>
                  <a:pt x="9602" y="76"/>
                  <a:pt x="9602" y="228"/>
                </a:cubicBezTo>
                <a:lnTo>
                  <a:pt x="9602" y="3328"/>
                </a:lnTo>
                <a:cubicBezTo>
                  <a:pt x="9602" y="3481"/>
                  <a:pt x="9526" y="3557"/>
                  <a:pt x="9373" y="3557"/>
                </a:cubicBezTo>
                <a:lnTo>
                  <a:pt x="228" y="3557"/>
                </a:lnTo>
                <a:cubicBezTo>
                  <a:pt x="76" y="3557"/>
                  <a:pt x="0" y="3481"/>
                  <a:pt x="0" y="3328"/>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60" name=""/>
          <p:cNvSpPr txBox="1"/>
          <p:nvPr/>
        </p:nvSpPr>
        <p:spPr>
          <a:xfrm>
            <a:off x="658440" y="2457000"/>
            <a:ext cx="3237120" cy="503280"/>
          </a:xfrm>
          <a:prstGeom prst="rect">
            <a:avLst/>
          </a:prstGeom>
          <a:noFill/>
          <a:ln w="0">
            <a:noFill/>
          </a:ln>
        </p:spPr>
        <p:txBody>
          <a:bodyPr lIns="90000" tIns="45000" rIns="90000" bIns="45000" anchor="t">
            <a:spAutoFit/>
          </a:bodyPr>
          <a:p>
            <a:r>
              <a:rPr lang="en-US" sz="2800" b="1" u="none" strike="noStrike">
                <a:solidFill>
                  <a:srgbClr val="1C375C"/>
                </a:solidFill>
                <a:effectLst/>
                <a:uFillTx/>
                <a:latin typeface="Cambria-Bold"/>
                <a:ea typeface="Cambria-Bold"/>
              </a:rPr>
              <a:t>0.946</a:t>
            </a:r>
            <a:endParaRPr lang="en-US" sz="2800" b="0" u="none" strike="noStrike">
              <a:solidFill>
                <a:srgbClr val="000000"/>
              </a:solidFill>
              <a:effectLst/>
              <a:uFillTx/>
              <a:latin typeface="Arial"/>
            </a:endParaRPr>
          </a:p>
        </p:txBody>
      </p:sp>
      <p:sp>
        <p:nvSpPr>
          <p:cNvPr id="161" name=""/>
          <p:cNvSpPr txBox="1"/>
          <p:nvPr/>
        </p:nvSpPr>
        <p:spPr>
          <a:xfrm>
            <a:off x="658440" y="2917080"/>
            <a:ext cx="3237120" cy="48636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ROC-AUC, held-out test set</a:t>
            </a:r>
            <a:endParaRPr lang="en-US" sz="1100" b="0" u="none" strike="noStrike">
              <a:solidFill>
                <a:srgbClr val="000000"/>
              </a:solidFill>
              <a:effectLst/>
              <a:uFillTx/>
              <a:latin typeface="Arial"/>
            </a:endParaRPr>
          </a:p>
        </p:txBody>
      </p:sp>
      <p:sp>
        <p:nvSpPr>
          <p:cNvPr id="162" name=""/>
          <p:cNvSpPr/>
          <p:nvPr/>
        </p:nvSpPr>
        <p:spPr>
          <a:xfrm>
            <a:off x="4187880" y="2148840"/>
            <a:ext cx="3456720" cy="1280520"/>
          </a:xfrm>
          <a:custGeom>
            <a:avLst/>
            <a:gdLst/>
            <a:ahLst/>
            <a:rect l="0" t="0" r="r" b="b"/>
            <a:pathLst>
              <a:path w="9602" h="3557">
                <a:moveTo>
                  <a:pt x="9373" y="0"/>
                </a:moveTo>
                <a:cubicBezTo>
                  <a:pt x="9526" y="0"/>
                  <a:pt x="9602" y="76"/>
                  <a:pt x="9602" y="228"/>
                </a:cubicBezTo>
                <a:lnTo>
                  <a:pt x="9602" y="3328"/>
                </a:lnTo>
                <a:cubicBezTo>
                  <a:pt x="9602" y="3481"/>
                  <a:pt x="9526" y="3557"/>
                  <a:pt x="9373" y="3557"/>
                </a:cubicBezTo>
                <a:lnTo>
                  <a:pt x="228" y="3557"/>
                </a:lnTo>
                <a:cubicBezTo>
                  <a:pt x="76" y="3557"/>
                  <a:pt x="0" y="3481"/>
                  <a:pt x="0" y="3328"/>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63" name=""/>
          <p:cNvSpPr txBox="1"/>
          <p:nvPr/>
        </p:nvSpPr>
        <p:spPr>
          <a:xfrm>
            <a:off x="4297680" y="2457000"/>
            <a:ext cx="3237120" cy="503280"/>
          </a:xfrm>
          <a:prstGeom prst="rect">
            <a:avLst/>
          </a:prstGeom>
          <a:noFill/>
          <a:ln w="0">
            <a:noFill/>
          </a:ln>
        </p:spPr>
        <p:txBody>
          <a:bodyPr lIns="90000" tIns="45000" rIns="90000" bIns="45000" anchor="t">
            <a:spAutoFit/>
          </a:bodyPr>
          <a:p>
            <a:r>
              <a:rPr lang="en-US" sz="2800" b="1" u="none" strike="noStrike">
                <a:solidFill>
                  <a:srgbClr val="1C375C"/>
                </a:solidFill>
                <a:effectLst/>
                <a:uFillTx/>
                <a:latin typeface="Cambria-Bold"/>
                <a:ea typeface="Cambria-Bold"/>
              </a:rPr>
              <a:t>0.862</a:t>
            </a:r>
            <a:endParaRPr lang="en-US" sz="2800" b="0" u="none" strike="noStrike">
              <a:solidFill>
                <a:srgbClr val="000000"/>
              </a:solidFill>
              <a:effectLst/>
              <a:uFillTx/>
              <a:latin typeface="Arial"/>
            </a:endParaRPr>
          </a:p>
        </p:txBody>
      </p:sp>
      <p:sp>
        <p:nvSpPr>
          <p:cNvPr id="164" name=""/>
          <p:cNvSpPr txBox="1"/>
          <p:nvPr/>
        </p:nvSpPr>
        <p:spPr>
          <a:xfrm>
            <a:off x="4297680" y="2917080"/>
            <a:ext cx="3237120" cy="48636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PR-AUC, held-out test set</a:t>
            </a:r>
            <a:endParaRPr lang="en-US" sz="1100" b="0" u="none" strike="noStrike">
              <a:solidFill>
                <a:srgbClr val="000000"/>
              </a:solidFill>
              <a:effectLst/>
              <a:uFillTx/>
              <a:latin typeface="Arial"/>
            </a:endParaRPr>
          </a:p>
        </p:txBody>
      </p:sp>
      <p:sp>
        <p:nvSpPr>
          <p:cNvPr id="165" name=""/>
          <p:cNvSpPr/>
          <p:nvPr/>
        </p:nvSpPr>
        <p:spPr>
          <a:xfrm>
            <a:off x="7827120" y="2148840"/>
            <a:ext cx="3456720" cy="1280520"/>
          </a:xfrm>
          <a:custGeom>
            <a:avLst/>
            <a:gdLst/>
            <a:ahLst/>
            <a:rect l="0" t="0" r="r" b="b"/>
            <a:pathLst>
              <a:path w="9602" h="3557">
                <a:moveTo>
                  <a:pt x="9373" y="0"/>
                </a:moveTo>
                <a:cubicBezTo>
                  <a:pt x="9526" y="0"/>
                  <a:pt x="9602" y="76"/>
                  <a:pt x="9602" y="228"/>
                </a:cubicBezTo>
                <a:lnTo>
                  <a:pt x="9602" y="3328"/>
                </a:lnTo>
                <a:cubicBezTo>
                  <a:pt x="9602" y="3481"/>
                  <a:pt x="9526" y="3557"/>
                  <a:pt x="9373" y="3557"/>
                </a:cubicBezTo>
                <a:lnTo>
                  <a:pt x="228" y="3557"/>
                </a:lnTo>
                <a:cubicBezTo>
                  <a:pt x="76" y="3557"/>
                  <a:pt x="0" y="3481"/>
                  <a:pt x="0" y="3328"/>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66" name=""/>
          <p:cNvSpPr txBox="1"/>
          <p:nvPr/>
        </p:nvSpPr>
        <p:spPr>
          <a:xfrm>
            <a:off x="7936920" y="2457000"/>
            <a:ext cx="3237120" cy="503280"/>
          </a:xfrm>
          <a:prstGeom prst="rect">
            <a:avLst/>
          </a:prstGeom>
          <a:noFill/>
          <a:ln w="0">
            <a:noFill/>
          </a:ln>
        </p:spPr>
        <p:txBody>
          <a:bodyPr lIns="90000" tIns="45000" rIns="90000" bIns="45000" anchor="t">
            <a:spAutoFit/>
          </a:bodyPr>
          <a:p>
            <a:r>
              <a:rPr lang="en-US" sz="2800" b="1" u="none" strike="noStrike">
                <a:solidFill>
                  <a:srgbClr val="1C375C"/>
                </a:solidFill>
                <a:effectLst/>
                <a:uFillTx/>
                <a:latin typeface="Cambria-Bold"/>
                <a:ea typeface="Cambria-Bold"/>
              </a:rPr>
              <a:t>24.8%</a:t>
            </a:r>
            <a:endParaRPr lang="en-US" sz="2800" b="0" u="none" strike="noStrike">
              <a:solidFill>
                <a:srgbClr val="000000"/>
              </a:solidFill>
              <a:effectLst/>
              <a:uFillTx/>
              <a:latin typeface="Arial"/>
            </a:endParaRPr>
          </a:p>
        </p:txBody>
      </p:sp>
      <p:sp>
        <p:nvSpPr>
          <p:cNvPr id="167" name=""/>
          <p:cNvSpPr txBox="1"/>
          <p:nvPr/>
        </p:nvSpPr>
        <p:spPr>
          <a:xfrm>
            <a:off x="7936920" y="2917080"/>
            <a:ext cx="3237120" cy="48636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of all resolved variants turn out Pathogenic</a:t>
            </a:r>
            <a:endParaRPr lang="en-US" sz="1100" b="0" u="none" strike="noStrike">
              <a:solidFill>
                <a:srgbClr val="000000"/>
              </a:solidFill>
              <a:effectLst/>
              <a:uFillTx/>
              <a:latin typeface="Arial"/>
            </a:endParaRPr>
          </a:p>
        </p:txBody>
      </p:sp>
      <p:sp>
        <p:nvSpPr>
          <p:cNvPr id="168" name=""/>
          <p:cNvSpPr txBox="1"/>
          <p:nvPr/>
        </p:nvSpPr>
        <p:spPr>
          <a:xfrm>
            <a:off x="548640" y="3749040"/>
            <a:ext cx="10789920" cy="1097280"/>
          </a:xfrm>
          <a:prstGeom prst="rect">
            <a:avLst/>
          </a:prstGeom>
          <a:noFill/>
          <a:ln w="0">
            <a:noFill/>
          </a:ln>
        </p:spPr>
        <p:txBody>
          <a:bodyPr lIns="90000" tIns="45000" rIns="90000" bIns="45000" anchor="t">
            <a:spAutoFit/>
          </a:bodyPr>
          <a:p>
            <a:pPr>
              <a:lnSpc>
                <a:spcPct val="125000"/>
              </a:lnSpc>
            </a:pPr>
            <a:r>
              <a:rPr lang="en-US" sz="1300" b="0" u="none" strike="noStrike">
                <a:solidFill>
                  <a:srgbClr val="2A3547"/>
                </a:solidFill>
                <a:effectLst/>
                <a:uFillTx/>
                <a:latin typeface="Calibri"/>
                <a:ea typeface="Calibri"/>
              </a:rPr>
              <a:t>Direction turns out to be an easier problem than resolution itself: once a variant has enough evidence to resolve at all, which way it goes is dominated by gene-level history. TP53 VUS, for example, score 93-97% pathogenic-if-resolved, consistent with TP53 being a well-established high-penetrance cancer gene</a:t>
            </a:r>
            <a:r>
              <a:rPr lang="en-US" sz="1300" b="0" u="none" strike="noStrike">
                <a:solidFill>
                  <a:srgbClr val="2A3547"/>
                </a:solidFill>
                <a:effectLst/>
                <a:uFillTx/>
                <a:latin typeface="Calibri"/>
                <a:ea typeface="Calibri"/>
              </a:rPr>
              <a:t>.</a:t>
            </a:r>
            <a:endParaRPr lang="en-US" sz="1300" b="0" u="none" strike="noStrike">
              <a:solidFill>
                <a:srgbClr val="000000"/>
              </a:solidFill>
              <a:effectLst/>
              <a:uFillTx/>
              <a:latin typeface="Arial"/>
            </a:endParaRPr>
          </a:p>
        </p:txBody>
      </p:sp>
      <p:sp>
        <p:nvSpPr>
          <p:cNvPr id="169"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r>
              <a:rPr lang="en-US" sz="1000" b="0" u="none" strike="noStrike">
                <a:solidFill>
                  <a:srgbClr val="8D99AE"/>
                </a:solidFill>
                <a:effectLst/>
                <a:uFillTx/>
                <a:latin typeface="Calibri"/>
                <a:ea typeface="Calibri"/>
              </a:rPr>
              <a:t>6</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C375C"/>
        </a:solidFill>
      </p:bgPr>
    </p:bg>
    <p:spTree>
      <p:nvGrpSpPr>
        <p:cNvPr id="1" name=""/>
        <p:cNvGrpSpPr/>
        <p:nvPr/>
      </p:nvGrpSpPr>
      <p:grpSpPr>
        <a:xfrm>
          <a:off x="0" y="0"/>
          <a:ext cx="0" cy="0"/>
          <a:chOff x="0" y="0"/>
          <a:chExt cx="0" cy="0"/>
        </a:xfrm>
      </p:grpSpPr>
      <p:sp>
        <p:nvSpPr>
          <p:cNvPr id="170"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9C467"/>
                </a:solidFill>
                <a:effectLst/>
                <a:uFillTx/>
                <a:latin typeface="Calibri-Bold"/>
                <a:ea typeface="Calibri-Bold"/>
              </a:rPr>
              <a:t>AN HONEST LIMIT</a:t>
            </a:r>
            <a:endParaRPr lang="en-US" sz="1200" b="0" u="none" strike="noStrike">
              <a:solidFill>
                <a:srgbClr val="FFFFFF"/>
              </a:solidFill>
              <a:effectLst/>
              <a:uFillTx/>
              <a:latin typeface="Arial"/>
            </a:endParaRPr>
          </a:p>
        </p:txBody>
      </p:sp>
      <p:sp>
        <p:nvSpPr>
          <p:cNvPr id="171" name=""/>
          <p:cNvSpPr txBox="1"/>
          <p:nvPr/>
        </p:nvSpPr>
        <p:spPr>
          <a:xfrm>
            <a:off x="548640" y="640080"/>
            <a:ext cx="11064240" cy="827640"/>
          </a:xfrm>
          <a:prstGeom prst="rect">
            <a:avLst/>
          </a:prstGeom>
          <a:noFill/>
          <a:ln w="0">
            <a:noFill/>
          </a:ln>
        </p:spPr>
        <p:txBody>
          <a:bodyPr lIns="90000" tIns="45000" rIns="90000" bIns="45000" anchor="t">
            <a:spAutoFit/>
          </a:bodyPr>
          <a:p>
            <a:r>
              <a:rPr lang="en-US" sz="2500" b="1" u="none" strike="noStrike">
                <a:solidFill>
                  <a:srgbClr val="FFFFFF"/>
                </a:solidFill>
                <a:effectLst/>
                <a:uFillTx/>
                <a:latin typeface="Cambria-Bold"/>
                <a:ea typeface="Cambria-Bold"/>
              </a:rPr>
              <a:t>By When? A Year-by-Year Answer, Not One Extrapolated Number</a:t>
            </a:r>
            <a:endParaRPr lang="en-US" sz="2500" b="0" u="none" strike="noStrike">
              <a:solidFill>
                <a:srgbClr val="FFFFFF"/>
              </a:solidFill>
              <a:effectLst/>
              <a:uFillTx/>
              <a:latin typeface="Arial"/>
            </a:endParaRPr>
          </a:p>
        </p:txBody>
      </p:sp>
      <p:sp>
        <p:nvSpPr>
          <p:cNvPr id="172" name=""/>
          <p:cNvSpPr/>
          <p:nvPr/>
        </p:nvSpPr>
        <p:spPr>
          <a:xfrm>
            <a:off x="548640" y="1600200"/>
            <a:ext cx="3456720" cy="1234800"/>
          </a:xfrm>
          <a:custGeom>
            <a:avLst/>
            <a:gdLst/>
            <a:ahLst/>
            <a:rect l="0" t="0" r="r" b="b"/>
            <a:pathLst>
              <a:path w="9602" h="3430">
                <a:moveTo>
                  <a:pt x="9373" y="0"/>
                </a:moveTo>
                <a:cubicBezTo>
                  <a:pt x="9526" y="0"/>
                  <a:pt x="9602" y="76"/>
                  <a:pt x="9602" y="228"/>
                </a:cubicBezTo>
                <a:lnTo>
                  <a:pt x="9602" y="3202"/>
                </a:lnTo>
                <a:cubicBezTo>
                  <a:pt x="9602" y="3354"/>
                  <a:pt x="9526" y="3430"/>
                  <a:pt x="9373" y="3430"/>
                </a:cubicBezTo>
                <a:lnTo>
                  <a:pt x="228" y="3430"/>
                </a:lnTo>
                <a:cubicBezTo>
                  <a:pt x="76" y="3430"/>
                  <a:pt x="0" y="3354"/>
                  <a:pt x="0" y="3202"/>
                </a:cubicBezTo>
                <a:lnTo>
                  <a:pt x="0" y="228"/>
                </a:lnTo>
                <a:cubicBezTo>
                  <a:pt x="0" y="76"/>
                  <a:pt x="76" y="0"/>
                  <a:pt x="228" y="0"/>
                </a:cubicBezTo>
                <a:lnTo>
                  <a:pt x="9373"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173" name=""/>
          <p:cNvSpPr txBox="1"/>
          <p:nvPr/>
        </p:nvSpPr>
        <p:spPr>
          <a:xfrm>
            <a:off x="658440" y="1967400"/>
            <a:ext cx="3237120" cy="474480"/>
          </a:xfrm>
          <a:prstGeom prst="rect">
            <a:avLst/>
          </a:prstGeom>
          <a:noFill/>
          <a:ln w="0">
            <a:noFill/>
          </a:ln>
        </p:spPr>
        <p:txBody>
          <a:bodyPr lIns="90000" tIns="45000" rIns="90000" bIns="45000" anchor="t">
            <a:spAutoFit/>
          </a:bodyPr>
          <a:p>
            <a:r>
              <a:rPr lang="en-US" sz="2600" b="1" u="none" strike="noStrike">
                <a:solidFill>
                  <a:srgbClr val="E9C467"/>
                </a:solidFill>
                <a:effectLst/>
                <a:uFillTx/>
                <a:latin typeface="Cambria-Bold"/>
                <a:ea typeface="Cambria-Bold"/>
              </a:rPr>
              <a:t>9.8%</a:t>
            </a:r>
            <a:endParaRPr lang="en-US" sz="2600" b="0" u="none" strike="noStrike">
              <a:solidFill>
                <a:srgbClr val="FFFFFF"/>
              </a:solidFill>
              <a:effectLst/>
              <a:uFillTx/>
              <a:latin typeface="Arial"/>
            </a:endParaRPr>
          </a:p>
        </p:txBody>
      </p:sp>
      <p:sp>
        <p:nvSpPr>
          <p:cNvPr id="174" name=""/>
          <p:cNvSpPr txBox="1"/>
          <p:nvPr/>
        </p:nvSpPr>
        <p:spPr>
          <a:xfrm>
            <a:off x="658440" y="2340720"/>
            <a:ext cx="3237120" cy="46908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of the watchlist is expected to resolve within 10 years</a:t>
            </a:r>
            <a:endParaRPr lang="en-US" sz="1100" b="0" u="none" strike="noStrike">
              <a:solidFill>
                <a:srgbClr val="FFFFFF"/>
              </a:solidFill>
              <a:effectLst/>
              <a:uFillTx/>
              <a:latin typeface="Arial"/>
            </a:endParaRPr>
          </a:p>
        </p:txBody>
      </p:sp>
      <p:sp>
        <p:nvSpPr>
          <p:cNvPr id="175" name=""/>
          <p:cNvSpPr/>
          <p:nvPr/>
        </p:nvSpPr>
        <p:spPr>
          <a:xfrm>
            <a:off x="4187880" y="1600200"/>
            <a:ext cx="3456720" cy="1234800"/>
          </a:xfrm>
          <a:custGeom>
            <a:avLst/>
            <a:gdLst/>
            <a:ahLst/>
            <a:rect l="0" t="0" r="r" b="b"/>
            <a:pathLst>
              <a:path w="9602" h="3430">
                <a:moveTo>
                  <a:pt x="9373" y="0"/>
                </a:moveTo>
                <a:cubicBezTo>
                  <a:pt x="9526" y="0"/>
                  <a:pt x="9602" y="76"/>
                  <a:pt x="9602" y="228"/>
                </a:cubicBezTo>
                <a:lnTo>
                  <a:pt x="9602" y="3202"/>
                </a:lnTo>
                <a:cubicBezTo>
                  <a:pt x="9602" y="3354"/>
                  <a:pt x="9526" y="3430"/>
                  <a:pt x="9373" y="3430"/>
                </a:cubicBezTo>
                <a:lnTo>
                  <a:pt x="228" y="3430"/>
                </a:lnTo>
                <a:cubicBezTo>
                  <a:pt x="76" y="3430"/>
                  <a:pt x="0" y="3354"/>
                  <a:pt x="0" y="3202"/>
                </a:cubicBezTo>
                <a:lnTo>
                  <a:pt x="0" y="228"/>
                </a:lnTo>
                <a:cubicBezTo>
                  <a:pt x="0" y="76"/>
                  <a:pt x="76" y="0"/>
                  <a:pt x="228" y="0"/>
                </a:cubicBezTo>
                <a:lnTo>
                  <a:pt x="9373"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176" name=""/>
          <p:cNvSpPr txBox="1"/>
          <p:nvPr/>
        </p:nvSpPr>
        <p:spPr>
          <a:xfrm>
            <a:off x="4297680" y="1968120"/>
            <a:ext cx="3237120" cy="474480"/>
          </a:xfrm>
          <a:prstGeom prst="rect">
            <a:avLst/>
          </a:prstGeom>
          <a:noFill/>
          <a:ln w="0">
            <a:noFill/>
          </a:ln>
        </p:spPr>
        <p:txBody>
          <a:bodyPr lIns="90000" tIns="45000" rIns="90000" bIns="45000" anchor="t">
            <a:spAutoFit/>
          </a:bodyPr>
          <a:p>
            <a:r>
              <a:rPr lang="en-US" sz="2600" b="1" u="none" strike="noStrike">
                <a:solidFill>
                  <a:srgbClr val="E9C467"/>
                </a:solidFill>
                <a:effectLst/>
                <a:uFillTx/>
                <a:latin typeface="Cambria-Bold"/>
                <a:ea typeface="Cambria-Bold"/>
              </a:rPr>
              <a:t>90.2%</a:t>
            </a:r>
            <a:endParaRPr lang="en-US" sz="2600" b="0" u="none" strike="noStrike">
              <a:solidFill>
                <a:srgbClr val="FFFFFF"/>
              </a:solidFill>
              <a:effectLst/>
              <a:uFillTx/>
              <a:latin typeface="Arial"/>
            </a:endParaRPr>
          </a:p>
        </p:txBody>
      </p:sp>
      <p:sp>
        <p:nvSpPr>
          <p:cNvPr id="177" name=""/>
          <p:cNvSpPr txBox="1"/>
          <p:nvPr/>
        </p:nvSpPr>
        <p:spPr>
          <a:xfrm>
            <a:off x="4297680" y="2340720"/>
            <a:ext cx="3237120" cy="46908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still open past year 10, the majority outcome</a:t>
            </a:r>
            <a:endParaRPr lang="en-US" sz="1100" b="0" u="none" strike="noStrike">
              <a:solidFill>
                <a:srgbClr val="FFFFFF"/>
              </a:solidFill>
              <a:effectLst/>
              <a:uFillTx/>
              <a:latin typeface="Arial"/>
            </a:endParaRPr>
          </a:p>
        </p:txBody>
      </p:sp>
      <p:sp>
        <p:nvSpPr>
          <p:cNvPr id="178" name=""/>
          <p:cNvSpPr/>
          <p:nvPr/>
        </p:nvSpPr>
        <p:spPr>
          <a:xfrm>
            <a:off x="7827120" y="1600200"/>
            <a:ext cx="3456720" cy="1234800"/>
          </a:xfrm>
          <a:custGeom>
            <a:avLst/>
            <a:gdLst/>
            <a:ahLst/>
            <a:rect l="0" t="0" r="r" b="b"/>
            <a:pathLst>
              <a:path w="9602" h="3430">
                <a:moveTo>
                  <a:pt x="9373" y="0"/>
                </a:moveTo>
                <a:cubicBezTo>
                  <a:pt x="9526" y="0"/>
                  <a:pt x="9602" y="76"/>
                  <a:pt x="9602" y="228"/>
                </a:cubicBezTo>
                <a:lnTo>
                  <a:pt x="9602" y="3202"/>
                </a:lnTo>
                <a:cubicBezTo>
                  <a:pt x="9602" y="3354"/>
                  <a:pt x="9526" y="3430"/>
                  <a:pt x="9373" y="3430"/>
                </a:cubicBezTo>
                <a:lnTo>
                  <a:pt x="228" y="3430"/>
                </a:lnTo>
                <a:cubicBezTo>
                  <a:pt x="76" y="3430"/>
                  <a:pt x="0" y="3354"/>
                  <a:pt x="0" y="3202"/>
                </a:cubicBezTo>
                <a:lnTo>
                  <a:pt x="0" y="228"/>
                </a:lnTo>
                <a:cubicBezTo>
                  <a:pt x="0" y="76"/>
                  <a:pt x="76" y="0"/>
                  <a:pt x="228" y="0"/>
                </a:cubicBezTo>
                <a:lnTo>
                  <a:pt x="9373"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179" name=""/>
          <p:cNvSpPr txBox="1"/>
          <p:nvPr/>
        </p:nvSpPr>
        <p:spPr>
          <a:xfrm>
            <a:off x="7936920" y="1967400"/>
            <a:ext cx="3237120" cy="474480"/>
          </a:xfrm>
          <a:prstGeom prst="rect">
            <a:avLst/>
          </a:prstGeom>
          <a:noFill/>
          <a:ln w="0">
            <a:noFill/>
          </a:ln>
        </p:spPr>
        <p:txBody>
          <a:bodyPr lIns="90000" tIns="45000" rIns="90000" bIns="45000" anchor="t">
            <a:spAutoFit/>
          </a:bodyPr>
          <a:p>
            <a:r>
              <a:rPr lang="en-US" sz="2600" b="1" u="none" strike="noStrike">
                <a:solidFill>
                  <a:srgbClr val="E9C467"/>
                </a:solidFill>
                <a:effectLst/>
                <a:uFillTx/>
                <a:latin typeface="Cambria-Bold"/>
                <a:ea typeface="Cambria-Bold"/>
              </a:rPr>
              <a:t>0.760</a:t>
            </a:r>
            <a:endParaRPr lang="en-US" sz="2600" b="0" u="none" strike="noStrike">
              <a:solidFill>
                <a:srgbClr val="FFFFFF"/>
              </a:solidFill>
              <a:effectLst/>
              <a:uFillTx/>
              <a:latin typeface="Arial"/>
            </a:endParaRPr>
          </a:p>
        </p:txBody>
      </p:sp>
      <p:sp>
        <p:nvSpPr>
          <p:cNvPr id="180" name=""/>
          <p:cNvSpPr txBox="1"/>
          <p:nvPr/>
        </p:nvSpPr>
        <p:spPr>
          <a:xfrm>
            <a:off x="7936920" y="2340720"/>
            <a:ext cx="3237120" cy="46908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c-index of the Cox model behind every one of these numbers</a:t>
            </a:r>
            <a:endParaRPr lang="en-US" sz="1100" b="0" u="none" strike="noStrike">
              <a:solidFill>
                <a:srgbClr val="FFFFFF"/>
              </a:solidFill>
              <a:effectLst/>
              <a:uFillTx/>
              <a:latin typeface="Arial"/>
            </a:endParaRPr>
          </a:p>
        </p:txBody>
      </p:sp>
      <p:sp>
        <p:nvSpPr>
          <p:cNvPr id="181" name=""/>
          <p:cNvSpPr txBox="1"/>
          <p:nvPr/>
        </p:nvSpPr>
        <p:spPr>
          <a:xfrm>
            <a:off x="685800" y="4207320"/>
            <a:ext cx="10789920" cy="501480"/>
          </a:xfrm>
          <a:prstGeom prst="rect">
            <a:avLst/>
          </a:prstGeom>
          <a:noFill/>
          <a:ln w="0">
            <a:noFill/>
          </a:ln>
        </p:spPr>
        <p:txBody>
          <a:bodyPr lIns="90000" tIns="45000" rIns="90000" bIns="45000" anchor="t">
            <a:spAutoFit/>
          </a:bodyPr>
          <a:p>
            <a:pPr>
              <a:lnSpc>
                <a:spcPct val="125000"/>
              </a:lnSpc>
            </a:pPr>
            <a:r>
              <a:rPr lang="en-US" sz="1300" b="0" u="none" strike="noStrike">
                <a:solidFill>
                  <a:srgbClr val="D6DEEC"/>
                </a:solidFill>
                <a:effectLst/>
                <a:uFillTx/>
                <a:latin typeface="Calibri"/>
                <a:ea typeface="Calibri"/>
              </a:rPr>
              <a:t>That 90.2% isn't a model shortfall. Only about 7% of all ClinVar variants have ever resolved historically, so a model predicting most VUS will still be open a decade out is just describing the real pace of the field.</a:t>
            </a:r>
            <a:endParaRPr lang="en-US" sz="1300" b="0" u="none" strike="noStrike">
              <a:solidFill>
                <a:srgbClr val="FFFFFF"/>
              </a:solidFill>
              <a:effectLst/>
              <a:uFillTx/>
              <a:latin typeface="Arial"/>
            </a:endParaRPr>
          </a:p>
        </p:txBody>
      </p:sp>
      <p:sp>
        <p:nvSpPr>
          <p:cNvPr id="182"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7B8AA5"/>
                </a:solidFill>
                <a:effectLst/>
                <a:uFillTx/>
                <a:latin typeface="Calibri"/>
                <a:ea typeface="Calibri"/>
              </a:rPr>
              <a:t>1</a:t>
            </a:r>
            <a:r>
              <a:rPr lang="en-US" sz="1000" b="0" u="none" strike="noStrike">
                <a:solidFill>
                  <a:srgbClr val="7B8AA5"/>
                </a:solidFill>
                <a:effectLst/>
                <a:uFillTx/>
                <a:latin typeface="Calibri"/>
                <a:ea typeface="Calibri"/>
              </a:rPr>
              <a:t>7</a:t>
            </a:r>
            <a:endParaRPr lang="en-US"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3"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RECLASSIFICATION MODEL</a:t>
            </a:r>
            <a:endParaRPr lang="en-US" sz="1200" b="0" u="none" strike="noStrike">
              <a:solidFill>
                <a:srgbClr val="000000"/>
              </a:solidFill>
              <a:effectLst/>
              <a:uFillTx/>
              <a:latin typeface="Arial"/>
            </a:endParaRPr>
          </a:p>
        </p:txBody>
      </p:sp>
      <p:sp>
        <p:nvSpPr>
          <p:cNvPr id="184" name=""/>
          <p:cNvSpPr txBox="1"/>
          <p:nvPr/>
        </p:nvSpPr>
        <p:spPr>
          <a:xfrm>
            <a:off x="548640" y="658440"/>
            <a:ext cx="10789920" cy="777240"/>
          </a:xfrm>
          <a:prstGeom prst="rect">
            <a:avLst/>
          </a:prstGeom>
          <a:noFill/>
          <a:ln w="0">
            <a:noFill/>
          </a:ln>
        </p:spPr>
        <p:txBody>
          <a:bodyPr lIns="90000" tIns="45000" rIns="90000" bIns="45000" anchor="t">
            <a:spAutoFit/>
          </a:bodyPr>
          <a:p>
            <a:r>
              <a:rPr lang="en-US" sz="2700" b="1" u="none" strike="noStrike">
                <a:solidFill>
                  <a:srgbClr val="1F242E"/>
                </a:solidFill>
                <a:effectLst/>
                <a:uFillTx/>
                <a:latin typeface="Cambria-Bold"/>
                <a:ea typeface="Cambria-Bold"/>
              </a:rPr>
              <a:t>Expected Reclassifications, Year By Year</a:t>
            </a:r>
            <a:endParaRPr lang="en-US" sz="2700" b="0" u="none" strike="noStrike">
              <a:solidFill>
                <a:srgbClr val="000000"/>
              </a:solidFill>
              <a:effectLst/>
              <a:uFillTx/>
              <a:latin typeface="Arial"/>
            </a:endParaRPr>
          </a:p>
        </p:txBody>
      </p:sp>
      <p:sp>
        <p:nvSpPr>
          <p:cNvPr id="186"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r>
              <a:rPr lang="en-US" sz="1000" b="0" u="none" strike="noStrike">
                <a:solidFill>
                  <a:srgbClr val="8D99AE"/>
                </a:solidFill>
                <a:effectLst/>
                <a:uFillTx/>
                <a:latin typeface="Calibri"/>
                <a:ea typeface="Calibri"/>
              </a:rPr>
              <a:t>8</a:t>
            </a:r>
            <a:endParaRPr lang="en-US" sz="1000" b="0" u="none" strike="noStrike">
              <a:solidFill>
                <a:srgbClr val="000000"/>
              </a:solidFill>
              <a:effectLst/>
              <a:uFillTx/>
              <a:latin typeface="Arial"/>
            </a:endParaRPr>
          </a:p>
        </p:txBody>
      </p:sp>
      <p:pic>
        <p:nvPicPr>
          <p:cNvPr id="187" name="Picture 186" descr="expected_yearly_full.png"/>
          <p:cNvPicPr>
            <a:picLocks noChangeAspect="1"/>
          </p:cNvPicPr>
          <p:nvPr/>
        </p:nvPicPr>
        <p:blipFill>
          <a:blip r:embed="rId3"/>
          <a:stretch>
            <a:fillRect/>
          </a:stretch>
        </p:blipFill>
        <p:spPr>
          <a:xfrm>
            <a:off x="640080" y="1542011"/>
            <a:ext cx="10881360" cy="3956858"/>
          </a:xfrm>
          <a:prstGeom prst="rect">
            <a:avLst/>
          </a:prstGeom>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7"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PROOF THIS WORKS</a:t>
            </a:r>
            <a:endParaRPr lang="en-US" sz="1200" b="0" u="none" strike="noStrike">
              <a:solidFill>
                <a:srgbClr val="000000"/>
              </a:solidFill>
              <a:effectLst/>
              <a:uFillTx/>
              <a:latin typeface="Arial"/>
            </a:endParaRPr>
          </a:p>
        </p:txBody>
      </p:sp>
      <p:sp>
        <p:nvSpPr>
          <p:cNvPr id="188" name=""/>
          <p:cNvSpPr txBox="1"/>
          <p:nvPr/>
        </p:nvSpPr>
        <p:spPr>
          <a:xfrm>
            <a:off x="548640" y="658440"/>
            <a:ext cx="10789920" cy="97740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A Real Case: Scored High in 2018, Resolved by 2026</a:t>
            </a:r>
            <a:endParaRPr lang="en-US" sz="3000" b="0" u="none" strike="noStrike">
              <a:solidFill>
                <a:srgbClr val="000000"/>
              </a:solidFill>
              <a:effectLst/>
              <a:uFillTx/>
              <a:latin typeface="Arial"/>
            </a:endParaRPr>
          </a:p>
        </p:txBody>
      </p:sp>
      <p:sp>
        <p:nvSpPr>
          <p:cNvPr id="189" name=""/>
          <p:cNvSpPr/>
          <p:nvPr/>
        </p:nvSpPr>
        <p:spPr>
          <a:xfrm>
            <a:off x="548640" y="1554480"/>
            <a:ext cx="5349600" cy="1920600"/>
          </a:xfrm>
          <a:custGeom>
            <a:avLst/>
            <a:gdLst/>
            <a:ahLst/>
            <a:rect l="0" t="0" r="r" b="b"/>
            <a:pathLst>
              <a:path w="14860" h="5335">
                <a:moveTo>
                  <a:pt x="14631" y="0"/>
                </a:moveTo>
                <a:cubicBezTo>
                  <a:pt x="14784" y="0"/>
                  <a:pt x="14860" y="76"/>
                  <a:pt x="14860" y="228"/>
                </a:cubicBezTo>
                <a:lnTo>
                  <a:pt x="14860" y="5107"/>
                </a:lnTo>
                <a:cubicBezTo>
                  <a:pt x="14860" y="5259"/>
                  <a:pt x="14784" y="5335"/>
                  <a:pt x="14631" y="5335"/>
                </a:cubicBezTo>
                <a:lnTo>
                  <a:pt x="228" y="5335"/>
                </a:lnTo>
                <a:cubicBezTo>
                  <a:pt x="76" y="5335"/>
                  <a:pt x="0" y="5259"/>
                  <a:pt x="0" y="5107"/>
                </a:cubicBezTo>
                <a:lnTo>
                  <a:pt x="0" y="228"/>
                </a:lnTo>
                <a:cubicBezTo>
                  <a:pt x="0" y="76"/>
                  <a:pt x="76" y="0"/>
                  <a:pt x="228" y="0"/>
                </a:cubicBezTo>
                <a:lnTo>
                  <a:pt x="146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90" name=""/>
          <p:cNvSpPr txBox="1"/>
          <p:nvPr/>
        </p:nvSpPr>
        <p:spPr>
          <a:xfrm>
            <a:off x="685800" y="1664280"/>
            <a:ext cx="5074920" cy="1051560"/>
          </a:xfrm>
          <a:prstGeom prst="rect">
            <a:avLst/>
          </a:prstGeom>
          <a:noFill/>
          <a:ln w="0">
            <a:noFill/>
          </a:ln>
        </p:spPr>
        <p:txBody>
          <a:bodyPr lIns="90000" tIns="45000" rIns="90000" bIns="45000" anchor="t">
            <a:spAutoFit/>
          </a:bodyPr>
          <a:p>
            <a:r>
              <a:rPr lang="en-US" sz="4400" b="1" u="none" strike="noStrike">
                <a:solidFill>
                  <a:srgbClr val="1C375C"/>
                </a:solidFill>
                <a:effectLst/>
                <a:uFillTx/>
                <a:latin typeface="Cambria-Bold"/>
                <a:ea typeface="Cambria-Bold"/>
              </a:rPr>
              <a:t>0.968</a:t>
            </a:r>
            <a:endParaRPr lang="en-US" sz="4400" b="0" u="none" strike="noStrike">
              <a:solidFill>
                <a:srgbClr val="000000"/>
              </a:solidFill>
              <a:effectLst/>
              <a:uFillTx/>
              <a:latin typeface="Arial"/>
            </a:endParaRPr>
          </a:p>
        </p:txBody>
      </p:sp>
      <p:sp>
        <p:nvSpPr>
          <p:cNvPr id="191" name=""/>
          <p:cNvSpPr txBox="1"/>
          <p:nvPr/>
        </p:nvSpPr>
        <p:spPr>
          <a:xfrm>
            <a:off x="685800" y="2788920"/>
            <a:ext cx="5074920" cy="5486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reclassification score assigned using only 2018-era ClinVar data</a:t>
            </a:r>
            <a:endParaRPr lang="en-US" sz="1100" b="0" u="none" strike="noStrike">
              <a:solidFill>
                <a:srgbClr val="000000"/>
              </a:solidFill>
              <a:effectLst/>
              <a:uFillTx/>
              <a:latin typeface="Arial"/>
            </a:endParaRPr>
          </a:p>
        </p:txBody>
      </p:sp>
      <p:sp>
        <p:nvSpPr>
          <p:cNvPr id="192" name=""/>
          <p:cNvSpPr txBox="1"/>
          <p:nvPr/>
        </p:nvSpPr>
        <p:spPr>
          <a:xfrm>
            <a:off x="548640" y="3657600"/>
            <a:ext cx="5349240" cy="365760"/>
          </a:xfrm>
          <a:prstGeom prst="rect">
            <a:avLst/>
          </a:prstGeom>
          <a:noFill/>
          <a:ln w="0">
            <a:noFill/>
          </a:ln>
        </p:spPr>
        <p:txBody>
          <a:bodyPr lIns="90000" tIns="45000" rIns="90000" bIns="45000" anchor="t">
            <a:spAutoFit/>
          </a:bodyPr>
          <a:p>
            <a:r>
              <a:rPr lang="en-US" sz="1300" b="1" u="none" strike="noStrike">
                <a:solidFill>
                  <a:srgbClr val="1C375C"/>
                </a:solidFill>
                <a:effectLst/>
                <a:uFillTx/>
                <a:latin typeface="Calibri-Bold"/>
                <a:ea typeface="Calibri-Bold"/>
              </a:rPr>
              <a:t>VariationID 376633 · TP53</a:t>
            </a:r>
            <a:endParaRPr lang="en-US" sz="1300" b="0" u="none" strike="noStrike">
              <a:solidFill>
                <a:srgbClr val="000000"/>
              </a:solidFill>
              <a:effectLst/>
              <a:uFillTx/>
              <a:latin typeface="Arial"/>
            </a:endParaRPr>
          </a:p>
        </p:txBody>
      </p:sp>
      <p:sp>
        <p:nvSpPr>
          <p:cNvPr id="193" name=""/>
          <p:cNvSpPr txBox="1"/>
          <p:nvPr/>
        </p:nvSpPr>
        <p:spPr>
          <a:xfrm>
            <a:off x="548640" y="4023360"/>
            <a:ext cx="5349240" cy="36576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Missing gnomAD AF · MaveDB coverage present</a:t>
            </a:r>
            <a:endParaRPr lang="en-US" sz="1200" b="0" u="none" strike="noStrike">
              <a:solidFill>
                <a:srgbClr val="000000"/>
              </a:solidFill>
              <a:effectLst/>
              <a:uFillTx/>
              <a:latin typeface="Arial"/>
            </a:endParaRPr>
          </a:p>
        </p:txBody>
      </p:sp>
      <p:sp>
        <p:nvSpPr>
          <p:cNvPr id="194" name=""/>
          <p:cNvSpPr/>
          <p:nvPr/>
        </p:nvSpPr>
        <p:spPr>
          <a:xfrm>
            <a:off x="6126480" y="1554480"/>
            <a:ext cx="5349600" cy="1920600"/>
          </a:xfrm>
          <a:custGeom>
            <a:avLst/>
            <a:gdLst/>
            <a:ahLst/>
            <a:rect l="0" t="0" r="r" b="b"/>
            <a:pathLst>
              <a:path w="14860" h="5335">
                <a:moveTo>
                  <a:pt x="14631" y="0"/>
                </a:moveTo>
                <a:cubicBezTo>
                  <a:pt x="14784" y="0"/>
                  <a:pt x="14860" y="76"/>
                  <a:pt x="14860" y="228"/>
                </a:cubicBezTo>
                <a:lnTo>
                  <a:pt x="14860" y="5107"/>
                </a:lnTo>
                <a:cubicBezTo>
                  <a:pt x="14860" y="5259"/>
                  <a:pt x="14784" y="5335"/>
                  <a:pt x="14631" y="5335"/>
                </a:cubicBezTo>
                <a:lnTo>
                  <a:pt x="228" y="5335"/>
                </a:lnTo>
                <a:cubicBezTo>
                  <a:pt x="76" y="5335"/>
                  <a:pt x="0" y="5259"/>
                  <a:pt x="0" y="5107"/>
                </a:cubicBezTo>
                <a:lnTo>
                  <a:pt x="0" y="228"/>
                </a:lnTo>
                <a:cubicBezTo>
                  <a:pt x="0" y="76"/>
                  <a:pt x="76" y="0"/>
                  <a:pt x="228" y="0"/>
                </a:cubicBezTo>
                <a:lnTo>
                  <a:pt x="14631" y="0"/>
                </a:lnTo>
                <a:close/>
              </a:path>
            </a:pathLst>
          </a:custGeom>
          <a:solidFill>
            <a:srgbClr val="E9F5F3"/>
          </a:solidFill>
          <a:ln w="12600">
            <a:solidFill>
              <a:srgbClr val="279D8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95" name=""/>
          <p:cNvSpPr txBox="1"/>
          <p:nvPr/>
        </p:nvSpPr>
        <p:spPr>
          <a:xfrm>
            <a:off x="6263640" y="1664280"/>
            <a:ext cx="5074920" cy="1051560"/>
          </a:xfrm>
          <a:prstGeom prst="rect">
            <a:avLst/>
          </a:prstGeom>
          <a:noFill/>
          <a:ln w="0">
            <a:noFill/>
          </a:ln>
        </p:spPr>
        <p:txBody>
          <a:bodyPr lIns="90000" tIns="45000" rIns="90000" bIns="45000" anchor="t">
            <a:spAutoFit/>
          </a:bodyPr>
          <a:p>
            <a:r>
              <a:rPr lang="en-US" sz="3600" b="1" u="none" strike="noStrike">
                <a:solidFill>
                  <a:srgbClr val="279D8F"/>
                </a:solidFill>
                <a:effectLst/>
                <a:uFillTx/>
                <a:latin typeface="Cambria-Bold"/>
                <a:ea typeface="Cambria-Bold"/>
              </a:rPr>
              <a:t>Pathogenic</a:t>
            </a:r>
            <a:endParaRPr lang="en-US" sz="3600" b="0" u="none" strike="noStrike">
              <a:solidFill>
                <a:srgbClr val="000000"/>
              </a:solidFill>
              <a:effectLst/>
              <a:uFillTx/>
              <a:latin typeface="Arial"/>
            </a:endParaRPr>
          </a:p>
        </p:txBody>
      </p:sp>
      <p:sp>
        <p:nvSpPr>
          <p:cNvPr id="196" name=""/>
          <p:cNvSpPr txBox="1"/>
          <p:nvPr/>
        </p:nvSpPr>
        <p:spPr>
          <a:xfrm>
            <a:off x="6263640" y="2788920"/>
            <a:ext cx="5074920" cy="5486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actual ClinVar classification by the 2026 snapshot</a:t>
            </a:r>
            <a:endParaRPr lang="en-US" sz="1100" b="0" u="none" strike="noStrike">
              <a:solidFill>
                <a:srgbClr val="000000"/>
              </a:solidFill>
              <a:effectLst/>
              <a:uFillTx/>
              <a:latin typeface="Arial"/>
            </a:endParaRPr>
          </a:p>
        </p:txBody>
      </p:sp>
      <p:sp>
        <p:nvSpPr>
          <p:cNvPr id="197" name=""/>
          <p:cNvSpPr txBox="1"/>
          <p:nvPr/>
        </p:nvSpPr>
        <p:spPr>
          <a:xfrm>
            <a:off x="6126480" y="3657600"/>
            <a:ext cx="5349240" cy="1005840"/>
          </a:xfrm>
          <a:prstGeom prst="rect">
            <a:avLst/>
          </a:prstGeom>
          <a:noFill/>
          <a:ln w="0">
            <a:noFill/>
          </a:ln>
        </p:spPr>
        <p:txBody>
          <a:bodyPr lIns="90000" tIns="45000" rIns="90000" bIns="45000" anchor="t">
            <a:spAutoFit/>
          </a:bodyPr>
          <a:p>
            <a:pPr>
              <a:lnSpc>
                <a:spcPct val="130000"/>
              </a:lnSpc>
            </a:pPr>
            <a:r>
              <a:rPr lang="en-US" sz="1300" b="0" i="1" u="none" strike="noStrike">
                <a:solidFill>
                  <a:srgbClr val="2A3547"/>
                </a:solidFill>
                <a:effectLst/>
                <a:uFillTx/>
                <a:latin typeface="Calibri-Italic"/>
                <a:ea typeface="Calibri-Italic"/>
              </a:rPr>
              <a:t>The model flagged this variant as high-probability years</a:t>
            </a:r>
            <a:r>
              <a:rPr lang="en-US" sz="1300" b="0" i="1" u="none" strike="noStrike">
                <a:solidFill>
                  <a:srgbClr val="2A3547"/>
                </a:solidFill>
                <a:effectLst/>
                <a:uFillTx/>
                <a:latin typeface="Calibri-Italic"/>
                <a:ea typeface="Calibri-Italic"/>
              </a:rPr>
              <a:t>(in training) years before it was reclassified</a:t>
            </a:r>
            <a:endParaRPr lang="en-US" sz="1300" b="0" u="none" strike="noStrike">
              <a:solidFill>
                <a:srgbClr val="000000"/>
              </a:solidFill>
              <a:effectLst/>
              <a:uFillTx/>
              <a:latin typeface="Arial"/>
            </a:endParaRPr>
          </a:p>
        </p:txBody>
      </p:sp>
      <p:sp>
        <p:nvSpPr>
          <p:cNvPr id="198"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r>
              <a:rPr lang="en-US" sz="1000" b="0" u="none" strike="noStrike">
                <a:solidFill>
                  <a:srgbClr val="8D99AE"/>
                </a:solidFill>
                <a:effectLst/>
                <a:uFillTx/>
                <a:latin typeface="Calibri"/>
                <a:ea typeface="Calibri"/>
              </a:rPr>
              <a:t>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C375C"/>
        </a:solidFill>
      </p:bgPr>
    </p:bg>
    <p:spTree>
      <p:nvGrpSpPr>
        <p:cNvPr id="1" name=""/>
        <p:cNvGrpSpPr/>
        <p:nvPr/>
      </p:nvGrpSpPr>
      <p:grpSpPr>
        <a:xfrm>
          <a:off x="0" y="0"/>
          <a:ext cx="0" cy="0"/>
          <a:chOff x="0" y="0"/>
          <a:chExt cx="0" cy="0"/>
        </a:xfrm>
      </p:grpSpPr>
      <p:sp>
        <p:nvSpPr>
          <p:cNvPr id="199"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9C467"/>
                </a:solidFill>
                <a:effectLst/>
                <a:uFillTx/>
                <a:latin typeface="Calibri-Bold"/>
                <a:ea typeface="Calibri-Bold"/>
              </a:rPr>
              <a:t>PROOF THIS WORKS</a:t>
            </a:r>
            <a:endParaRPr lang="en-US" sz="1200" b="0" u="none" strike="noStrike">
              <a:solidFill>
                <a:srgbClr val="FFFFFF"/>
              </a:solidFill>
              <a:effectLst/>
              <a:uFillTx/>
              <a:latin typeface="Arial"/>
            </a:endParaRPr>
          </a:p>
        </p:txBody>
      </p:sp>
      <p:sp>
        <p:nvSpPr>
          <p:cNvPr id="200" name=""/>
          <p:cNvSpPr txBox="1"/>
          <p:nvPr/>
        </p:nvSpPr>
        <p:spPr>
          <a:xfrm>
            <a:off x="548640" y="685800"/>
            <a:ext cx="10058400" cy="731520"/>
          </a:xfrm>
          <a:prstGeom prst="rect">
            <a:avLst/>
          </a:prstGeom>
          <a:noFill/>
          <a:ln w="0">
            <a:noFill/>
          </a:ln>
        </p:spPr>
        <p:txBody>
          <a:bodyPr lIns="90000" tIns="45000" rIns="90000" bIns="45000" anchor="t">
            <a:spAutoFit/>
          </a:bodyPr>
          <a:p>
            <a:r>
              <a:rPr lang="en-US" sz="3000" b="1" u="none" strike="noStrike">
                <a:solidFill>
                  <a:srgbClr val="FFFFFF"/>
                </a:solidFill>
                <a:effectLst/>
                <a:uFillTx/>
                <a:latin typeface="Cambria-Bold"/>
                <a:ea typeface="Cambria-Bold"/>
              </a:rPr>
              <a:t>One to Watch Right Now</a:t>
            </a:r>
            <a:endParaRPr lang="en-US" sz="3000" b="0" u="none" strike="noStrike">
              <a:solidFill>
                <a:srgbClr val="FFFFFF"/>
              </a:solidFill>
              <a:effectLst/>
              <a:uFillTx/>
              <a:latin typeface="Arial"/>
            </a:endParaRPr>
          </a:p>
        </p:txBody>
      </p:sp>
      <p:sp>
        <p:nvSpPr>
          <p:cNvPr id="201" name=""/>
          <p:cNvSpPr/>
          <p:nvPr/>
        </p:nvSpPr>
        <p:spPr>
          <a:xfrm>
            <a:off x="548640" y="1691640"/>
            <a:ext cx="5349600" cy="1920600"/>
          </a:xfrm>
          <a:custGeom>
            <a:avLst/>
            <a:gdLst/>
            <a:ahLst/>
            <a:rect l="0" t="0" r="r" b="b"/>
            <a:pathLst>
              <a:path w="14860" h="5335">
                <a:moveTo>
                  <a:pt x="14631" y="0"/>
                </a:moveTo>
                <a:cubicBezTo>
                  <a:pt x="14784" y="0"/>
                  <a:pt x="14860" y="76"/>
                  <a:pt x="14860" y="228"/>
                </a:cubicBezTo>
                <a:lnTo>
                  <a:pt x="14860" y="5107"/>
                </a:lnTo>
                <a:cubicBezTo>
                  <a:pt x="14860" y="5259"/>
                  <a:pt x="14784" y="5335"/>
                  <a:pt x="14631" y="5335"/>
                </a:cubicBezTo>
                <a:lnTo>
                  <a:pt x="228" y="5335"/>
                </a:lnTo>
                <a:cubicBezTo>
                  <a:pt x="76" y="5335"/>
                  <a:pt x="0" y="5259"/>
                  <a:pt x="0" y="5107"/>
                </a:cubicBezTo>
                <a:lnTo>
                  <a:pt x="0" y="228"/>
                </a:lnTo>
                <a:cubicBezTo>
                  <a:pt x="0" y="76"/>
                  <a:pt x="76" y="0"/>
                  <a:pt x="228" y="0"/>
                </a:cubicBezTo>
                <a:lnTo>
                  <a:pt x="14631"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202" name=""/>
          <p:cNvSpPr txBox="1"/>
          <p:nvPr/>
        </p:nvSpPr>
        <p:spPr>
          <a:xfrm>
            <a:off x="658440" y="1801440"/>
            <a:ext cx="5129640" cy="1056240"/>
          </a:xfrm>
          <a:prstGeom prst="rect">
            <a:avLst/>
          </a:prstGeom>
          <a:noFill/>
          <a:ln w="0">
            <a:noFill/>
          </a:ln>
        </p:spPr>
        <p:txBody>
          <a:bodyPr lIns="90000" tIns="45000" rIns="90000" bIns="45000" anchor="t">
            <a:spAutoFit/>
          </a:bodyPr>
          <a:p>
            <a:r>
              <a:rPr lang="en-US" sz="4400" b="1" u="none" strike="noStrike">
                <a:solidFill>
                  <a:srgbClr val="E9C467"/>
                </a:solidFill>
                <a:effectLst/>
                <a:uFillTx/>
                <a:latin typeface="Cambria-Bold"/>
                <a:ea typeface="Cambria-Bold"/>
              </a:rPr>
              <a:t>0.971</a:t>
            </a:r>
            <a:endParaRPr lang="en-US" sz="4400" b="0" u="none" strike="noStrike">
              <a:solidFill>
                <a:srgbClr val="FFFFFF"/>
              </a:solidFill>
              <a:effectLst/>
              <a:uFillTx/>
              <a:latin typeface="Arial"/>
            </a:endParaRPr>
          </a:p>
        </p:txBody>
      </p:sp>
      <p:sp>
        <p:nvSpPr>
          <p:cNvPr id="203" name=""/>
          <p:cNvSpPr txBox="1"/>
          <p:nvPr/>
        </p:nvSpPr>
        <p:spPr>
          <a:xfrm>
            <a:off x="658440" y="2843640"/>
            <a:ext cx="5129640" cy="72972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reclassification score, current snapshot</a:t>
            </a:r>
            <a:endParaRPr lang="en-US" sz="1100" b="0" u="none" strike="noStrike">
              <a:solidFill>
                <a:srgbClr val="FFFFFF"/>
              </a:solidFill>
              <a:effectLst/>
              <a:uFillTx/>
              <a:latin typeface="Arial"/>
            </a:endParaRPr>
          </a:p>
        </p:txBody>
      </p:sp>
      <p:sp>
        <p:nvSpPr>
          <p:cNvPr id="204" name=""/>
          <p:cNvSpPr txBox="1"/>
          <p:nvPr/>
        </p:nvSpPr>
        <p:spPr>
          <a:xfrm>
            <a:off x="548640" y="3794760"/>
            <a:ext cx="5349240" cy="2194560"/>
          </a:xfrm>
          <a:prstGeom prst="rect">
            <a:avLst/>
          </a:prstGeom>
          <a:noFill/>
          <a:ln w="0">
            <a:noFill/>
          </a:ln>
        </p:spPr>
        <p:txBody>
          <a:bodyPr lIns="90000" tIns="45000" rIns="90000" bIns="45000" anchor="t">
            <a:spAutoFit/>
          </a:bodyPr>
          <a:p>
            <a:pPr>
              <a:lnSpc>
                <a:spcPct val="130000"/>
              </a:lnSpc>
            </a:pPr>
            <a:r>
              <a:rPr lang="en-US" sz="1300" b="0" u="none" strike="noStrike">
                <a:solidFill>
                  <a:srgbClr val="D6DEEC"/>
                </a:solidFill>
                <a:effectLst/>
                <a:uFillTx/>
                <a:latin typeface="Calibri"/>
                <a:ea typeface="Calibri"/>
              </a:rPr>
              <a:t>VariationID 161517 · TP53</a:t>
            </a:r>
            <a:endParaRPr lang="en-US" sz="1300" b="0" u="none" strike="noStrike">
              <a:solidFill>
                <a:srgbClr val="FFFFFF"/>
              </a:solidFill>
              <a:effectLst/>
              <a:uFillTx/>
              <a:latin typeface="Arial"/>
            </a:endParaRPr>
          </a:p>
          <a:p>
            <a:pPr>
              <a:lnSpc>
                <a:spcPct val="130000"/>
              </a:lnSpc>
            </a:pPr>
            <a:r>
              <a:rPr lang="en-US" sz="1300" b="0" u="none" strike="noStrike">
                <a:solidFill>
                  <a:srgbClr val="D6DEEC"/>
                </a:solidFill>
                <a:effectLst/>
                <a:uFillTx/>
                <a:latin typeface="Calibri"/>
                <a:ea typeface="Calibri"/>
              </a:rPr>
              <a:t>A near-identical feature profile to the resolved 376633 case: same gene, same missing gnomAD AF, same MaveDB coverage, but with even more literature support (794 LitVar2 hits vs. 274)</a:t>
            </a:r>
            <a:r>
              <a:rPr lang="en-US" sz="1300" b="0" u="none" strike="noStrike">
                <a:solidFill>
                  <a:srgbClr val="D6DEEC"/>
                </a:solidFill>
                <a:effectLst/>
                <a:uFillTx/>
                <a:latin typeface="Calibri"/>
                <a:ea typeface="Calibri"/>
              </a:rPr>
              <a:t>.</a:t>
            </a:r>
            <a:endParaRPr lang="en-US" sz="1300" b="0" u="none" strike="noStrike">
              <a:solidFill>
                <a:srgbClr val="FFFFFF"/>
              </a:solidFill>
              <a:effectLst/>
              <a:uFillTx/>
              <a:latin typeface="Arial"/>
            </a:endParaRPr>
          </a:p>
        </p:txBody>
      </p:sp>
      <p:sp>
        <p:nvSpPr>
          <p:cNvPr id="205" name=""/>
          <p:cNvSpPr/>
          <p:nvPr/>
        </p:nvSpPr>
        <p:spPr>
          <a:xfrm>
            <a:off x="6126480" y="1691640"/>
            <a:ext cx="5349600" cy="1920600"/>
          </a:xfrm>
          <a:custGeom>
            <a:avLst/>
            <a:gdLst/>
            <a:ahLst/>
            <a:rect l="0" t="0" r="r" b="b"/>
            <a:pathLst>
              <a:path w="14860" h="5335">
                <a:moveTo>
                  <a:pt x="14631" y="0"/>
                </a:moveTo>
                <a:cubicBezTo>
                  <a:pt x="14784" y="0"/>
                  <a:pt x="14860" y="76"/>
                  <a:pt x="14860" y="228"/>
                </a:cubicBezTo>
                <a:lnTo>
                  <a:pt x="14860" y="5107"/>
                </a:lnTo>
                <a:cubicBezTo>
                  <a:pt x="14860" y="5259"/>
                  <a:pt x="14784" y="5335"/>
                  <a:pt x="14631" y="5335"/>
                </a:cubicBezTo>
                <a:lnTo>
                  <a:pt x="228" y="5335"/>
                </a:lnTo>
                <a:cubicBezTo>
                  <a:pt x="76" y="5335"/>
                  <a:pt x="0" y="5259"/>
                  <a:pt x="0" y="5107"/>
                </a:cubicBezTo>
                <a:lnTo>
                  <a:pt x="0" y="228"/>
                </a:lnTo>
                <a:cubicBezTo>
                  <a:pt x="0" y="76"/>
                  <a:pt x="76" y="0"/>
                  <a:pt x="228" y="0"/>
                </a:cubicBezTo>
                <a:lnTo>
                  <a:pt x="14631" y="0"/>
                </a:lnTo>
                <a:close/>
              </a:path>
            </a:pathLst>
          </a:custGeom>
          <a:solidFill>
            <a:srgbClr val="392929"/>
          </a:solidFill>
          <a:ln w="12600">
            <a:solidFill>
              <a:srgbClr val="E76C4E"/>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206" name=""/>
          <p:cNvSpPr txBox="1"/>
          <p:nvPr/>
        </p:nvSpPr>
        <p:spPr>
          <a:xfrm>
            <a:off x="6263640" y="1801440"/>
            <a:ext cx="5074920" cy="1280160"/>
          </a:xfrm>
          <a:prstGeom prst="rect">
            <a:avLst/>
          </a:prstGeom>
          <a:noFill/>
          <a:ln w="0">
            <a:noFill/>
          </a:ln>
        </p:spPr>
        <p:txBody>
          <a:bodyPr lIns="90000" tIns="45000" rIns="90000" bIns="45000" anchor="t">
            <a:spAutoFit/>
          </a:bodyPr>
          <a:p>
            <a:r>
              <a:rPr lang="en-US" sz="3000" b="1" u="none" strike="noStrike">
                <a:solidFill>
                  <a:srgbClr val="E76C4E"/>
                </a:solidFill>
                <a:effectLst/>
                <a:uFillTx/>
                <a:latin typeface="Cambria-Bold"/>
                <a:ea typeface="Cambria-Bold"/>
              </a:rPr>
              <a:t>Still "Conflicting</a:t>
            </a:r>
            <a:r>
              <a:rPr lang="en-US" sz="3000" b="1" u="none" strike="noStrike">
                <a:solidFill>
                  <a:srgbClr val="E76C4E"/>
                </a:solidFill>
                <a:effectLst/>
                <a:uFillTx/>
                <a:latin typeface="Cambria-Bold"/>
                <a:ea typeface="Cambria-Bold"/>
              </a:rPr>
              <a:t>"</a:t>
            </a:r>
            <a:endParaRPr lang="en-US" sz="3000" b="0" u="none" strike="noStrike">
              <a:solidFill>
                <a:srgbClr val="FFFFFF"/>
              </a:solidFill>
              <a:effectLst/>
              <a:uFillTx/>
              <a:latin typeface="Arial"/>
            </a:endParaRPr>
          </a:p>
        </p:txBody>
      </p:sp>
      <p:sp>
        <p:nvSpPr>
          <p:cNvPr id="207" name=""/>
          <p:cNvSpPr txBox="1"/>
          <p:nvPr/>
        </p:nvSpPr>
        <p:spPr>
          <a:xfrm>
            <a:off x="6263640" y="2926080"/>
            <a:ext cx="5074920" cy="45720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current ClinVar status</a:t>
            </a:r>
            <a:endParaRPr lang="en-US" sz="1100" b="0" u="none" strike="noStrike">
              <a:solidFill>
                <a:srgbClr val="FFFFFF"/>
              </a:solidFill>
              <a:effectLst/>
              <a:uFillTx/>
              <a:latin typeface="Arial"/>
            </a:endParaRPr>
          </a:p>
        </p:txBody>
      </p:sp>
      <p:sp>
        <p:nvSpPr>
          <p:cNvPr id="208" name=""/>
          <p:cNvSpPr txBox="1"/>
          <p:nvPr/>
        </p:nvSpPr>
        <p:spPr>
          <a:xfrm>
            <a:off x="6263640" y="3794760"/>
            <a:ext cx="5074920" cy="1828800"/>
          </a:xfrm>
          <a:prstGeom prst="rect">
            <a:avLst/>
          </a:prstGeom>
          <a:noFill/>
          <a:ln w="0">
            <a:noFill/>
          </a:ln>
        </p:spPr>
        <p:txBody>
          <a:bodyPr lIns="90000" tIns="45000" rIns="90000" bIns="45000" anchor="t">
            <a:spAutoFit/>
          </a:bodyPr>
          <a:p>
            <a:pPr>
              <a:lnSpc>
                <a:spcPct val="130000"/>
              </a:lnSpc>
            </a:pPr>
            <a:r>
              <a:rPr lang="en-US" sz="1300" b="0" u="none" strike="noStrike">
                <a:solidFill>
                  <a:srgbClr val="D6DEEC"/>
                </a:solidFill>
                <a:effectLst/>
                <a:uFillTx/>
                <a:latin typeface="Calibri"/>
                <a:ea typeface="Calibri"/>
              </a:rPr>
              <a:t>This is exactly the kind of variant the watchlist exists to surface: it looks statistically like a case that already resolved, but curators haven't reached consensus on it yet</a:t>
            </a:r>
            <a:r>
              <a:rPr lang="en-US" sz="1300" b="0" u="none" strike="noStrike">
                <a:solidFill>
                  <a:srgbClr val="D6DEEC"/>
                </a:solidFill>
                <a:effectLst/>
                <a:uFillTx/>
                <a:latin typeface="Calibri"/>
                <a:ea typeface="Calibri"/>
              </a:rPr>
              <a:t>.</a:t>
            </a:r>
            <a:endParaRPr lang="en-US" sz="1300" b="0" u="none" strike="noStrike">
              <a:solidFill>
                <a:srgbClr val="FFFFFF"/>
              </a:solidFill>
              <a:effectLst/>
              <a:uFillTx/>
              <a:latin typeface="Arial"/>
            </a:endParaRPr>
          </a:p>
        </p:txBody>
      </p:sp>
      <p:sp>
        <p:nvSpPr>
          <p:cNvPr id="209"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7B8AA5"/>
                </a:solidFill>
                <a:effectLst/>
                <a:uFillTx/>
                <a:latin typeface="Calibri"/>
                <a:ea typeface="Calibri"/>
              </a:rPr>
              <a:t>20</a:t>
            </a:r>
            <a:endParaRPr lang="en-US"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0"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GLOBAL WATCHLIST</a:t>
            </a:r>
            <a:endParaRPr lang="en-US" sz="1200" b="0" u="none" strike="noStrike">
              <a:solidFill>
                <a:srgbClr val="000000"/>
              </a:solidFill>
              <a:effectLst/>
              <a:uFillTx/>
              <a:latin typeface="Arial"/>
            </a:endParaRPr>
          </a:p>
        </p:txBody>
      </p:sp>
      <p:sp>
        <p:nvSpPr>
          <p:cNvPr id="211"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The Same Model, Applied to Every VUS in ClinVar</a:t>
            </a:r>
            <a:endParaRPr lang="en-US" sz="3000" b="0" u="none" strike="noStrike">
              <a:solidFill>
                <a:srgbClr val="000000"/>
              </a:solidFill>
              <a:effectLst/>
              <a:uFillTx/>
              <a:latin typeface="Arial"/>
            </a:endParaRPr>
          </a:p>
        </p:txBody>
      </p:sp>
      <p:sp>
        <p:nvSpPr>
          <p:cNvPr id="212" name=""/>
          <p:cNvSpPr txBox="1"/>
          <p:nvPr/>
        </p:nvSpPr>
        <p:spPr>
          <a:xfrm>
            <a:off x="548640" y="1463040"/>
            <a:ext cx="10789920" cy="640080"/>
          </a:xfrm>
          <a:prstGeom prst="rect">
            <a:avLst/>
          </a:prstGeom>
          <a:noFill/>
          <a:ln w="0">
            <a:noFill/>
          </a:ln>
        </p:spPr>
        <p:txBody>
          <a:bodyPr lIns="90000" tIns="45000" rIns="90000" bIns="45000" anchor="t">
            <a:spAutoFit/>
          </a:bodyPr>
          <a:p>
            <a:pPr>
              <a:lnSpc>
                <a:spcPct val="125000"/>
              </a:lnSpc>
            </a:pPr>
            <a:r>
              <a:rPr lang="en-US" sz="1400" b="0" u="none" strike="noStrike">
                <a:solidFill>
                  <a:srgbClr val="2A3547"/>
                </a:solidFill>
                <a:effectLst/>
                <a:uFillTx/>
                <a:latin typeface="Calibri"/>
                <a:ea typeface="Calibri"/>
              </a:rPr>
              <a:t>The model doesn't need case-specific submission history to run. Every feature is computable for any variant currently sitting in ClinVar, so it can rank the entire pool at once, as a standing watchlist</a:t>
            </a:r>
            <a:r>
              <a:rPr lang="en-US" sz="1400" b="0" u="none" strike="noStrike">
                <a:solidFill>
                  <a:srgbClr val="2A3547"/>
                </a:solidFill>
                <a:effectLst/>
                <a:uFillTx/>
                <a:latin typeface="Calibri"/>
                <a:ea typeface="Calibri"/>
              </a:rPr>
              <a:t>.</a:t>
            </a:r>
            <a:endParaRPr lang="en-US" sz="1400" b="0" u="none" strike="noStrike">
              <a:solidFill>
                <a:srgbClr val="000000"/>
              </a:solidFill>
              <a:effectLst/>
              <a:uFillTx/>
              <a:latin typeface="Arial"/>
            </a:endParaRPr>
          </a:p>
        </p:txBody>
      </p:sp>
      <p:sp>
        <p:nvSpPr>
          <p:cNvPr id="213" name=""/>
          <p:cNvSpPr/>
          <p:nvPr/>
        </p:nvSpPr>
        <p:spPr>
          <a:xfrm>
            <a:off x="548640" y="2468880"/>
            <a:ext cx="3456720" cy="1371960"/>
          </a:xfrm>
          <a:custGeom>
            <a:avLst/>
            <a:gdLst/>
            <a:ahLst/>
            <a:rect l="0" t="0" r="r" b="b"/>
            <a:pathLst>
              <a:path w="9602" h="3811">
                <a:moveTo>
                  <a:pt x="9373" y="0"/>
                </a:moveTo>
                <a:cubicBezTo>
                  <a:pt x="9526" y="0"/>
                  <a:pt x="9602" y="76"/>
                  <a:pt x="9602" y="228"/>
                </a:cubicBezTo>
                <a:lnTo>
                  <a:pt x="9602" y="3582"/>
                </a:lnTo>
                <a:cubicBezTo>
                  <a:pt x="9602" y="3735"/>
                  <a:pt x="9526" y="3811"/>
                  <a:pt x="9373" y="3811"/>
                </a:cubicBezTo>
                <a:lnTo>
                  <a:pt x="228" y="3811"/>
                </a:lnTo>
                <a:cubicBezTo>
                  <a:pt x="76" y="3811"/>
                  <a:pt x="0" y="3735"/>
                  <a:pt x="0" y="3582"/>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214" name=""/>
          <p:cNvSpPr txBox="1"/>
          <p:nvPr/>
        </p:nvSpPr>
        <p:spPr>
          <a:xfrm>
            <a:off x="658440" y="2578680"/>
            <a:ext cx="3237120" cy="7545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2,330,308</a:t>
            </a:r>
            <a:endParaRPr lang="en-US" sz="3000" b="0" u="none" strike="noStrike">
              <a:solidFill>
                <a:srgbClr val="000000"/>
              </a:solidFill>
              <a:effectLst/>
              <a:uFillTx/>
              <a:latin typeface="Arial"/>
            </a:endParaRPr>
          </a:p>
        </p:txBody>
      </p:sp>
      <p:sp>
        <p:nvSpPr>
          <p:cNvPr id="215" name=""/>
          <p:cNvSpPr txBox="1"/>
          <p:nvPr/>
        </p:nvSpPr>
        <p:spPr>
          <a:xfrm>
            <a:off x="658440" y="3291840"/>
            <a:ext cx="3237120" cy="52128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VUS currently in ClinVar, scored</a:t>
            </a:r>
            <a:endParaRPr lang="en-US" sz="1100" b="0" u="none" strike="noStrike">
              <a:solidFill>
                <a:srgbClr val="000000"/>
              </a:solidFill>
              <a:effectLst/>
              <a:uFillTx/>
              <a:latin typeface="Arial"/>
            </a:endParaRPr>
          </a:p>
        </p:txBody>
      </p:sp>
      <p:sp>
        <p:nvSpPr>
          <p:cNvPr id="216" name=""/>
          <p:cNvSpPr/>
          <p:nvPr/>
        </p:nvSpPr>
        <p:spPr>
          <a:xfrm>
            <a:off x="4187880" y="2468880"/>
            <a:ext cx="3456720" cy="1371960"/>
          </a:xfrm>
          <a:custGeom>
            <a:avLst/>
            <a:gdLst/>
            <a:ahLst/>
            <a:rect l="0" t="0" r="r" b="b"/>
            <a:pathLst>
              <a:path w="9602" h="3811">
                <a:moveTo>
                  <a:pt x="9373" y="0"/>
                </a:moveTo>
                <a:cubicBezTo>
                  <a:pt x="9526" y="0"/>
                  <a:pt x="9602" y="76"/>
                  <a:pt x="9602" y="228"/>
                </a:cubicBezTo>
                <a:lnTo>
                  <a:pt x="9602" y="3582"/>
                </a:lnTo>
                <a:cubicBezTo>
                  <a:pt x="9602" y="3735"/>
                  <a:pt x="9526" y="3811"/>
                  <a:pt x="9373" y="3811"/>
                </a:cubicBezTo>
                <a:lnTo>
                  <a:pt x="228" y="3811"/>
                </a:lnTo>
                <a:cubicBezTo>
                  <a:pt x="76" y="3811"/>
                  <a:pt x="0" y="3735"/>
                  <a:pt x="0" y="3582"/>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217" name=""/>
          <p:cNvSpPr txBox="1"/>
          <p:nvPr/>
        </p:nvSpPr>
        <p:spPr>
          <a:xfrm>
            <a:off x="4297680" y="2578680"/>
            <a:ext cx="3237120" cy="7545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37,167</a:t>
            </a:r>
            <a:endParaRPr lang="en-US" sz="3000" b="0" u="none" strike="noStrike">
              <a:solidFill>
                <a:srgbClr val="000000"/>
              </a:solidFill>
              <a:effectLst/>
              <a:uFillTx/>
              <a:latin typeface="Arial"/>
            </a:endParaRPr>
          </a:p>
        </p:txBody>
      </p:sp>
      <p:sp>
        <p:nvSpPr>
          <p:cNvPr id="218" name=""/>
          <p:cNvSpPr txBox="1"/>
          <p:nvPr/>
        </p:nvSpPr>
        <p:spPr>
          <a:xfrm>
            <a:off x="4297680" y="3291840"/>
            <a:ext cx="3237120" cy="52128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score ≥ 0.70 (1.6% of the pool)</a:t>
            </a:r>
            <a:endParaRPr lang="en-US" sz="1100" b="0" u="none" strike="noStrike">
              <a:solidFill>
                <a:srgbClr val="000000"/>
              </a:solidFill>
              <a:effectLst/>
              <a:uFillTx/>
              <a:latin typeface="Arial"/>
            </a:endParaRPr>
          </a:p>
        </p:txBody>
      </p:sp>
      <p:sp>
        <p:nvSpPr>
          <p:cNvPr id="219" name=""/>
          <p:cNvSpPr/>
          <p:nvPr/>
        </p:nvSpPr>
        <p:spPr>
          <a:xfrm>
            <a:off x="7827120" y="2468880"/>
            <a:ext cx="3456720" cy="1371960"/>
          </a:xfrm>
          <a:custGeom>
            <a:avLst/>
            <a:gdLst/>
            <a:ahLst/>
            <a:rect l="0" t="0" r="r" b="b"/>
            <a:pathLst>
              <a:path w="9602" h="3811">
                <a:moveTo>
                  <a:pt x="9373" y="0"/>
                </a:moveTo>
                <a:cubicBezTo>
                  <a:pt x="9526" y="0"/>
                  <a:pt x="9602" y="76"/>
                  <a:pt x="9602" y="228"/>
                </a:cubicBezTo>
                <a:lnTo>
                  <a:pt x="9602" y="3582"/>
                </a:lnTo>
                <a:cubicBezTo>
                  <a:pt x="9602" y="3735"/>
                  <a:pt x="9526" y="3811"/>
                  <a:pt x="9373" y="3811"/>
                </a:cubicBezTo>
                <a:lnTo>
                  <a:pt x="228" y="3811"/>
                </a:lnTo>
                <a:cubicBezTo>
                  <a:pt x="76" y="3811"/>
                  <a:pt x="0" y="3735"/>
                  <a:pt x="0" y="3582"/>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220" name=""/>
          <p:cNvSpPr txBox="1"/>
          <p:nvPr/>
        </p:nvSpPr>
        <p:spPr>
          <a:xfrm>
            <a:off x="7936920" y="2578680"/>
            <a:ext cx="3237120" cy="7545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12,014</a:t>
            </a:r>
            <a:endParaRPr lang="en-US" sz="3000" b="0" u="none" strike="noStrike">
              <a:solidFill>
                <a:srgbClr val="000000"/>
              </a:solidFill>
              <a:effectLst/>
              <a:uFillTx/>
              <a:latin typeface="Arial"/>
            </a:endParaRPr>
          </a:p>
        </p:txBody>
      </p:sp>
      <p:sp>
        <p:nvSpPr>
          <p:cNvPr id="221" name=""/>
          <p:cNvSpPr txBox="1"/>
          <p:nvPr/>
        </p:nvSpPr>
        <p:spPr>
          <a:xfrm>
            <a:off x="7936920" y="3291840"/>
            <a:ext cx="3237120" cy="52128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of this cohort's own 12,550 mutated genes appear somewhere in the watchlist</a:t>
            </a:r>
            <a:endParaRPr lang="en-US" sz="1100" b="0" u="none" strike="noStrike">
              <a:solidFill>
                <a:srgbClr val="000000"/>
              </a:solidFill>
              <a:effectLst/>
              <a:uFillTx/>
              <a:latin typeface="Arial"/>
            </a:endParaRPr>
          </a:p>
        </p:txBody>
      </p:sp>
      <p:sp>
        <p:nvSpPr>
          <p:cNvPr id="222"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21</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3"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GLOBAL WATCHLIST</a:t>
            </a:r>
            <a:endParaRPr lang="en-US" sz="1200" b="0" u="none" strike="noStrike">
              <a:solidFill>
                <a:srgbClr val="000000"/>
              </a:solidFill>
              <a:effectLst/>
              <a:uFillTx/>
              <a:latin typeface="Arial"/>
            </a:endParaRPr>
          </a:p>
        </p:txBody>
      </p:sp>
      <p:sp>
        <p:nvSpPr>
          <p:cNvPr id="224"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Which Genes Dominate the High-Probability Pool</a:t>
            </a:r>
            <a:endParaRPr lang="en-US" sz="3000" b="0" u="none" strike="noStrike">
              <a:solidFill>
                <a:srgbClr val="000000"/>
              </a:solidFill>
              <a:effectLst/>
              <a:uFillTx/>
              <a:latin typeface="Arial"/>
            </a:endParaRPr>
          </a:p>
        </p:txBody>
      </p:sp>
      <p:sp>
        <p:nvSpPr>
          <p:cNvPr id="225" name=""/>
          <p:cNvSpPr txBox="1"/>
          <p:nvPr/>
        </p:nvSpPr>
        <p:spPr>
          <a:xfrm>
            <a:off x="548640" y="1417320"/>
            <a:ext cx="10789920" cy="365760"/>
          </a:xfrm>
          <a:prstGeom prst="rect">
            <a:avLst/>
          </a:prstGeom>
          <a:noFill/>
          <a:ln w="0">
            <a:noFill/>
          </a:ln>
        </p:spPr>
        <p:txBody>
          <a:bodyPr lIns="90000" tIns="45000" rIns="90000" bIns="45000" anchor="t">
            <a:spAutoFit/>
          </a:bodyPr>
          <a:p>
            <a:pPr>
              <a:lnSpc>
                <a:spcPct val="125000"/>
              </a:lnSpc>
            </a:pPr>
            <a:r>
              <a:rPr lang="en-US" sz="1300" b="0" u="none" strike="noStrike">
                <a:solidFill>
                  <a:srgbClr val="475265"/>
                </a:solidFill>
                <a:effectLst/>
                <a:uFillTx/>
                <a:latin typeface="Calibri"/>
                <a:ea typeface="Calibri"/>
              </a:rPr>
              <a:t>Counting genes among the 37,167 watchlist variants scoring ≥ 0.70:</a:t>
            </a:r>
            <a:endParaRPr lang="en-US" sz="1300" b="0" u="none" strike="noStrike">
              <a:solidFill>
                <a:srgbClr val="000000"/>
              </a:solidFill>
              <a:effectLst/>
              <a:uFillTx/>
              <a:latin typeface="Arial"/>
            </a:endParaRPr>
          </a:p>
        </p:txBody>
      </p:sp>
      <p:sp>
        <p:nvSpPr>
          <p:cNvPr id="226" name=""/>
          <p:cNvSpPr txBox="1"/>
          <p:nvPr/>
        </p:nvSpPr>
        <p:spPr>
          <a:xfrm>
            <a:off x="548640" y="192024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SCN1A</a:t>
            </a:r>
            <a:endParaRPr lang="en-US" sz="1200" b="0" u="none" strike="noStrike">
              <a:solidFill>
                <a:srgbClr val="000000"/>
              </a:solidFill>
              <a:effectLst/>
              <a:uFillTx/>
              <a:latin typeface="Arial"/>
            </a:endParaRPr>
          </a:p>
        </p:txBody>
      </p:sp>
      <p:sp>
        <p:nvSpPr>
          <p:cNvPr id="227" name=""/>
          <p:cNvSpPr/>
          <p:nvPr/>
        </p:nvSpPr>
        <p:spPr>
          <a:xfrm>
            <a:off x="2194560" y="1965960"/>
            <a:ext cx="7772760" cy="274680"/>
          </a:xfrm>
          <a:custGeom>
            <a:avLst/>
            <a:gdLst/>
            <a:ahLst/>
            <a:rect l="0" t="0" r="r" b="b"/>
            <a:pathLst>
              <a:path w="21591" h="763">
                <a:moveTo>
                  <a:pt x="0" y="0"/>
                </a:moveTo>
                <a:lnTo>
                  <a:pt x="21591" y="0"/>
                </a:lnTo>
                <a:lnTo>
                  <a:pt x="21591"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28" name=""/>
          <p:cNvSpPr txBox="1"/>
          <p:nvPr/>
        </p:nvSpPr>
        <p:spPr>
          <a:xfrm>
            <a:off x="10058400" y="192024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1,006</a:t>
            </a:r>
            <a:endParaRPr lang="en-US" sz="1200" b="0" u="none" strike="noStrike">
              <a:solidFill>
                <a:srgbClr val="000000"/>
              </a:solidFill>
              <a:effectLst/>
              <a:uFillTx/>
              <a:latin typeface="Arial"/>
            </a:endParaRPr>
          </a:p>
        </p:txBody>
      </p:sp>
      <p:sp>
        <p:nvSpPr>
          <p:cNvPr id="229" name=""/>
          <p:cNvSpPr txBox="1"/>
          <p:nvPr/>
        </p:nvSpPr>
        <p:spPr>
          <a:xfrm>
            <a:off x="548640" y="234072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MTOR</a:t>
            </a:r>
            <a:endParaRPr lang="en-US" sz="1200" b="0" u="none" strike="noStrike">
              <a:solidFill>
                <a:srgbClr val="000000"/>
              </a:solidFill>
              <a:effectLst/>
              <a:uFillTx/>
              <a:latin typeface="Arial"/>
            </a:endParaRPr>
          </a:p>
        </p:txBody>
      </p:sp>
      <p:sp>
        <p:nvSpPr>
          <p:cNvPr id="230" name=""/>
          <p:cNvSpPr/>
          <p:nvPr/>
        </p:nvSpPr>
        <p:spPr>
          <a:xfrm>
            <a:off x="2194560" y="2386440"/>
            <a:ext cx="5354396" cy="274680"/>
          </a:xfrm>
          <a:custGeom>
            <a:avLst/>
            <a:gdLst/>
            <a:ahLst/>
            <a:rect l="0" t="0" r="r" b="b"/>
            <a:pathLst>
              <a:path w="17746" h="763">
                <a:moveTo>
                  <a:pt x="0" y="0"/>
                </a:moveTo>
                <a:lnTo>
                  <a:pt x="17746" y="0"/>
                </a:lnTo>
                <a:lnTo>
                  <a:pt x="17746"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31" name=""/>
          <p:cNvSpPr txBox="1"/>
          <p:nvPr/>
        </p:nvSpPr>
        <p:spPr>
          <a:xfrm>
            <a:off x="7640036" y="234072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693</a:t>
            </a:r>
            <a:endParaRPr lang="en-US" sz="1200" b="0" u="none" strike="noStrike">
              <a:solidFill>
                <a:srgbClr val="000000"/>
              </a:solidFill>
              <a:effectLst/>
              <a:uFillTx/>
              <a:latin typeface="Arial"/>
            </a:endParaRPr>
          </a:p>
        </p:txBody>
      </p:sp>
      <p:sp>
        <p:nvSpPr>
          <p:cNvPr id="232" name=""/>
          <p:cNvSpPr txBox="1"/>
          <p:nvPr/>
        </p:nvSpPr>
        <p:spPr>
          <a:xfrm>
            <a:off x="548640" y="276156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SCN2A</a:t>
            </a:r>
            <a:endParaRPr lang="en-US" sz="1200" b="0" u="none" strike="noStrike">
              <a:solidFill>
                <a:srgbClr val="000000"/>
              </a:solidFill>
              <a:effectLst/>
              <a:uFillTx/>
              <a:latin typeface="Arial"/>
            </a:endParaRPr>
          </a:p>
        </p:txBody>
      </p:sp>
      <p:sp>
        <p:nvSpPr>
          <p:cNvPr id="233" name=""/>
          <p:cNvSpPr/>
          <p:nvPr/>
        </p:nvSpPr>
        <p:spPr>
          <a:xfrm>
            <a:off x="2194560" y="2807280"/>
            <a:ext cx="3940465" cy="274680"/>
          </a:xfrm>
          <a:custGeom>
            <a:avLst/>
            <a:gdLst/>
            <a:ahLst/>
            <a:rect l="0" t="0" r="r" b="b"/>
            <a:pathLst>
              <a:path w="16711" h="763">
                <a:moveTo>
                  <a:pt x="0" y="0"/>
                </a:moveTo>
                <a:lnTo>
                  <a:pt x="16711" y="0"/>
                </a:lnTo>
                <a:lnTo>
                  <a:pt x="16711"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34" name=""/>
          <p:cNvSpPr txBox="1"/>
          <p:nvPr/>
        </p:nvSpPr>
        <p:spPr>
          <a:xfrm>
            <a:off x="6226105" y="276156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510</a:t>
            </a:r>
            <a:endParaRPr lang="en-US" sz="1200" b="0" u="none" strike="noStrike">
              <a:solidFill>
                <a:srgbClr val="000000"/>
              </a:solidFill>
              <a:effectLst/>
              <a:uFillTx/>
              <a:latin typeface="Arial"/>
            </a:endParaRPr>
          </a:p>
        </p:txBody>
      </p:sp>
      <p:sp>
        <p:nvSpPr>
          <p:cNvPr id="235" name=""/>
          <p:cNvSpPr txBox="1"/>
          <p:nvPr/>
        </p:nvSpPr>
        <p:spPr>
          <a:xfrm>
            <a:off x="548640" y="318204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TTN</a:t>
            </a:r>
            <a:endParaRPr lang="en-US" sz="1200" b="0" u="none" strike="noStrike">
              <a:solidFill>
                <a:srgbClr val="000000"/>
              </a:solidFill>
              <a:effectLst/>
              <a:uFillTx/>
              <a:latin typeface="Arial"/>
            </a:endParaRPr>
          </a:p>
        </p:txBody>
      </p:sp>
      <p:sp>
        <p:nvSpPr>
          <p:cNvPr id="236" name=""/>
          <p:cNvSpPr/>
          <p:nvPr/>
        </p:nvSpPr>
        <p:spPr>
          <a:xfrm>
            <a:off x="2194560" y="3227760"/>
            <a:ext cx="3793663" cy="274680"/>
          </a:xfrm>
          <a:custGeom>
            <a:avLst/>
            <a:gdLst/>
            <a:ahLst/>
            <a:rect l="0" t="0" r="r" b="b"/>
            <a:pathLst>
              <a:path w="15380" h="763">
                <a:moveTo>
                  <a:pt x="0" y="0"/>
                </a:moveTo>
                <a:lnTo>
                  <a:pt x="15380" y="0"/>
                </a:lnTo>
                <a:lnTo>
                  <a:pt x="15380"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37" name=""/>
          <p:cNvSpPr txBox="1"/>
          <p:nvPr/>
        </p:nvSpPr>
        <p:spPr>
          <a:xfrm>
            <a:off x="6079303" y="318204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491</a:t>
            </a:r>
            <a:endParaRPr lang="en-US" sz="1200" b="0" u="none" strike="noStrike">
              <a:solidFill>
                <a:srgbClr val="000000"/>
              </a:solidFill>
              <a:effectLst/>
              <a:uFillTx/>
              <a:latin typeface="Arial"/>
            </a:endParaRPr>
          </a:p>
        </p:txBody>
      </p:sp>
      <p:sp>
        <p:nvSpPr>
          <p:cNvPr id="238" name=""/>
          <p:cNvSpPr txBox="1"/>
          <p:nvPr/>
        </p:nvSpPr>
        <p:spPr>
          <a:xfrm>
            <a:off x="548640" y="360288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NF1</a:t>
            </a:r>
            <a:endParaRPr lang="en-US" sz="1200" b="0" u="none" strike="noStrike">
              <a:solidFill>
                <a:srgbClr val="000000"/>
              </a:solidFill>
              <a:effectLst/>
              <a:uFillTx/>
              <a:latin typeface="Arial"/>
            </a:endParaRPr>
          </a:p>
        </p:txBody>
      </p:sp>
      <p:sp>
        <p:nvSpPr>
          <p:cNvPr id="239" name=""/>
          <p:cNvSpPr/>
          <p:nvPr/>
        </p:nvSpPr>
        <p:spPr>
          <a:xfrm>
            <a:off x="2194560" y="3648600"/>
            <a:ext cx="3677767" cy="274680"/>
          </a:xfrm>
          <a:custGeom>
            <a:avLst/>
            <a:gdLst/>
            <a:ahLst/>
            <a:rect l="0" t="0" r="r" b="b"/>
            <a:pathLst>
              <a:path w="15232" h="763">
                <a:moveTo>
                  <a:pt x="0" y="0"/>
                </a:moveTo>
                <a:lnTo>
                  <a:pt x="15232" y="0"/>
                </a:lnTo>
                <a:lnTo>
                  <a:pt x="15232"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40" name=""/>
          <p:cNvSpPr txBox="1"/>
          <p:nvPr/>
        </p:nvSpPr>
        <p:spPr>
          <a:xfrm>
            <a:off x="5963407" y="360288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476</a:t>
            </a:r>
            <a:endParaRPr lang="en-US" sz="1200" b="0" u="none" strike="noStrike">
              <a:solidFill>
                <a:srgbClr val="000000"/>
              </a:solidFill>
              <a:effectLst/>
              <a:uFillTx/>
              <a:latin typeface="Arial"/>
            </a:endParaRPr>
          </a:p>
        </p:txBody>
      </p:sp>
      <p:sp>
        <p:nvSpPr>
          <p:cNvPr id="241" name=""/>
          <p:cNvSpPr txBox="1"/>
          <p:nvPr/>
        </p:nvSpPr>
        <p:spPr>
          <a:xfrm>
            <a:off x="548640" y="402336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EHMT1</a:t>
            </a:r>
            <a:endParaRPr lang="en-US" sz="1200" b="0" u="none" strike="noStrike">
              <a:solidFill>
                <a:srgbClr val="000000"/>
              </a:solidFill>
              <a:effectLst/>
              <a:uFillTx/>
              <a:latin typeface="Arial"/>
            </a:endParaRPr>
          </a:p>
        </p:txBody>
      </p:sp>
      <p:sp>
        <p:nvSpPr>
          <p:cNvPr id="242" name=""/>
          <p:cNvSpPr/>
          <p:nvPr/>
        </p:nvSpPr>
        <p:spPr>
          <a:xfrm>
            <a:off x="2194560" y="4069080"/>
            <a:ext cx="3013297" cy="274680"/>
          </a:xfrm>
          <a:custGeom>
            <a:avLst/>
            <a:gdLst/>
            <a:ahLst/>
            <a:rect l="0" t="0" r="r" b="b"/>
            <a:pathLst>
              <a:path w="13458" h="763">
                <a:moveTo>
                  <a:pt x="0" y="0"/>
                </a:moveTo>
                <a:lnTo>
                  <a:pt x="13458" y="0"/>
                </a:lnTo>
                <a:lnTo>
                  <a:pt x="13458"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43" name=""/>
          <p:cNvSpPr txBox="1"/>
          <p:nvPr/>
        </p:nvSpPr>
        <p:spPr>
          <a:xfrm>
            <a:off x="5298937" y="402336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390</a:t>
            </a:r>
            <a:endParaRPr lang="en-US" sz="1200" b="0" u="none" strike="noStrike">
              <a:solidFill>
                <a:srgbClr val="000000"/>
              </a:solidFill>
              <a:effectLst/>
              <a:uFillTx/>
              <a:latin typeface="Arial"/>
            </a:endParaRPr>
          </a:p>
        </p:txBody>
      </p:sp>
      <p:sp>
        <p:nvSpPr>
          <p:cNvPr id="244" name=""/>
          <p:cNvSpPr txBox="1"/>
          <p:nvPr/>
        </p:nvSpPr>
        <p:spPr>
          <a:xfrm>
            <a:off x="548640" y="444384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MECP2</a:t>
            </a:r>
            <a:endParaRPr lang="en-US" sz="1200" b="0" u="none" strike="noStrike">
              <a:solidFill>
                <a:srgbClr val="000000"/>
              </a:solidFill>
              <a:effectLst/>
              <a:uFillTx/>
              <a:latin typeface="Arial"/>
            </a:endParaRPr>
          </a:p>
        </p:txBody>
      </p:sp>
      <p:sp>
        <p:nvSpPr>
          <p:cNvPr id="245" name=""/>
          <p:cNvSpPr/>
          <p:nvPr/>
        </p:nvSpPr>
        <p:spPr>
          <a:xfrm>
            <a:off x="2194560" y="4489560"/>
            <a:ext cx="2781505" cy="274680"/>
          </a:xfrm>
          <a:custGeom>
            <a:avLst/>
            <a:gdLst/>
            <a:ahLst/>
            <a:rect l="0" t="0" r="r" b="b"/>
            <a:pathLst>
              <a:path w="12570" h="763">
                <a:moveTo>
                  <a:pt x="0" y="0"/>
                </a:moveTo>
                <a:lnTo>
                  <a:pt x="12570" y="0"/>
                </a:lnTo>
                <a:lnTo>
                  <a:pt x="12570"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46" name=""/>
          <p:cNvSpPr txBox="1"/>
          <p:nvPr/>
        </p:nvSpPr>
        <p:spPr>
          <a:xfrm>
            <a:off x="5067145" y="444384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360</a:t>
            </a:r>
            <a:endParaRPr lang="en-US" sz="1200" b="0" u="none" strike="noStrike">
              <a:solidFill>
                <a:srgbClr val="000000"/>
              </a:solidFill>
              <a:effectLst/>
              <a:uFillTx/>
              <a:latin typeface="Arial"/>
            </a:endParaRPr>
          </a:p>
        </p:txBody>
      </p:sp>
      <p:sp>
        <p:nvSpPr>
          <p:cNvPr id="247" name=""/>
          <p:cNvSpPr txBox="1"/>
          <p:nvPr/>
        </p:nvSpPr>
        <p:spPr>
          <a:xfrm>
            <a:off x="548640" y="486468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GRIN2B</a:t>
            </a:r>
            <a:endParaRPr lang="en-US" sz="1200" b="0" u="none" strike="noStrike">
              <a:solidFill>
                <a:srgbClr val="000000"/>
              </a:solidFill>
              <a:effectLst/>
              <a:uFillTx/>
              <a:latin typeface="Arial"/>
            </a:endParaRPr>
          </a:p>
        </p:txBody>
      </p:sp>
      <p:sp>
        <p:nvSpPr>
          <p:cNvPr id="248" name=""/>
          <p:cNvSpPr/>
          <p:nvPr/>
        </p:nvSpPr>
        <p:spPr>
          <a:xfrm>
            <a:off x="2194560" y="4910400"/>
            <a:ext cx="2696514" cy="274680"/>
          </a:xfrm>
          <a:custGeom>
            <a:avLst/>
            <a:gdLst/>
            <a:ahLst/>
            <a:rect l="0" t="0" r="r" b="b"/>
            <a:pathLst>
              <a:path w="11092" h="763">
                <a:moveTo>
                  <a:pt x="0" y="0"/>
                </a:moveTo>
                <a:lnTo>
                  <a:pt x="11092" y="0"/>
                </a:lnTo>
                <a:lnTo>
                  <a:pt x="11092"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49" name=""/>
          <p:cNvSpPr txBox="1"/>
          <p:nvPr/>
        </p:nvSpPr>
        <p:spPr>
          <a:xfrm>
            <a:off x="4982154" y="486468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349</a:t>
            </a:r>
            <a:endParaRPr lang="en-US" sz="1200" b="0" u="none" strike="noStrike">
              <a:solidFill>
                <a:srgbClr val="000000"/>
              </a:solidFill>
              <a:effectLst/>
              <a:uFillTx/>
              <a:latin typeface="Arial"/>
            </a:endParaRPr>
          </a:p>
        </p:txBody>
      </p:sp>
      <p:sp>
        <p:nvSpPr>
          <p:cNvPr id="250" name=""/>
          <p:cNvSpPr txBox="1"/>
          <p:nvPr/>
        </p:nvSpPr>
        <p:spPr>
          <a:xfrm>
            <a:off x="548640" y="528516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ATM</a:t>
            </a:r>
            <a:endParaRPr lang="en-US" sz="1200" b="0" u="none" strike="noStrike">
              <a:solidFill>
                <a:srgbClr val="000000"/>
              </a:solidFill>
              <a:effectLst/>
              <a:uFillTx/>
              <a:latin typeface="Arial"/>
            </a:endParaRPr>
          </a:p>
        </p:txBody>
      </p:sp>
      <p:sp>
        <p:nvSpPr>
          <p:cNvPr id="251" name=""/>
          <p:cNvSpPr/>
          <p:nvPr/>
        </p:nvSpPr>
        <p:spPr>
          <a:xfrm>
            <a:off x="2194560" y="5330880"/>
            <a:ext cx="2518807" cy="274680"/>
          </a:xfrm>
          <a:custGeom>
            <a:avLst/>
            <a:gdLst/>
            <a:ahLst/>
            <a:rect l="0" t="0" r="r" b="b"/>
            <a:pathLst>
              <a:path w="9613" h="763">
                <a:moveTo>
                  <a:pt x="0" y="0"/>
                </a:moveTo>
                <a:lnTo>
                  <a:pt x="9613" y="0"/>
                </a:lnTo>
                <a:lnTo>
                  <a:pt x="9613"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52" name=""/>
          <p:cNvSpPr txBox="1"/>
          <p:nvPr/>
        </p:nvSpPr>
        <p:spPr>
          <a:xfrm>
            <a:off x="4804447" y="528516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326</a:t>
            </a:r>
            <a:endParaRPr lang="en-US" sz="1200" b="0" u="none" strike="noStrike">
              <a:solidFill>
                <a:srgbClr val="000000"/>
              </a:solidFill>
              <a:effectLst/>
              <a:uFillTx/>
              <a:latin typeface="Arial"/>
            </a:endParaRPr>
          </a:p>
        </p:txBody>
      </p:sp>
      <p:sp>
        <p:nvSpPr>
          <p:cNvPr id="253" name=""/>
          <p:cNvSpPr txBox="1"/>
          <p:nvPr/>
        </p:nvSpPr>
        <p:spPr>
          <a:xfrm>
            <a:off x="548640" y="570600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MSH2</a:t>
            </a:r>
            <a:endParaRPr lang="en-US" sz="1200" b="0" u="none" strike="noStrike">
              <a:solidFill>
                <a:srgbClr val="000000"/>
              </a:solidFill>
              <a:effectLst/>
              <a:uFillTx/>
              <a:latin typeface="Arial"/>
            </a:endParaRPr>
          </a:p>
        </p:txBody>
      </p:sp>
      <p:sp>
        <p:nvSpPr>
          <p:cNvPr id="254" name=""/>
          <p:cNvSpPr/>
          <p:nvPr/>
        </p:nvSpPr>
        <p:spPr>
          <a:xfrm>
            <a:off x="2194560" y="5751720"/>
            <a:ext cx="2441543" cy="274680"/>
          </a:xfrm>
          <a:custGeom>
            <a:avLst/>
            <a:gdLst/>
            <a:ahLst/>
            <a:rect l="0" t="0" r="r" b="b"/>
            <a:pathLst>
              <a:path w="8578" h="763">
                <a:moveTo>
                  <a:pt x="0" y="0"/>
                </a:moveTo>
                <a:lnTo>
                  <a:pt x="8578" y="0"/>
                </a:lnTo>
                <a:lnTo>
                  <a:pt x="8578"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55" name=""/>
          <p:cNvSpPr txBox="1"/>
          <p:nvPr/>
        </p:nvSpPr>
        <p:spPr>
          <a:xfrm>
            <a:off x="4727183" y="570600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316</a:t>
            </a:r>
            <a:endParaRPr lang="en-US" sz="1200" b="0" u="none" strike="noStrike">
              <a:solidFill>
                <a:srgbClr val="000000"/>
              </a:solidFill>
              <a:effectLst/>
              <a:uFillTx/>
              <a:latin typeface="Arial"/>
            </a:endParaRPr>
          </a:p>
        </p:txBody>
      </p:sp>
      <p:sp>
        <p:nvSpPr>
          <p:cNvPr id="256"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22</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7"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GLOBAL WATCHLIST</a:t>
            </a:r>
            <a:endParaRPr lang="en-US" sz="1200" b="0" u="none" strike="noStrike">
              <a:solidFill>
                <a:srgbClr val="000000"/>
              </a:solidFill>
              <a:effectLst/>
              <a:uFillTx/>
              <a:latin typeface="Arial"/>
            </a:endParaRPr>
          </a:p>
        </p:txBody>
      </p:sp>
      <p:sp>
        <p:nvSpPr>
          <p:cNvPr id="258" name=""/>
          <p:cNvSpPr txBox="1"/>
          <p:nvPr/>
        </p:nvSpPr>
        <p:spPr>
          <a:xfrm>
            <a:off x="548640" y="658440"/>
            <a:ext cx="10789920" cy="777240"/>
          </a:xfrm>
          <a:prstGeom prst="rect">
            <a:avLst/>
          </a:prstGeom>
          <a:noFill/>
          <a:ln w="0">
            <a:noFill/>
          </a:ln>
        </p:spPr>
        <p:txBody>
          <a:bodyPr lIns="90000" tIns="45000" rIns="90000" bIns="45000" anchor="t">
            <a:spAutoFit/>
          </a:bodyPr>
          <a:p>
            <a:r>
              <a:rPr lang="en-US" sz="2700" b="1" u="none" strike="noStrike">
                <a:solidFill>
                  <a:srgbClr val="1F242E"/>
                </a:solidFill>
                <a:effectLst/>
                <a:uFillTx/>
                <a:latin typeface="Cambria-Bold"/>
                <a:ea typeface="Cambria-Bold"/>
              </a:rPr>
              <a:t>Top 20 VUS Most Likely to Reclassify, By Cancer Type</a:t>
            </a:r>
            <a:endParaRPr lang="en-US" sz="2700" b="0" u="none" strike="noStrike">
              <a:solidFill>
                <a:srgbClr val="000000"/>
              </a:solidFill>
              <a:effectLst/>
              <a:uFillTx/>
              <a:latin typeface="Arial"/>
            </a:endParaRPr>
          </a:p>
        </p:txBody>
      </p:sp>
      <p:sp>
        <p:nvSpPr>
          <p:cNvPr id="259" name=""/>
          <p:cNvSpPr txBox="1"/>
          <p:nvPr/>
        </p:nvSpPr>
        <p:spPr>
          <a:xfrm>
            <a:off x="548640" y="1234440"/>
            <a:ext cx="11064240" cy="777240"/>
          </a:xfrm>
          <a:prstGeom prst="rect">
            <a:avLst/>
          </a:prstGeom>
          <a:noFill/>
          <a:ln w="0">
            <a:noFill/>
          </a:ln>
        </p:spPr>
        <p:txBody>
          <a:bodyPr lIns="90000" tIns="45000" rIns="90000" bIns="45000" anchor="t">
            <a:spAutoFit/>
          </a:bodyPr>
          <a:p>
            <a:pPr>
              <a:lnSpc>
                <a:spcPct val="125000"/>
              </a:lnSpc>
            </a:pPr>
            <a:r>
              <a:rPr lang="en-US" sz="1100" b="0" u="none" strike="noStrike">
                <a:solidFill>
                  <a:srgbClr val="475265"/>
                </a:solidFill>
                <a:effectLst/>
                <a:uFillTx/>
                <a:latin typeface="Calibri"/>
                <a:ea typeface="Calibri"/>
              </a:rPr>
              <a:t>Genes actually mutated in this cohort's tumors, cross-referenced against the global ClinVar watchlist and ranked by reclassification score. Cancer type reflects where the gene appears in this project's own training data. ClinVar itself carries no cancer-type label, so a gene mutated in more than one of the 7 cancer types is listed against all of them</a:t>
            </a:r>
            <a:r>
              <a:rPr lang="en-US" sz="1100" b="0" u="none" strike="noStrike">
                <a:solidFill>
                  <a:srgbClr val="475265"/>
                </a:solidFill>
                <a:effectLst/>
                <a:uFillTx/>
                <a:latin typeface="Calibri"/>
                <a:ea typeface="Calibri"/>
              </a:rPr>
              <a:t>.</a:t>
            </a:r>
            <a:endParaRPr lang="en-US" sz="1100" b="0" u="none" strike="noStrike">
              <a:solidFill>
                <a:srgbClr val="000000"/>
              </a:solidFill>
              <a:effectLst/>
              <a:uFillTx/>
              <a:latin typeface="Arial"/>
            </a:endParaRPr>
          </a:p>
        </p:txBody>
      </p:sp>
      <p:graphicFrame>
        <p:nvGraphicFramePr>
          <p:cNvPr id="260" name=""/>
          <p:cNvGraphicFramePr/>
          <p:nvPr/>
        </p:nvGraphicFramePr>
        <p:xfrm>
          <a:off x="548640" y="2057400"/>
          <a:ext cx="11064240" cy="3620880"/>
        </p:xfrm>
        <a:graphic>
          <a:graphicData uri="http://schemas.openxmlformats.org/drawingml/2006/table">
            <a:tbl>
              <a:tblPr/>
              <a:tblGrid>
                <a:gridCol w="1371600"/>
                <a:gridCol w="1371600"/>
                <a:gridCol w="4480560"/>
                <a:gridCol w="1280160"/>
                <a:gridCol w="2560320"/>
              </a:tblGrid>
              <a:tr h="387720">
                <a:tc>
                  <a:txBody>
                    <a:bodyPr lIns="45720" rIns="45720" anchor="t" anchorCtr="1">
                      <a:noAutofit/>
                    </a:bodyPr>
                    <a:p>
                      <a:r>
                        <a:rPr lang="en-US" sz="1000" b="1" u="none" strike="noStrike">
                          <a:solidFill>
                            <a:srgbClr val="FFFFFF"/>
                          </a:solidFill>
                          <a:effectLst/>
                          <a:uFillTx/>
                          <a:latin typeface="Calibri-Bold"/>
                          <a:ea typeface="Calibri-Bold"/>
                        </a:rPr>
                        <a:t>VariationID</a:t>
                      </a:r>
                      <a:endParaRPr lang="en-US" sz="1000" b="0" u="none" strike="noStrike">
                        <a:solidFill>
                          <a:srgbClr val="FFFFFF"/>
                        </a:solidFill>
                        <a:effectLst/>
                        <a:uFillTx/>
                        <a:latin typeface="Arial"/>
                      </a:endParaRP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45720" rIns="45720" anchor="t" anchorCtr="1">
                      <a:noAutofit/>
                    </a:bodyPr>
                    <a:p>
                      <a:r>
                        <a:rPr lang="en-US" sz="1000" b="1" u="none" strike="noStrike">
                          <a:solidFill>
                            <a:srgbClr val="FFFFFF"/>
                          </a:solidFill>
                          <a:effectLst/>
                          <a:uFillTx/>
                          <a:latin typeface="Calibri-Bold"/>
                          <a:ea typeface="Calibri-Bold"/>
                        </a:rPr>
                        <a:t>Gene</a:t>
                      </a:r>
                      <a:endParaRPr lang="en-US" sz="1000" b="0" u="none" strike="noStrike">
                        <a:solidFill>
                          <a:srgbClr val="FFFFFF"/>
                        </a:solidFill>
                        <a:effectLst/>
                        <a:uFillTx/>
                        <a:latin typeface="Arial"/>
                      </a:endParaRP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45720" rIns="45720" anchor="t" anchorCtr="1">
                      <a:noAutofit/>
                    </a:bodyPr>
                    <a:p>
                      <a:r>
                        <a:rPr lang="en-US" sz="1000" b="1" u="none" strike="noStrike">
                          <a:solidFill>
                            <a:srgbClr val="FFFFFF"/>
                          </a:solidFill>
                          <a:effectLst/>
                          <a:uFillTx/>
                          <a:latin typeface="Calibri-Bold"/>
                          <a:ea typeface="Calibri-Bold"/>
                        </a:rPr>
                        <a:t>Cancer type(s) in cohort</a:t>
                      </a:r>
                      <a:endParaRPr lang="en-US" sz="1000" b="0" u="none" strike="noStrike">
                        <a:solidFill>
                          <a:srgbClr val="FFFFFF"/>
                        </a:solidFill>
                        <a:effectLst/>
                        <a:uFillTx/>
                        <a:latin typeface="Arial"/>
                      </a:endParaRP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45720" rIns="45720" anchor="t" anchorCtr="1">
                      <a:noAutofit/>
                    </a:bodyPr>
                    <a:p>
                      <a:r>
                        <a:rPr lang="en-US" sz="1000" b="1" u="none" strike="noStrike">
                          <a:solidFill>
                            <a:srgbClr val="FFFFFF"/>
                          </a:solidFill>
                          <a:effectLst/>
                          <a:uFillTx/>
                          <a:latin typeface="Calibri-Bold"/>
                          <a:ea typeface="Calibri-Bold"/>
                        </a:rPr>
                        <a:t>Score</a:t>
                      </a:r>
                      <a:endParaRPr lang="en-US" sz="1000" b="0" u="none" strike="noStrike">
                        <a:solidFill>
                          <a:srgbClr val="FFFFFF"/>
                        </a:solidFill>
                        <a:effectLst/>
                        <a:uFillTx/>
                        <a:latin typeface="Arial"/>
                      </a:endParaRP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45720" rIns="45720" anchor="t" anchorCtr="1">
                      <a:noAutofit/>
                    </a:bodyPr>
                    <a:p>
                      <a:r>
                        <a:rPr lang="en-US" sz="1000" b="1" u="none" strike="noStrike">
                          <a:solidFill>
                            <a:srgbClr val="FFFFFF"/>
                          </a:solidFill>
                          <a:effectLst/>
                          <a:uFillTx/>
                          <a:latin typeface="Calibri-Bold"/>
                          <a:ea typeface="Calibri-Bold"/>
                        </a:rPr>
                        <a:t>Probability that it will be reclassified in the next two years</a:t>
                      </a:r>
                      <a:endParaRPr lang="en-US" sz="1000" b="0" u="none" strike="noStrike">
                        <a:solidFill>
                          <a:srgbClr val="FFFFFF"/>
                        </a:solidFill>
                        <a:effectLst/>
                        <a:uFillTx/>
                        <a:latin typeface="Arial"/>
                      </a:endParaRP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r>
              <a:tr h="323640">
                <a:tc>
                  <a:txBody>
                    <a:bodyPr lIns="45720" rIns="45720" anchor="t" anchorCtr="1">
                      <a:noAutofit/>
                    </a:bodyPr>
                    <a:p>
                      <a:r>
                        <a:t>1510334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NF1</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BRCA, LUAD, OV, SKCM</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0.997</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3.7%</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323640">
                <a:tc>
                  <a:txBody>
                    <a:bodyPr lIns="45720" rIns="45720" anchor="t" anchorCtr="1">
                      <a:noAutofit/>
                    </a:bodyPr>
                    <a:p>
                      <a:r>
                        <a:t>991919</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CDH23</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BRCA, COAD, LUAD, PRAD, SKCM</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0.996</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3.0%</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323640">
                <a:tc>
                  <a:txBody>
                    <a:bodyPr lIns="45720" rIns="45720" anchor="t" anchorCtr="1">
                      <a:noAutofit/>
                    </a:bodyPr>
                    <a:p>
                      <a:r>
                        <a:t>377085</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SLCO1B3</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SKCM, STAD</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0.995</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2.9%</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323640">
                <a:tc>
                  <a:txBody>
                    <a:bodyPr lIns="45720" rIns="45720" anchor="t" anchorCtr="1">
                      <a:noAutofit/>
                    </a:bodyPr>
                    <a:p>
                      <a:r>
                        <a:t>3072034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RYR2</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All 7 cohort cancer types</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0.995</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3.2%</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323640">
                <a:tc>
                  <a:txBody>
                    <a:bodyPr lIns="45720" rIns="45720" anchor="t" anchorCtr="1">
                      <a:noAutofit/>
                    </a:bodyPr>
                    <a:p>
                      <a:r>
                        <a:t>2442731</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COL5A1</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BRCA, COAD, LUAD, SKCM</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0.994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3.0%</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323640">
                <a:tc>
                  <a:txBody>
                    <a:bodyPr lIns="45720" rIns="45720" anchor="t" anchorCtr="1">
                      <a:noAutofit/>
                    </a:bodyPr>
                    <a:p>
                      <a:r>
                        <a:t>1397337</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POLE</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BRCA, LUAD, SKCM, STAD</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0.994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3.4%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323640">
                <a:tc>
                  <a:txBody>
                    <a:bodyPr lIns="45720" rIns="45720" anchor="t" anchorCtr="1">
                      <a:noAutofit/>
                    </a:bodyPr>
                    <a:p>
                      <a:r>
                        <a:t>1895446</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NEFL</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BRCA, STAD</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0.994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3.0%</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323640">
                <a:tc>
                  <a:txBody>
                    <a:bodyPr lIns="45720" rIns="45720" anchor="t" anchorCtr="1">
                      <a:noAutofit/>
                    </a:bodyPr>
                    <a:p>
                      <a:r>
                        <a:t>1049656</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COL12A1</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BRCA, COAD, LUAD, SKCM, STAD</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0.994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1.5%</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323640">
                <a:tc>
                  <a:txBody>
                    <a:bodyPr lIns="45720" rIns="45720" anchor="t" anchorCtr="1">
                      <a:noAutofit/>
                    </a:bodyPr>
                    <a:p>
                      <a:r>
                        <a:t>1185121</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MYO7A</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BRCA, COAD, SKCM</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0.994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3.2%</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320400">
                <a:tc>
                  <a:txBody>
                    <a:bodyPr lIns="45720" rIns="45720" anchor="t" anchorCtr="1">
                      <a:noAutofit/>
                    </a:bodyPr>
                    <a:p>
                      <a:r>
                        <a:t>1044100</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APC</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All 7 cohort cancer types</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0.994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3.7%</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bl>
          </a:graphicData>
        </a:graphic>
      </p:graphicFrame>
      <p:sp>
        <p:nvSpPr>
          <p:cNvPr id="261" name=""/>
          <p:cNvSpPr txBox="1"/>
          <p:nvPr/>
        </p:nvSpPr>
        <p:spPr>
          <a:xfrm>
            <a:off x="548640" y="6172200"/>
            <a:ext cx="3657600" cy="274320"/>
          </a:xfrm>
          <a:prstGeom prst="rect">
            <a:avLst/>
          </a:prstGeom>
          <a:noFill/>
          <a:ln w="0">
            <a:noFill/>
          </a:ln>
        </p:spPr>
        <p:txBody>
          <a:bodyPr lIns="90000" tIns="45000" rIns="90000" bIns="45000" anchor="t">
            <a:spAutoFit/>
          </a:bodyPr>
          <a:p>
            <a:r>
              <a:rPr lang="en-US" sz="1100" b="0" i="1" u="none" strike="noStrike">
                <a:solidFill>
                  <a:srgbClr val="475265"/>
                </a:solidFill>
                <a:effectLst/>
                <a:uFillTx/>
                <a:latin typeface="Calibri-Italic"/>
                <a:ea typeface="Calibri-Italic"/>
              </a:rPr>
              <a:t>Ranked 1 to 10 of 20</a:t>
            </a:r>
            <a:endParaRPr lang="en-US" sz="1100" b="0" u="none" strike="noStrike">
              <a:solidFill>
                <a:srgbClr val="000000"/>
              </a:solidFill>
              <a:effectLst/>
              <a:uFillTx/>
              <a:latin typeface="Arial"/>
            </a:endParaRPr>
          </a:p>
        </p:txBody>
      </p:sp>
      <p:sp>
        <p:nvSpPr>
          <p:cNvPr id="262"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a:t>
            </a:r>
            <a:r>
              <a:rPr lang="en-US" sz="1000" b="0" u="none" strike="noStrike">
                <a:solidFill>
                  <a:srgbClr val="8D99AE"/>
                </a:solidFill>
                <a:effectLst/>
                <a:uFillTx/>
                <a:latin typeface="Calibri"/>
                <a:ea typeface="Calibri"/>
              </a:rPr>
              <a:t>3</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3"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GLOBAL WATCHLIST</a:t>
            </a:r>
            <a:endParaRPr lang="en-US" sz="1200" b="0" u="none" strike="noStrike">
              <a:solidFill>
                <a:srgbClr val="000000"/>
              </a:solidFill>
              <a:effectLst/>
              <a:uFillTx/>
              <a:latin typeface="Arial"/>
            </a:endParaRPr>
          </a:p>
        </p:txBody>
      </p:sp>
      <p:sp>
        <p:nvSpPr>
          <p:cNvPr id="264" name=""/>
          <p:cNvSpPr txBox="1"/>
          <p:nvPr/>
        </p:nvSpPr>
        <p:spPr>
          <a:xfrm>
            <a:off x="548640" y="658440"/>
            <a:ext cx="10789920" cy="777240"/>
          </a:xfrm>
          <a:prstGeom prst="rect">
            <a:avLst/>
          </a:prstGeom>
          <a:noFill/>
          <a:ln w="0">
            <a:noFill/>
          </a:ln>
        </p:spPr>
        <p:txBody>
          <a:bodyPr lIns="90000" tIns="45000" rIns="90000" bIns="45000" anchor="t">
            <a:spAutoFit/>
          </a:bodyPr>
          <a:p>
            <a:r>
              <a:rPr lang="en-US" sz="2700" b="1" u="none" strike="noStrike">
                <a:solidFill>
                  <a:srgbClr val="1F242E"/>
                </a:solidFill>
                <a:effectLst/>
                <a:uFillTx/>
                <a:latin typeface="Cambria-Bold"/>
                <a:ea typeface="Cambria-Bold"/>
              </a:rPr>
              <a:t>Top 20 VUS Most Likely to Reclassify, By Cancer Type</a:t>
            </a:r>
            <a:endParaRPr lang="en-US" sz="2700" b="0" u="none" strike="noStrike">
              <a:solidFill>
                <a:srgbClr val="000000"/>
              </a:solidFill>
              <a:effectLst/>
              <a:uFillTx/>
              <a:latin typeface="Arial"/>
            </a:endParaRPr>
          </a:p>
        </p:txBody>
      </p:sp>
      <p:graphicFrame>
        <p:nvGraphicFramePr>
          <p:cNvPr id="265" name=""/>
          <p:cNvGraphicFramePr/>
          <p:nvPr/>
        </p:nvGraphicFramePr>
        <p:xfrm>
          <a:off x="548640" y="1691640"/>
          <a:ext cx="11064240" cy="3218760"/>
        </p:xfrm>
        <a:graphic>
          <a:graphicData uri="http://schemas.openxmlformats.org/drawingml/2006/table">
            <a:tbl>
              <a:tblPr/>
              <a:tblGrid>
                <a:gridCol w="1371600"/>
                <a:gridCol w="1371600"/>
                <a:gridCol w="4480560"/>
                <a:gridCol w="1280160"/>
                <a:gridCol w="2560320"/>
              </a:tblGrid>
              <a:tr h="351000">
                <a:tc>
                  <a:txBody>
                    <a:bodyPr lIns="27360" tIns="27360" rIns="27360" bIns="27360" anchor="t" anchorCtr="1">
                      <a:noAutofit/>
                    </a:bodyPr>
                    <a:p>
                      <a:r>
                        <a:rPr lang="en-US" sz="1000" b="1" u="none" strike="noStrike">
                          <a:solidFill>
                            <a:srgbClr val="FFFFFF"/>
                          </a:solidFill>
                          <a:effectLst/>
                          <a:uFillTx/>
                          <a:latin typeface="Calibri-Bold"/>
                          <a:ea typeface="Calibri-Bold"/>
                        </a:rPr>
                        <a:t>VariationID</a:t>
                      </a:r>
                      <a:endParaRPr lang="en-US" sz="1000" b="0" u="none" strike="noStrike">
                        <a:solidFill>
                          <a:srgbClr val="FFFFFF"/>
                        </a:solidFill>
                        <a:effectLst/>
                        <a:uFillTx/>
                        <a:latin typeface="Arial"/>
                      </a:endParaRP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27360" tIns="27360" rIns="27360" bIns="27360" anchor="t" anchorCtr="1">
                      <a:noAutofit/>
                    </a:bodyPr>
                    <a:p>
                      <a:r>
                        <a:rPr lang="en-US" sz="1000" b="1" u="none" strike="noStrike">
                          <a:solidFill>
                            <a:srgbClr val="FFFFFF"/>
                          </a:solidFill>
                          <a:effectLst/>
                          <a:uFillTx/>
                          <a:latin typeface="Calibri-Bold"/>
                          <a:ea typeface="Calibri-Bold"/>
                        </a:rPr>
                        <a:t>Gene</a:t>
                      </a:r>
                      <a:endParaRPr lang="en-US" sz="1000" b="0" u="none" strike="noStrike">
                        <a:solidFill>
                          <a:srgbClr val="FFFFFF"/>
                        </a:solidFill>
                        <a:effectLst/>
                        <a:uFillTx/>
                        <a:latin typeface="Arial"/>
                      </a:endParaRP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27360" tIns="27360" rIns="27360" bIns="27360" anchor="t" anchorCtr="1">
                      <a:noAutofit/>
                    </a:bodyPr>
                    <a:p>
                      <a:r>
                        <a:rPr lang="en-US" sz="1000" b="1" u="none" strike="noStrike">
                          <a:solidFill>
                            <a:srgbClr val="FFFFFF"/>
                          </a:solidFill>
                          <a:effectLst/>
                          <a:uFillTx/>
                          <a:latin typeface="Calibri-Bold"/>
                          <a:ea typeface="Calibri-Bold"/>
                        </a:rPr>
                        <a:t>Cancer type(s) in cohort</a:t>
                      </a:r>
                      <a:endParaRPr lang="en-US" sz="1000" b="0" u="none" strike="noStrike">
                        <a:solidFill>
                          <a:srgbClr val="FFFFFF"/>
                        </a:solidFill>
                        <a:effectLst/>
                        <a:uFillTx/>
                        <a:latin typeface="Arial"/>
                      </a:endParaRP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27360" tIns="27360" rIns="27360" bIns="27360" anchor="t" anchorCtr="1">
                      <a:noAutofit/>
                    </a:bodyPr>
                    <a:p>
                      <a:r>
                        <a:rPr lang="en-US" sz="1000" b="1" u="none" strike="noStrike">
                          <a:solidFill>
                            <a:srgbClr val="FFFFFF"/>
                          </a:solidFill>
                          <a:effectLst/>
                          <a:uFillTx/>
                          <a:latin typeface="Calibri-Bold"/>
                          <a:ea typeface="Calibri-Bold"/>
                        </a:rPr>
                        <a:t>Score</a:t>
                      </a:r>
                      <a:endParaRPr lang="en-US" sz="1000" b="0" u="none" strike="noStrike">
                        <a:solidFill>
                          <a:srgbClr val="FFFFFF"/>
                        </a:solidFill>
                        <a:effectLst/>
                        <a:uFillTx/>
                        <a:latin typeface="Arial"/>
                      </a:endParaRP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27360" tIns="27360" rIns="27360" bIns="27360" anchor="t" anchorCtr="1">
                      <a:noAutofit/>
                    </a:bodyPr>
                    <a:p>
                      <a:r>
                        <a:rPr lang="en-US" sz="1000" b="1" u="none" strike="noStrike">
                          <a:solidFill>
                            <a:srgbClr val="FFFFFF"/>
                          </a:solidFill>
                          <a:effectLst/>
                          <a:uFillTx/>
                          <a:latin typeface="Calibri-Bold"/>
                          <a:ea typeface="Calibri-Bold"/>
                        </a:rPr>
                        <a:t>Probability that it will be reclassified in the next two years</a:t>
                      </a:r>
                      <a:endParaRPr lang="en-US" sz="1000" b="0" u="none" strike="noStrike">
                        <a:solidFill>
                          <a:srgbClr val="FFFFFF"/>
                        </a:solidFill>
                        <a:effectLst/>
                        <a:uFillTx/>
                        <a:latin typeface="Arial"/>
                      </a:endParaRP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r>
              <a:tr h="286920">
                <a:tc>
                  <a:txBody>
                    <a:bodyPr lIns="27360" tIns="27360" rIns="27360" bIns="27360" anchor="t" anchorCtr="1">
                      <a:noAutofit/>
                    </a:bodyPr>
                    <a:p>
                      <a:r>
                        <a:t>64893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TSC2</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COAD, OV, PRAD, SKCM, STAD</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3.4%</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286920">
                <a:tc>
                  <a:txBody>
                    <a:bodyPr lIns="27360" tIns="27360" rIns="27360" bIns="27360" anchor="t" anchorCtr="1">
                      <a:noAutofit/>
                    </a:bodyPr>
                    <a:p>
                      <a:r>
                        <a:t>2500065</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NEDD4L</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SKCM</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1.6%</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286920">
                <a:tc>
                  <a:txBody>
                    <a:bodyPr lIns="27360" tIns="27360" rIns="27360" bIns="27360" anchor="t" anchorCtr="1">
                      <a:noAutofit/>
                    </a:bodyPr>
                    <a:p>
                      <a:r>
                        <a:t>1519256</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MTOR</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BRCA, COAD, OV</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4.5%</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286920">
                <a:tc>
                  <a:txBody>
                    <a:bodyPr lIns="27360" tIns="27360" rIns="27360" bIns="27360" anchor="t" anchorCtr="1">
                      <a:noAutofit/>
                    </a:bodyPr>
                    <a:p>
                      <a:r>
                        <a:t>2128490</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MTOR</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BRCA, COAD, OV</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4.5%</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286920">
                <a:tc>
                  <a:txBody>
                    <a:bodyPr lIns="27360" tIns="27360" rIns="27360" bIns="27360" anchor="t" anchorCtr="1">
                      <a:noAutofit/>
                    </a:bodyPr>
                    <a:p>
                      <a:r>
                        <a:t>1017291</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MTOR</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BRCA, COAD, OV</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4.5%</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286920">
                <a:tc>
                  <a:txBody>
                    <a:bodyPr lIns="27360" tIns="27360" rIns="27360" bIns="27360" anchor="t" anchorCtr="1">
                      <a:noAutofit/>
                    </a:bodyPr>
                    <a:p>
                      <a:r>
                        <a:t>991092</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EYS</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LUAD</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3.0%</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286920">
                <a:tc>
                  <a:txBody>
                    <a:bodyPr lIns="27360" tIns="27360" rIns="27360" bIns="27360" anchor="t" anchorCtr="1">
                      <a:noAutofit/>
                    </a:bodyPr>
                    <a:p>
                      <a:r>
                        <a:t>3054827</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COL5A1</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BRCA, COAD, LUAD, SKCM</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2.9%</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286920">
                <a:tc>
                  <a:txBody>
                    <a:bodyPr lIns="27360" tIns="27360" rIns="27360" bIns="27360" anchor="t" anchorCtr="1">
                      <a:noAutofit/>
                    </a:bodyPr>
                    <a:p>
                      <a:r>
                        <a:t>1393465</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APC</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All 7 cohort cancer types</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3.7%</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286920">
                <a:tc>
                  <a:txBody>
                    <a:bodyPr lIns="27360" tIns="27360" rIns="27360" bIns="27360" anchor="t" anchorCtr="1">
                      <a:noAutofit/>
                    </a:bodyPr>
                    <a:p>
                      <a:r>
                        <a:t>1034907</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POLE</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BRCA, LUAD, SKCM, STAD</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0.992</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3.4%</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285480">
                <a:tc>
                  <a:txBody>
                    <a:bodyPr lIns="27360" tIns="27360" rIns="27360" bIns="27360" anchor="t" anchorCtr="1">
                      <a:noAutofit/>
                    </a:bodyPr>
                    <a:p>
                      <a:r>
                        <a:t>3069490</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MYH7</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COAD, LUAD, OV, SKCM</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0.992</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3.3%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bl>
          </a:graphicData>
        </a:graphic>
      </p:graphicFrame>
      <p:sp>
        <p:nvSpPr>
          <p:cNvPr id="266" name=""/>
          <p:cNvSpPr txBox="1"/>
          <p:nvPr/>
        </p:nvSpPr>
        <p:spPr>
          <a:xfrm>
            <a:off x="548640" y="5623560"/>
            <a:ext cx="11064240" cy="914400"/>
          </a:xfrm>
          <a:prstGeom prst="rect">
            <a:avLst/>
          </a:prstGeom>
          <a:noFill/>
          <a:ln w="0">
            <a:noFill/>
          </a:ln>
        </p:spPr>
        <p:txBody>
          <a:bodyPr lIns="90000" tIns="45000" rIns="90000" bIns="45000" anchor="t">
            <a:spAutoFit/>
          </a:bodyPr>
          <a:p>
            <a:pPr>
              <a:lnSpc>
                <a:spcPct val="125000"/>
              </a:lnSpc>
            </a:pPr>
            <a:r>
              <a:rPr lang="en-US" sz="1100" b="0" u="none" strike="noStrike">
                <a:solidFill>
                  <a:srgbClr val="475265"/>
                </a:solidFill>
                <a:effectLst/>
                <a:uFillTx/>
                <a:latin typeface="Calibri"/>
                <a:ea typeface="Calibri"/>
              </a:rPr>
              <a:t>Several genes in this list, including APC, POLE, MTOR, NF1, and TSC2, are well-established cancer genes with known clinical relevance. Others, like the collagen genes COL5A1 and COL12A1 or the hearing- and cardiac-linked genes MYO7A, CDH23, RYR2, and MYH7, carry high-confidence resolution signal in the model without a familiar cancer role, which is itself a useful finding: statistical resolution signal and clinical familiarity are not the same thing.</a:t>
            </a:r>
            <a:endParaRPr lang="en-US" sz="1100" b="0" u="none" strike="noStrike">
              <a:solidFill>
                <a:srgbClr val="000000"/>
              </a:solidFill>
              <a:effectLst/>
              <a:uFillTx/>
              <a:latin typeface="Arial"/>
            </a:endParaRPr>
          </a:p>
        </p:txBody>
      </p:sp>
      <p:sp>
        <p:nvSpPr>
          <p:cNvPr id="267"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a:t>
            </a:r>
            <a:r>
              <a:rPr lang="en-US" sz="1000" b="0" u="none" strike="noStrike">
                <a:solidFill>
                  <a:srgbClr val="8D99AE"/>
                </a:solidFill>
                <a:effectLst/>
                <a:uFillTx/>
                <a:latin typeface="Calibri"/>
                <a:ea typeface="Calibri"/>
              </a:rPr>
              <a:t>4</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8"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GLOBAL WATCHLIST</a:t>
            </a:r>
            <a:endParaRPr lang="en-US" sz="1200" b="0" u="none" strike="noStrike">
              <a:solidFill>
                <a:srgbClr val="000000"/>
              </a:solidFill>
              <a:effectLst/>
              <a:uFillTx/>
              <a:latin typeface="Arial"/>
            </a:endParaRPr>
          </a:p>
        </p:txBody>
      </p:sp>
      <p:sp>
        <p:nvSpPr>
          <p:cNvPr id="269"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Which Genes Historically Resolve Fastest</a:t>
            </a:r>
            <a:endParaRPr lang="en-US" sz="3000" b="0" u="none" strike="noStrike">
              <a:solidFill>
                <a:srgbClr val="000000"/>
              </a:solidFill>
              <a:effectLst/>
              <a:uFillTx/>
              <a:latin typeface="Arial"/>
            </a:endParaRPr>
          </a:p>
        </p:txBody>
      </p:sp>
      <p:sp>
        <p:nvSpPr>
          <p:cNvPr id="270" name=""/>
          <p:cNvSpPr txBox="1"/>
          <p:nvPr/>
        </p:nvSpPr>
        <p:spPr>
          <a:xfrm>
            <a:off x="548640" y="1417320"/>
            <a:ext cx="10789920" cy="640080"/>
          </a:xfrm>
          <a:prstGeom prst="rect">
            <a:avLst/>
          </a:prstGeom>
          <a:noFill/>
          <a:ln w="0">
            <a:noFill/>
          </a:ln>
        </p:spPr>
        <p:txBody>
          <a:bodyPr lIns="90000" tIns="45000" rIns="90000" bIns="45000" anchor="t">
            <a:spAutoFit/>
          </a:bodyPr>
          <a:p>
            <a:pPr>
              <a:lnSpc>
                <a:spcPct val="125000"/>
              </a:lnSpc>
            </a:pPr>
            <a:r>
              <a:rPr lang="en-US" sz="1200" b="0" u="none" strike="noStrike">
                <a:solidFill>
                  <a:srgbClr val="475265"/>
                </a:solidFill>
                <a:effectLst/>
                <a:uFillTx/>
                <a:latin typeface="Calibri"/>
                <a:ea typeface="Calibri"/>
              </a:rPr>
              <a:t>Gene-level resolution rate is the single biggest lever in the model. Leaderboard restricted to genes with ≥ 2 historical ClinVar submissions, so the rate reflects real submission volume rather than a one-off</a:t>
            </a:r>
            <a:r>
              <a:rPr lang="en-US" sz="1200" b="0" u="none" strike="noStrike">
                <a:solidFill>
                  <a:srgbClr val="475265"/>
                </a:solidFill>
                <a:effectLst/>
                <a:uFillTx/>
                <a:latin typeface="Calibri"/>
                <a:ea typeface="Calibri"/>
              </a:rPr>
              <a:t>:</a:t>
            </a:r>
            <a:endParaRPr lang="en-US" sz="1200" b="0" u="none" strike="noStrike">
              <a:solidFill>
                <a:srgbClr val="000000"/>
              </a:solidFill>
              <a:effectLst/>
              <a:uFillTx/>
              <a:latin typeface="Arial"/>
            </a:endParaRPr>
          </a:p>
        </p:txBody>
      </p:sp>
      <p:sp>
        <p:nvSpPr>
          <p:cNvPr id="271" name=""/>
          <p:cNvSpPr txBox="1"/>
          <p:nvPr/>
        </p:nvSpPr>
        <p:spPr>
          <a:xfrm>
            <a:off x="548640" y="228600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PNPLA8</a:t>
            </a:r>
            <a:endParaRPr lang="en-US" sz="1200" b="0" u="none" strike="noStrike">
              <a:solidFill>
                <a:srgbClr val="000000"/>
              </a:solidFill>
              <a:effectLst/>
              <a:uFillTx/>
              <a:latin typeface="Arial"/>
            </a:endParaRPr>
          </a:p>
        </p:txBody>
      </p:sp>
      <p:sp>
        <p:nvSpPr>
          <p:cNvPr id="272" name=""/>
          <p:cNvSpPr/>
          <p:nvPr/>
        </p:nvSpPr>
        <p:spPr>
          <a:xfrm>
            <a:off x="2194560" y="2331720"/>
            <a:ext cx="7498440" cy="256320"/>
          </a:xfrm>
          <a:custGeom>
            <a:avLst/>
            <a:gdLst/>
            <a:ahLst/>
            <a:rect l="0" t="0" r="r" b="b"/>
            <a:pathLst>
              <a:path w="20829" h="712">
                <a:moveTo>
                  <a:pt x="0" y="0"/>
                </a:moveTo>
                <a:lnTo>
                  <a:pt x="20829" y="0"/>
                </a:lnTo>
                <a:lnTo>
                  <a:pt x="2082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73" name=""/>
          <p:cNvSpPr txBox="1"/>
          <p:nvPr/>
        </p:nvSpPr>
        <p:spPr>
          <a:xfrm>
            <a:off x="9784080" y="228600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11.4%</a:t>
            </a:r>
            <a:endParaRPr lang="en-US" sz="1100" b="0" u="none" strike="noStrike">
              <a:solidFill>
                <a:srgbClr val="000000"/>
              </a:solidFill>
              <a:effectLst/>
              <a:uFillTx/>
              <a:latin typeface="Arial"/>
            </a:endParaRPr>
          </a:p>
        </p:txBody>
      </p:sp>
      <p:sp>
        <p:nvSpPr>
          <p:cNvPr id="274" name=""/>
          <p:cNvSpPr txBox="1"/>
          <p:nvPr/>
        </p:nvSpPr>
        <p:spPr>
          <a:xfrm>
            <a:off x="548640" y="267012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MICOS13</a:t>
            </a:r>
            <a:endParaRPr lang="en-US" sz="1200" b="0" u="none" strike="noStrike">
              <a:solidFill>
                <a:srgbClr val="000000"/>
              </a:solidFill>
              <a:effectLst/>
              <a:uFillTx/>
              <a:latin typeface="Arial"/>
            </a:endParaRPr>
          </a:p>
        </p:txBody>
      </p:sp>
      <p:sp>
        <p:nvSpPr>
          <p:cNvPr id="275" name=""/>
          <p:cNvSpPr/>
          <p:nvPr/>
        </p:nvSpPr>
        <p:spPr>
          <a:xfrm>
            <a:off x="2194560" y="2715840"/>
            <a:ext cx="7498440" cy="256320"/>
          </a:xfrm>
          <a:custGeom>
            <a:avLst/>
            <a:gdLst/>
            <a:ahLst/>
            <a:rect l="0" t="0" r="r" b="b"/>
            <a:pathLst>
              <a:path w="20829" h="712">
                <a:moveTo>
                  <a:pt x="0" y="0"/>
                </a:moveTo>
                <a:lnTo>
                  <a:pt x="20829" y="0"/>
                </a:lnTo>
                <a:lnTo>
                  <a:pt x="2082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76" name=""/>
          <p:cNvSpPr txBox="1"/>
          <p:nvPr/>
        </p:nvSpPr>
        <p:spPr>
          <a:xfrm>
            <a:off x="9784080" y="267012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11.4%</a:t>
            </a:r>
            <a:endParaRPr lang="en-US" sz="1100" b="0" u="none" strike="noStrike">
              <a:solidFill>
                <a:srgbClr val="000000"/>
              </a:solidFill>
              <a:effectLst/>
              <a:uFillTx/>
              <a:latin typeface="Arial"/>
            </a:endParaRPr>
          </a:p>
        </p:txBody>
      </p:sp>
      <p:sp>
        <p:nvSpPr>
          <p:cNvPr id="277" name=""/>
          <p:cNvSpPr txBox="1"/>
          <p:nvPr/>
        </p:nvSpPr>
        <p:spPr>
          <a:xfrm>
            <a:off x="548640" y="305424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MSH2</a:t>
            </a:r>
            <a:endParaRPr lang="en-US" sz="1200" b="0" u="none" strike="noStrike">
              <a:solidFill>
                <a:srgbClr val="000000"/>
              </a:solidFill>
              <a:effectLst/>
              <a:uFillTx/>
              <a:latin typeface="Arial"/>
            </a:endParaRPr>
          </a:p>
        </p:txBody>
      </p:sp>
      <p:sp>
        <p:nvSpPr>
          <p:cNvPr id="278" name=""/>
          <p:cNvSpPr/>
          <p:nvPr/>
        </p:nvSpPr>
        <p:spPr>
          <a:xfrm>
            <a:off x="2194560" y="3099960"/>
            <a:ext cx="4604400" cy="256320"/>
          </a:xfrm>
          <a:custGeom>
            <a:avLst/>
            <a:gdLst/>
            <a:ahLst/>
            <a:rect l="0" t="0" r="r" b="b"/>
            <a:pathLst>
              <a:path w="12790" h="712">
                <a:moveTo>
                  <a:pt x="0" y="0"/>
                </a:moveTo>
                <a:lnTo>
                  <a:pt x="12790" y="0"/>
                </a:lnTo>
                <a:lnTo>
                  <a:pt x="12790"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79" name=""/>
          <p:cNvSpPr txBox="1"/>
          <p:nvPr/>
        </p:nvSpPr>
        <p:spPr>
          <a:xfrm>
            <a:off x="6890040" y="305424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7.0%</a:t>
            </a:r>
            <a:endParaRPr lang="en-US" sz="1100" b="0" u="none" strike="noStrike">
              <a:solidFill>
                <a:srgbClr val="000000"/>
              </a:solidFill>
              <a:effectLst/>
              <a:uFillTx/>
              <a:latin typeface="Arial"/>
            </a:endParaRPr>
          </a:p>
        </p:txBody>
      </p:sp>
      <p:sp>
        <p:nvSpPr>
          <p:cNvPr id="280" name=""/>
          <p:cNvSpPr txBox="1"/>
          <p:nvPr/>
        </p:nvSpPr>
        <p:spPr>
          <a:xfrm>
            <a:off x="548640" y="343800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RIPPLY2</a:t>
            </a:r>
            <a:endParaRPr lang="en-US" sz="1200" b="0" u="none" strike="noStrike">
              <a:solidFill>
                <a:srgbClr val="000000"/>
              </a:solidFill>
              <a:effectLst/>
              <a:uFillTx/>
              <a:latin typeface="Arial"/>
            </a:endParaRPr>
          </a:p>
        </p:txBody>
      </p:sp>
      <p:sp>
        <p:nvSpPr>
          <p:cNvPr id="281" name=""/>
          <p:cNvSpPr/>
          <p:nvPr/>
        </p:nvSpPr>
        <p:spPr>
          <a:xfrm>
            <a:off x="2194560" y="3483720"/>
            <a:ext cx="4341240" cy="256320"/>
          </a:xfrm>
          <a:custGeom>
            <a:avLst/>
            <a:gdLst/>
            <a:ahLst/>
            <a:rect l="0" t="0" r="r" b="b"/>
            <a:pathLst>
              <a:path w="12059" h="712">
                <a:moveTo>
                  <a:pt x="0" y="0"/>
                </a:moveTo>
                <a:lnTo>
                  <a:pt x="12059" y="0"/>
                </a:lnTo>
                <a:lnTo>
                  <a:pt x="1205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82" name=""/>
          <p:cNvSpPr txBox="1"/>
          <p:nvPr/>
        </p:nvSpPr>
        <p:spPr>
          <a:xfrm>
            <a:off x="6626880" y="343800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6.6%</a:t>
            </a:r>
            <a:endParaRPr lang="en-US" sz="1100" b="0" u="none" strike="noStrike">
              <a:solidFill>
                <a:srgbClr val="000000"/>
              </a:solidFill>
              <a:effectLst/>
              <a:uFillTx/>
              <a:latin typeface="Arial"/>
            </a:endParaRPr>
          </a:p>
        </p:txBody>
      </p:sp>
      <p:sp>
        <p:nvSpPr>
          <p:cNvPr id="283" name=""/>
          <p:cNvSpPr txBox="1"/>
          <p:nvPr/>
        </p:nvSpPr>
        <p:spPr>
          <a:xfrm>
            <a:off x="548640" y="382212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NECTIN4</a:t>
            </a:r>
            <a:endParaRPr lang="en-US" sz="1200" b="0" u="none" strike="noStrike">
              <a:solidFill>
                <a:srgbClr val="000000"/>
              </a:solidFill>
              <a:effectLst/>
              <a:uFillTx/>
              <a:latin typeface="Arial"/>
            </a:endParaRPr>
          </a:p>
        </p:txBody>
      </p:sp>
      <p:sp>
        <p:nvSpPr>
          <p:cNvPr id="284" name=""/>
          <p:cNvSpPr/>
          <p:nvPr/>
        </p:nvSpPr>
        <p:spPr>
          <a:xfrm>
            <a:off x="2194560" y="3867840"/>
            <a:ext cx="4341240" cy="256320"/>
          </a:xfrm>
          <a:custGeom>
            <a:avLst/>
            <a:gdLst/>
            <a:ahLst/>
            <a:rect l="0" t="0" r="r" b="b"/>
            <a:pathLst>
              <a:path w="12059" h="712">
                <a:moveTo>
                  <a:pt x="0" y="0"/>
                </a:moveTo>
                <a:lnTo>
                  <a:pt x="12059" y="0"/>
                </a:lnTo>
                <a:lnTo>
                  <a:pt x="1205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85" name=""/>
          <p:cNvSpPr txBox="1"/>
          <p:nvPr/>
        </p:nvSpPr>
        <p:spPr>
          <a:xfrm>
            <a:off x="6626880" y="382212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6.6%</a:t>
            </a:r>
            <a:endParaRPr lang="en-US" sz="1100" b="0" u="none" strike="noStrike">
              <a:solidFill>
                <a:srgbClr val="000000"/>
              </a:solidFill>
              <a:effectLst/>
              <a:uFillTx/>
              <a:latin typeface="Arial"/>
            </a:endParaRPr>
          </a:p>
        </p:txBody>
      </p:sp>
      <p:sp>
        <p:nvSpPr>
          <p:cNvPr id="286" name=""/>
          <p:cNvSpPr txBox="1"/>
          <p:nvPr/>
        </p:nvSpPr>
        <p:spPr>
          <a:xfrm>
            <a:off x="548640" y="420624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NTHL1</a:t>
            </a:r>
            <a:endParaRPr lang="en-US" sz="1200" b="0" u="none" strike="noStrike">
              <a:solidFill>
                <a:srgbClr val="000000"/>
              </a:solidFill>
              <a:effectLst/>
              <a:uFillTx/>
              <a:latin typeface="Arial"/>
            </a:endParaRPr>
          </a:p>
        </p:txBody>
      </p:sp>
      <p:sp>
        <p:nvSpPr>
          <p:cNvPr id="287" name=""/>
          <p:cNvSpPr/>
          <p:nvPr/>
        </p:nvSpPr>
        <p:spPr>
          <a:xfrm>
            <a:off x="2194560" y="4251960"/>
            <a:ext cx="4341240" cy="256320"/>
          </a:xfrm>
          <a:custGeom>
            <a:avLst/>
            <a:gdLst/>
            <a:ahLst/>
            <a:rect l="0" t="0" r="r" b="b"/>
            <a:pathLst>
              <a:path w="12059" h="712">
                <a:moveTo>
                  <a:pt x="0" y="0"/>
                </a:moveTo>
                <a:lnTo>
                  <a:pt x="12059" y="0"/>
                </a:lnTo>
                <a:lnTo>
                  <a:pt x="1205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88" name=""/>
          <p:cNvSpPr txBox="1"/>
          <p:nvPr/>
        </p:nvSpPr>
        <p:spPr>
          <a:xfrm>
            <a:off x="6626880" y="420624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6.6%</a:t>
            </a:r>
            <a:endParaRPr lang="en-US" sz="1100" b="0" u="none" strike="noStrike">
              <a:solidFill>
                <a:srgbClr val="000000"/>
              </a:solidFill>
              <a:effectLst/>
              <a:uFillTx/>
              <a:latin typeface="Arial"/>
            </a:endParaRPr>
          </a:p>
        </p:txBody>
      </p:sp>
      <p:sp>
        <p:nvSpPr>
          <p:cNvPr id="289" name=""/>
          <p:cNvSpPr txBox="1"/>
          <p:nvPr/>
        </p:nvSpPr>
        <p:spPr>
          <a:xfrm>
            <a:off x="548640" y="459036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STAG2</a:t>
            </a:r>
            <a:endParaRPr lang="en-US" sz="1200" b="0" u="none" strike="noStrike">
              <a:solidFill>
                <a:srgbClr val="000000"/>
              </a:solidFill>
              <a:effectLst/>
              <a:uFillTx/>
              <a:latin typeface="Arial"/>
            </a:endParaRPr>
          </a:p>
        </p:txBody>
      </p:sp>
      <p:sp>
        <p:nvSpPr>
          <p:cNvPr id="290" name=""/>
          <p:cNvSpPr/>
          <p:nvPr/>
        </p:nvSpPr>
        <p:spPr>
          <a:xfrm>
            <a:off x="2194560" y="4636080"/>
            <a:ext cx="4341240" cy="256320"/>
          </a:xfrm>
          <a:custGeom>
            <a:avLst/>
            <a:gdLst/>
            <a:ahLst/>
            <a:rect l="0" t="0" r="r" b="b"/>
            <a:pathLst>
              <a:path w="12059" h="712">
                <a:moveTo>
                  <a:pt x="0" y="0"/>
                </a:moveTo>
                <a:lnTo>
                  <a:pt x="12059" y="0"/>
                </a:lnTo>
                <a:lnTo>
                  <a:pt x="1205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91" name=""/>
          <p:cNvSpPr txBox="1"/>
          <p:nvPr/>
        </p:nvSpPr>
        <p:spPr>
          <a:xfrm>
            <a:off x="6626880" y="459036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6.6%</a:t>
            </a:r>
            <a:endParaRPr lang="en-US" sz="1100" b="0" u="none" strike="noStrike">
              <a:solidFill>
                <a:srgbClr val="000000"/>
              </a:solidFill>
              <a:effectLst/>
              <a:uFillTx/>
              <a:latin typeface="Arial"/>
            </a:endParaRPr>
          </a:p>
        </p:txBody>
      </p:sp>
      <p:sp>
        <p:nvSpPr>
          <p:cNvPr id="292" name=""/>
          <p:cNvSpPr txBox="1"/>
          <p:nvPr/>
        </p:nvSpPr>
        <p:spPr>
          <a:xfrm>
            <a:off x="548640" y="497448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TBX2</a:t>
            </a:r>
            <a:endParaRPr lang="en-US" sz="1200" b="0" u="none" strike="noStrike">
              <a:solidFill>
                <a:srgbClr val="000000"/>
              </a:solidFill>
              <a:effectLst/>
              <a:uFillTx/>
              <a:latin typeface="Arial"/>
            </a:endParaRPr>
          </a:p>
        </p:txBody>
      </p:sp>
      <p:sp>
        <p:nvSpPr>
          <p:cNvPr id="293" name=""/>
          <p:cNvSpPr/>
          <p:nvPr/>
        </p:nvSpPr>
        <p:spPr>
          <a:xfrm>
            <a:off x="2194560" y="5020200"/>
            <a:ext cx="4341240" cy="256320"/>
          </a:xfrm>
          <a:custGeom>
            <a:avLst/>
            <a:gdLst/>
            <a:ahLst/>
            <a:rect l="0" t="0" r="r" b="b"/>
            <a:pathLst>
              <a:path w="12059" h="712">
                <a:moveTo>
                  <a:pt x="0" y="0"/>
                </a:moveTo>
                <a:lnTo>
                  <a:pt x="12059" y="0"/>
                </a:lnTo>
                <a:lnTo>
                  <a:pt x="1205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94" name=""/>
          <p:cNvSpPr txBox="1"/>
          <p:nvPr/>
        </p:nvSpPr>
        <p:spPr>
          <a:xfrm>
            <a:off x="6626880" y="497448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6.6%</a:t>
            </a:r>
            <a:endParaRPr lang="en-US" sz="1100" b="0" u="none" strike="noStrike">
              <a:solidFill>
                <a:srgbClr val="000000"/>
              </a:solidFill>
              <a:effectLst/>
              <a:uFillTx/>
              <a:latin typeface="Arial"/>
            </a:endParaRPr>
          </a:p>
        </p:txBody>
      </p:sp>
      <p:sp>
        <p:nvSpPr>
          <p:cNvPr id="295" name=""/>
          <p:cNvSpPr txBox="1"/>
          <p:nvPr/>
        </p:nvSpPr>
        <p:spPr>
          <a:xfrm>
            <a:off x="548640" y="535824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UBA5</a:t>
            </a:r>
            <a:endParaRPr lang="en-US" sz="1200" b="0" u="none" strike="noStrike">
              <a:solidFill>
                <a:srgbClr val="000000"/>
              </a:solidFill>
              <a:effectLst/>
              <a:uFillTx/>
              <a:latin typeface="Arial"/>
            </a:endParaRPr>
          </a:p>
        </p:txBody>
      </p:sp>
      <p:sp>
        <p:nvSpPr>
          <p:cNvPr id="296" name=""/>
          <p:cNvSpPr/>
          <p:nvPr/>
        </p:nvSpPr>
        <p:spPr>
          <a:xfrm>
            <a:off x="2194560" y="5403960"/>
            <a:ext cx="4341240" cy="256320"/>
          </a:xfrm>
          <a:custGeom>
            <a:avLst/>
            <a:gdLst/>
            <a:ahLst/>
            <a:rect l="0" t="0" r="r" b="b"/>
            <a:pathLst>
              <a:path w="12059" h="712">
                <a:moveTo>
                  <a:pt x="0" y="0"/>
                </a:moveTo>
                <a:lnTo>
                  <a:pt x="12059" y="0"/>
                </a:lnTo>
                <a:lnTo>
                  <a:pt x="1205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97" name=""/>
          <p:cNvSpPr txBox="1"/>
          <p:nvPr/>
        </p:nvSpPr>
        <p:spPr>
          <a:xfrm>
            <a:off x="6626880" y="535824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6.6%</a:t>
            </a:r>
            <a:endParaRPr lang="en-US" sz="1100" b="0" u="none" strike="noStrike">
              <a:solidFill>
                <a:srgbClr val="000000"/>
              </a:solidFill>
              <a:effectLst/>
              <a:uFillTx/>
              <a:latin typeface="Arial"/>
            </a:endParaRPr>
          </a:p>
        </p:txBody>
      </p:sp>
      <p:sp>
        <p:nvSpPr>
          <p:cNvPr id="298" name=""/>
          <p:cNvSpPr txBox="1"/>
          <p:nvPr/>
        </p:nvSpPr>
        <p:spPr>
          <a:xfrm>
            <a:off x="548640" y="574236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ARL3</a:t>
            </a:r>
            <a:endParaRPr lang="en-US" sz="1200" b="0" u="none" strike="noStrike">
              <a:solidFill>
                <a:srgbClr val="000000"/>
              </a:solidFill>
              <a:effectLst/>
              <a:uFillTx/>
              <a:latin typeface="Arial"/>
            </a:endParaRPr>
          </a:p>
        </p:txBody>
      </p:sp>
      <p:sp>
        <p:nvSpPr>
          <p:cNvPr id="299" name=""/>
          <p:cNvSpPr/>
          <p:nvPr/>
        </p:nvSpPr>
        <p:spPr>
          <a:xfrm>
            <a:off x="2194560" y="5788080"/>
            <a:ext cx="4341240" cy="256320"/>
          </a:xfrm>
          <a:custGeom>
            <a:avLst/>
            <a:gdLst/>
            <a:ahLst/>
            <a:rect l="0" t="0" r="r" b="b"/>
            <a:pathLst>
              <a:path w="12059" h="712">
                <a:moveTo>
                  <a:pt x="0" y="0"/>
                </a:moveTo>
                <a:lnTo>
                  <a:pt x="12059" y="0"/>
                </a:lnTo>
                <a:lnTo>
                  <a:pt x="1205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300" name=""/>
          <p:cNvSpPr txBox="1"/>
          <p:nvPr/>
        </p:nvSpPr>
        <p:spPr>
          <a:xfrm>
            <a:off x="6626880" y="574236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6.6%</a:t>
            </a:r>
            <a:endParaRPr lang="en-US" sz="1100" b="0" u="none" strike="noStrike">
              <a:solidFill>
                <a:srgbClr val="000000"/>
              </a:solidFill>
              <a:effectLst/>
              <a:uFillTx/>
              <a:latin typeface="Arial"/>
            </a:endParaRPr>
          </a:p>
        </p:txBody>
      </p:sp>
      <p:sp>
        <p:nvSpPr>
          <p:cNvPr id="301" name=""/>
          <p:cNvSpPr txBox="1"/>
          <p:nvPr/>
        </p:nvSpPr>
        <p:spPr>
          <a:xfrm>
            <a:off x="548640" y="6172200"/>
            <a:ext cx="10972800" cy="548640"/>
          </a:xfrm>
          <a:prstGeom prst="rect">
            <a:avLst/>
          </a:prstGeom>
          <a:noFill/>
          <a:ln w="0">
            <a:noFill/>
          </a:ln>
        </p:spPr>
        <p:txBody>
          <a:bodyPr lIns="90000" tIns="45000" rIns="90000" bIns="45000" anchor="t">
            <a:spAutoFit/>
          </a:bodyPr>
          <a:p>
            <a:pPr>
              <a:lnSpc>
                <a:spcPct val="125000"/>
              </a:lnSpc>
            </a:pPr>
            <a:r>
              <a:rPr lang="en-US" sz="1100" b="0" u="none" strike="noStrike">
                <a:solidFill>
                  <a:srgbClr val="475265"/>
                </a:solidFill>
                <a:effectLst/>
                <a:uFillTx/>
                <a:latin typeface="Calibri"/>
                <a:ea typeface="Calibri"/>
              </a:rPr>
              <a:t>Baseline resolution rate across all of ClinVar: 7.0%. TP53 sits at 20.4%, well above baseline but outside this top 10, which is dominated by lower-submission-volume genes with unusually consistent early curator agreement</a:t>
            </a:r>
            <a:r>
              <a:rPr lang="en-US" sz="1100" b="0" u="none" strike="noStrike">
                <a:solidFill>
                  <a:srgbClr val="475265"/>
                </a:solidFill>
                <a:effectLst/>
                <a:uFillTx/>
                <a:latin typeface="Calibri"/>
                <a:ea typeface="Calibri"/>
              </a:rPr>
              <a:t>.</a:t>
            </a:r>
            <a:endParaRPr lang="en-US" sz="1100" b="0" u="none" strike="noStrike">
              <a:solidFill>
                <a:srgbClr val="000000"/>
              </a:solidFill>
              <a:effectLst/>
              <a:uFillTx/>
              <a:latin typeface="Arial"/>
            </a:endParaRPr>
          </a:p>
        </p:txBody>
      </p:sp>
      <p:sp>
        <p:nvSpPr>
          <p:cNvPr id="302"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a:t>
            </a:r>
            <a:r>
              <a:rPr lang="en-US" sz="1000" b="0" u="none" strike="noStrike">
                <a:solidFill>
                  <a:srgbClr val="8D99AE"/>
                </a:solidFill>
                <a:effectLst/>
                <a:uFillTx/>
                <a:latin typeface="Calibri"/>
                <a:ea typeface="Calibri"/>
              </a:rPr>
              <a:t>5</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3"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WHAT THIS MEANS</a:t>
            </a:r>
            <a:endParaRPr lang="en-US" sz="1200" b="0" u="none" strike="noStrike">
              <a:solidFill>
                <a:srgbClr val="000000"/>
              </a:solidFill>
              <a:effectLst/>
              <a:uFillTx/>
              <a:latin typeface="Arial"/>
            </a:endParaRPr>
          </a:p>
        </p:txBody>
      </p:sp>
      <p:sp>
        <p:nvSpPr>
          <p:cNvPr id="304"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How This Changes VUS Reporting</a:t>
            </a:r>
            <a:endParaRPr lang="en-US" sz="3000" b="0" u="none" strike="noStrike">
              <a:solidFill>
                <a:srgbClr val="000000"/>
              </a:solidFill>
              <a:effectLst/>
              <a:uFillTx/>
              <a:latin typeface="Arial"/>
            </a:endParaRPr>
          </a:p>
        </p:txBody>
      </p:sp>
      <p:sp>
        <p:nvSpPr>
          <p:cNvPr id="305" name=""/>
          <p:cNvSpPr/>
          <p:nvPr/>
        </p:nvSpPr>
        <p:spPr>
          <a:xfrm>
            <a:off x="548640" y="1554480"/>
            <a:ext cx="11064600" cy="1051920"/>
          </a:xfrm>
          <a:custGeom>
            <a:avLst/>
            <a:gdLst/>
            <a:ahLst/>
            <a:rect l="0" t="0" r="r" b="b"/>
            <a:pathLst>
              <a:path w="30735" h="2922">
                <a:moveTo>
                  <a:pt x="30531" y="0"/>
                </a:moveTo>
                <a:cubicBezTo>
                  <a:pt x="30667" y="0"/>
                  <a:pt x="30735" y="68"/>
                  <a:pt x="30735" y="203"/>
                </a:cubicBezTo>
                <a:lnTo>
                  <a:pt x="30735" y="2718"/>
                </a:lnTo>
                <a:cubicBezTo>
                  <a:pt x="30735" y="2854"/>
                  <a:pt x="30667" y="2922"/>
                  <a:pt x="30531" y="2922"/>
                </a:cubicBezTo>
                <a:lnTo>
                  <a:pt x="203" y="2922"/>
                </a:lnTo>
                <a:cubicBezTo>
                  <a:pt x="68" y="2922"/>
                  <a:pt x="0" y="2854"/>
                  <a:pt x="0" y="2718"/>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06" name=""/>
          <p:cNvSpPr txBox="1"/>
          <p:nvPr/>
        </p:nvSpPr>
        <p:spPr>
          <a:xfrm>
            <a:off x="777240" y="1645920"/>
            <a:ext cx="2103120" cy="868680"/>
          </a:xfrm>
          <a:prstGeom prst="rect">
            <a:avLst/>
          </a:prstGeom>
          <a:noFill/>
          <a:ln w="0">
            <a:noFill/>
          </a:ln>
        </p:spPr>
        <p:txBody>
          <a:bodyPr lIns="90000" tIns="45000" rIns="90000" bIns="45000" anchor="t">
            <a:spAutoFit/>
          </a:bodyPr>
          <a:p>
            <a:r>
              <a:rPr lang="en-US" sz="1500" b="1" u="none" strike="noStrike">
                <a:solidFill>
                  <a:srgbClr val="1C375C"/>
                </a:solidFill>
                <a:effectLst/>
                <a:uFillTx/>
                <a:latin typeface="Cambria-Bold"/>
                <a:ea typeface="Cambria-Bold"/>
              </a:rPr>
              <a:t>Today</a:t>
            </a:r>
            <a:endParaRPr lang="en-US" sz="1500" b="0" u="none" strike="noStrike">
              <a:solidFill>
                <a:srgbClr val="000000"/>
              </a:solidFill>
              <a:effectLst/>
              <a:uFillTx/>
              <a:latin typeface="Arial"/>
            </a:endParaRPr>
          </a:p>
        </p:txBody>
      </p:sp>
      <p:sp>
        <p:nvSpPr>
          <p:cNvPr id="307" name=""/>
          <p:cNvSpPr txBox="1"/>
          <p:nvPr/>
        </p:nvSpPr>
        <p:spPr>
          <a:xfrm>
            <a:off x="3063240" y="1645920"/>
            <a:ext cx="8366760" cy="868680"/>
          </a:xfrm>
          <a:prstGeom prst="rect">
            <a:avLst/>
          </a:prstGeom>
          <a:noFill/>
          <a:ln w="0">
            <a:noFill/>
          </a:ln>
        </p:spPr>
        <p:txBody>
          <a:bodyPr lIns="90000" tIns="45000" rIns="90000" bIns="45000" anchor="t">
            <a:spAutoFit/>
          </a:bodyPr>
          <a:p>
            <a:pPr>
              <a:lnSpc>
                <a:spcPct val="120000"/>
              </a:lnSpc>
            </a:pPr>
            <a:r>
              <a:rPr lang="en-US" sz="1200" b="0" u="none" strike="noStrike">
                <a:solidFill>
                  <a:srgbClr val="2A3547"/>
                </a:solidFill>
                <a:effectLst/>
                <a:uFillTx/>
                <a:latin typeface="Calibri"/>
                <a:ea typeface="Calibri"/>
              </a:rPr>
              <a:t>Every VUS is reported with equal uncertainty, regardless of how likely it is to resolve soon</a:t>
            </a:r>
            <a:r>
              <a:rPr lang="en-US" sz="1200" b="0" u="none" strike="noStrike">
                <a:solidFill>
                  <a:srgbClr val="2A3547"/>
                </a:solidFill>
                <a:effectLst/>
                <a:uFillTx/>
                <a:latin typeface="Calibri"/>
                <a:ea typeface="Calibri"/>
              </a:rPr>
              <a:t>.</a:t>
            </a:r>
            <a:endParaRPr lang="en-US" sz="1200" b="0" u="none" strike="noStrike">
              <a:solidFill>
                <a:srgbClr val="000000"/>
              </a:solidFill>
              <a:effectLst/>
              <a:uFillTx/>
              <a:latin typeface="Arial"/>
            </a:endParaRPr>
          </a:p>
        </p:txBody>
      </p:sp>
      <p:sp>
        <p:nvSpPr>
          <p:cNvPr id="308" name=""/>
          <p:cNvSpPr/>
          <p:nvPr/>
        </p:nvSpPr>
        <p:spPr>
          <a:xfrm>
            <a:off x="548640" y="2743200"/>
            <a:ext cx="11064600" cy="1051920"/>
          </a:xfrm>
          <a:custGeom>
            <a:avLst/>
            <a:gdLst/>
            <a:ahLst/>
            <a:rect l="0" t="0" r="r" b="b"/>
            <a:pathLst>
              <a:path w="30735" h="2922">
                <a:moveTo>
                  <a:pt x="30531" y="0"/>
                </a:moveTo>
                <a:cubicBezTo>
                  <a:pt x="30667" y="0"/>
                  <a:pt x="30735" y="68"/>
                  <a:pt x="30735" y="203"/>
                </a:cubicBezTo>
                <a:lnTo>
                  <a:pt x="30735" y="2718"/>
                </a:lnTo>
                <a:cubicBezTo>
                  <a:pt x="30735" y="2854"/>
                  <a:pt x="30667" y="2922"/>
                  <a:pt x="30531" y="2922"/>
                </a:cubicBezTo>
                <a:lnTo>
                  <a:pt x="203" y="2922"/>
                </a:lnTo>
                <a:cubicBezTo>
                  <a:pt x="68" y="2922"/>
                  <a:pt x="0" y="2854"/>
                  <a:pt x="0" y="2718"/>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09" name=""/>
          <p:cNvSpPr txBox="1"/>
          <p:nvPr/>
        </p:nvSpPr>
        <p:spPr>
          <a:xfrm>
            <a:off x="777240" y="2834640"/>
            <a:ext cx="2103120" cy="868680"/>
          </a:xfrm>
          <a:prstGeom prst="rect">
            <a:avLst/>
          </a:prstGeom>
          <a:noFill/>
          <a:ln w="0">
            <a:noFill/>
          </a:ln>
        </p:spPr>
        <p:txBody>
          <a:bodyPr lIns="90000" tIns="45000" rIns="90000" bIns="45000" anchor="t">
            <a:spAutoFit/>
          </a:bodyPr>
          <a:p>
            <a:r>
              <a:rPr lang="en-US" sz="1500" b="1" u="none" strike="noStrike">
                <a:solidFill>
                  <a:srgbClr val="1C375C"/>
                </a:solidFill>
                <a:effectLst/>
                <a:uFillTx/>
                <a:latin typeface="Cambria-Bold"/>
                <a:ea typeface="Cambria-Bold"/>
              </a:rPr>
              <a:t>With this model</a:t>
            </a:r>
            <a:endParaRPr lang="en-US" sz="1500" b="0" u="none" strike="noStrike">
              <a:solidFill>
                <a:srgbClr val="000000"/>
              </a:solidFill>
              <a:effectLst/>
              <a:uFillTx/>
              <a:latin typeface="Arial"/>
            </a:endParaRPr>
          </a:p>
        </p:txBody>
      </p:sp>
      <p:sp>
        <p:nvSpPr>
          <p:cNvPr id="310" name=""/>
          <p:cNvSpPr txBox="1"/>
          <p:nvPr/>
        </p:nvSpPr>
        <p:spPr>
          <a:xfrm>
            <a:off x="3063240" y="2834640"/>
            <a:ext cx="8366760" cy="868680"/>
          </a:xfrm>
          <a:prstGeom prst="rect">
            <a:avLst/>
          </a:prstGeom>
          <a:noFill/>
          <a:ln w="0">
            <a:noFill/>
          </a:ln>
        </p:spPr>
        <p:txBody>
          <a:bodyPr lIns="90000" tIns="45000" rIns="90000" bIns="45000" anchor="t">
            <a:spAutoFit/>
          </a:bodyPr>
          <a:p>
            <a:pPr>
              <a:lnSpc>
                <a:spcPct val="120000"/>
              </a:lnSpc>
            </a:pPr>
            <a:r>
              <a:rPr lang="en-US" sz="1200" b="0" u="none" strike="noStrike">
                <a:solidFill>
                  <a:srgbClr val="2A3547"/>
                </a:solidFill>
                <a:effectLst/>
                <a:uFillTx/>
                <a:latin typeface="Calibri"/>
                <a:ea typeface="Calibri"/>
              </a:rPr>
              <a:t>Each VUS in ClinVar carries a ranked probability, so any report drawing on it can flag which variants deserve closer attention</a:t>
            </a:r>
            <a:r>
              <a:rPr lang="en-US" sz="1200" b="0" u="none" strike="noStrike">
                <a:solidFill>
                  <a:srgbClr val="2A3547"/>
                </a:solidFill>
                <a:effectLst/>
                <a:uFillTx/>
                <a:latin typeface="Calibri"/>
                <a:ea typeface="Calibri"/>
              </a:rPr>
              <a:t>.</a:t>
            </a:r>
            <a:endParaRPr lang="en-US" sz="1200" b="0" u="none" strike="noStrike">
              <a:solidFill>
                <a:srgbClr val="000000"/>
              </a:solidFill>
              <a:effectLst/>
              <a:uFillTx/>
              <a:latin typeface="Arial"/>
            </a:endParaRPr>
          </a:p>
        </p:txBody>
      </p:sp>
      <p:sp>
        <p:nvSpPr>
          <p:cNvPr id="311" name=""/>
          <p:cNvSpPr/>
          <p:nvPr/>
        </p:nvSpPr>
        <p:spPr>
          <a:xfrm>
            <a:off x="548640" y="3931920"/>
            <a:ext cx="11064600" cy="1051920"/>
          </a:xfrm>
          <a:custGeom>
            <a:avLst/>
            <a:gdLst/>
            <a:ahLst/>
            <a:rect l="0" t="0" r="r" b="b"/>
            <a:pathLst>
              <a:path w="30735" h="2922">
                <a:moveTo>
                  <a:pt x="30531" y="0"/>
                </a:moveTo>
                <a:cubicBezTo>
                  <a:pt x="30667" y="0"/>
                  <a:pt x="30735" y="68"/>
                  <a:pt x="30735" y="203"/>
                </a:cubicBezTo>
                <a:lnTo>
                  <a:pt x="30735" y="2718"/>
                </a:lnTo>
                <a:cubicBezTo>
                  <a:pt x="30735" y="2854"/>
                  <a:pt x="30667" y="2922"/>
                  <a:pt x="30531" y="2922"/>
                </a:cubicBezTo>
                <a:lnTo>
                  <a:pt x="203" y="2922"/>
                </a:lnTo>
                <a:cubicBezTo>
                  <a:pt x="68" y="2922"/>
                  <a:pt x="0" y="2854"/>
                  <a:pt x="0" y="2718"/>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12" name=""/>
          <p:cNvSpPr txBox="1"/>
          <p:nvPr/>
        </p:nvSpPr>
        <p:spPr>
          <a:xfrm>
            <a:off x="777240" y="4023360"/>
            <a:ext cx="2103120" cy="868680"/>
          </a:xfrm>
          <a:prstGeom prst="rect">
            <a:avLst/>
          </a:prstGeom>
          <a:noFill/>
          <a:ln w="0">
            <a:noFill/>
          </a:ln>
        </p:spPr>
        <p:txBody>
          <a:bodyPr lIns="90000" tIns="45000" rIns="90000" bIns="45000" anchor="t">
            <a:spAutoFit/>
          </a:bodyPr>
          <a:p>
            <a:r>
              <a:rPr lang="en-US" sz="1500" b="1" u="none" strike="noStrike">
                <a:solidFill>
                  <a:srgbClr val="1C375C"/>
                </a:solidFill>
                <a:effectLst/>
                <a:uFillTx/>
                <a:latin typeface="Cambria-Bold"/>
                <a:ea typeface="Cambria-Bold"/>
              </a:rPr>
              <a:t>For curators</a:t>
            </a:r>
            <a:endParaRPr lang="en-US" sz="1500" b="0" u="none" strike="noStrike">
              <a:solidFill>
                <a:srgbClr val="000000"/>
              </a:solidFill>
              <a:effectLst/>
              <a:uFillTx/>
              <a:latin typeface="Arial"/>
            </a:endParaRPr>
          </a:p>
        </p:txBody>
      </p:sp>
      <p:sp>
        <p:nvSpPr>
          <p:cNvPr id="313" name=""/>
          <p:cNvSpPr txBox="1"/>
          <p:nvPr/>
        </p:nvSpPr>
        <p:spPr>
          <a:xfrm>
            <a:off x="3063240" y="4023360"/>
            <a:ext cx="8366760" cy="868680"/>
          </a:xfrm>
          <a:prstGeom prst="rect">
            <a:avLst/>
          </a:prstGeom>
          <a:noFill/>
          <a:ln w="0">
            <a:noFill/>
          </a:ln>
        </p:spPr>
        <p:txBody>
          <a:bodyPr lIns="90000" tIns="45000" rIns="90000" bIns="45000" anchor="t">
            <a:spAutoFit/>
          </a:bodyPr>
          <a:p>
            <a:pPr>
              <a:lnSpc>
                <a:spcPct val="120000"/>
              </a:lnSpc>
            </a:pPr>
            <a:r>
              <a:rPr lang="en-US" sz="1200" b="0" u="none" strike="noStrike">
                <a:solidFill>
                  <a:srgbClr val="2A3547"/>
                </a:solidFill>
                <a:effectLst/>
                <a:uFillTx/>
                <a:latin typeface="Calibri"/>
                <a:ea typeface="Calibri"/>
              </a:rPr>
              <a:t>The 37,167-variant high-probability pool is a real, prioritized review queue instead of 2,330,308 undifferentiated variants.</a:t>
            </a:r>
            <a:endParaRPr lang="en-US" sz="1200" b="0" u="none" strike="noStrike">
              <a:solidFill>
                <a:srgbClr val="000000"/>
              </a:solidFill>
              <a:effectLst/>
              <a:uFillTx/>
              <a:latin typeface="Arial"/>
            </a:endParaRPr>
          </a:p>
        </p:txBody>
      </p:sp>
      <p:sp>
        <p:nvSpPr>
          <p:cNvPr id="314" name=""/>
          <p:cNvSpPr/>
          <p:nvPr/>
        </p:nvSpPr>
        <p:spPr>
          <a:xfrm>
            <a:off x="548640" y="5120640"/>
            <a:ext cx="11064600" cy="1051920"/>
          </a:xfrm>
          <a:custGeom>
            <a:avLst/>
            <a:gdLst/>
            <a:ahLst/>
            <a:rect l="0" t="0" r="r" b="b"/>
            <a:pathLst>
              <a:path w="30735" h="2922">
                <a:moveTo>
                  <a:pt x="30531" y="0"/>
                </a:moveTo>
                <a:cubicBezTo>
                  <a:pt x="30667" y="0"/>
                  <a:pt x="30735" y="68"/>
                  <a:pt x="30735" y="203"/>
                </a:cubicBezTo>
                <a:lnTo>
                  <a:pt x="30735" y="2718"/>
                </a:lnTo>
                <a:cubicBezTo>
                  <a:pt x="30735" y="2854"/>
                  <a:pt x="30667" y="2922"/>
                  <a:pt x="30531" y="2922"/>
                </a:cubicBezTo>
                <a:lnTo>
                  <a:pt x="203" y="2922"/>
                </a:lnTo>
                <a:cubicBezTo>
                  <a:pt x="68" y="2922"/>
                  <a:pt x="0" y="2854"/>
                  <a:pt x="0" y="2718"/>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15" name=""/>
          <p:cNvSpPr txBox="1"/>
          <p:nvPr/>
        </p:nvSpPr>
        <p:spPr>
          <a:xfrm>
            <a:off x="777240" y="5212080"/>
            <a:ext cx="2103120" cy="868680"/>
          </a:xfrm>
          <a:prstGeom prst="rect">
            <a:avLst/>
          </a:prstGeom>
          <a:noFill/>
          <a:ln w="0">
            <a:noFill/>
          </a:ln>
        </p:spPr>
        <p:txBody>
          <a:bodyPr lIns="90000" tIns="45000" rIns="90000" bIns="45000" anchor="t">
            <a:spAutoFit/>
          </a:bodyPr>
          <a:p>
            <a:r>
              <a:rPr lang="en-US" sz="1500" b="1" u="none" strike="noStrike">
                <a:solidFill>
                  <a:srgbClr val="1C375C"/>
                </a:solidFill>
                <a:effectLst/>
                <a:uFillTx/>
                <a:latin typeface="Cambria-Bold"/>
                <a:ea typeface="Cambria-Bold"/>
              </a:rPr>
              <a:t>For patients</a:t>
            </a:r>
            <a:endParaRPr lang="en-US" sz="1500" b="0" u="none" strike="noStrike">
              <a:solidFill>
                <a:srgbClr val="000000"/>
              </a:solidFill>
              <a:effectLst/>
              <a:uFillTx/>
              <a:latin typeface="Arial"/>
            </a:endParaRPr>
          </a:p>
        </p:txBody>
      </p:sp>
      <p:sp>
        <p:nvSpPr>
          <p:cNvPr id="316" name=""/>
          <p:cNvSpPr txBox="1"/>
          <p:nvPr/>
        </p:nvSpPr>
        <p:spPr>
          <a:xfrm>
            <a:off x="3063240" y="5212080"/>
            <a:ext cx="8366760" cy="868680"/>
          </a:xfrm>
          <a:prstGeom prst="rect">
            <a:avLst/>
          </a:prstGeom>
          <a:noFill/>
          <a:ln w="0">
            <a:noFill/>
          </a:ln>
        </p:spPr>
        <p:txBody>
          <a:bodyPr lIns="90000" tIns="45000" rIns="90000" bIns="45000" anchor="t">
            <a:spAutoFit/>
          </a:bodyPr>
          <a:p>
            <a:pPr>
              <a:lnSpc>
                <a:spcPct val="120000"/>
              </a:lnSpc>
            </a:pPr>
            <a:r>
              <a:rPr lang="en-US" sz="1200" b="0" u="none" strike="noStrike">
                <a:solidFill>
                  <a:srgbClr val="2A3547"/>
                </a:solidFill>
                <a:effectLst/>
                <a:uFillTx/>
                <a:latin typeface="Calibri"/>
                <a:ea typeface="Calibri"/>
              </a:rPr>
              <a:t>A variant in a gene with a real, historically-high resolution rate is a fundamentally different conversation than one sitting at the model's flat baseline</a:t>
            </a:r>
            <a:r>
              <a:rPr lang="en-US" sz="1200" b="0" u="none" strike="noStrike">
                <a:solidFill>
                  <a:srgbClr val="2A3547"/>
                </a:solidFill>
                <a:effectLst/>
                <a:uFillTx/>
                <a:latin typeface="Calibri"/>
                <a:ea typeface="Calibri"/>
              </a:rPr>
              <a:t>.</a:t>
            </a:r>
            <a:endParaRPr lang="en-US" sz="1200" b="0" u="none" strike="noStrike">
              <a:solidFill>
                <a:srgbClr val="000000"/>
              </a:solidFill>
              <a:effectLst/>
              <a:uFillTx/>
              <a:latin typeface="Arial"/>
            </a:endParaRPr>
          </a:p>
        </p:txBody>
      </p:sp>
      <p:sp>
        <p:nvSpPr>
          <p:cNvPr id="317"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26</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8"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RESULTS</a:t>
            </a:r>
            <a:endParaRPr lang="en-US" sz="1200" b="0" u="none" strike="noStrike">
              <a:solidFill>
                <a:srgbClr val="000000"/>
              </a:solidFill>
              <a:effectLst/>
              <a:uFillTx/>
              <a:latin typeface="Arial"/>
            </a:endParaRPr>
          </a:p>
        </p:txBody>
      </p:sp>
      <p:sp>
        <p:nvSpPr>
          <p:cNvPr id="319" name=""/>
          <p:cNvSpPr txBox="1"/>
          <p:nvPr/>
        </p:nvSpPr>
        <p:spPr>
          <a:xfrm>
            <a:off x="548640" y="658440"/>
            <a:ext cx="10789920" cy="777240"/>
          </a:xfrm>
          <a:prstGeom prst="rect">
            <a:avLst/>
          </a:prstGeom>
          <a:noFill/>
          <a:ln w="0">
            <a:noFill/>
          </a:ln>
        </p:spPr>
        <p:txBody>
          <a:bodyPr lIns="90000" tIns="45000" rIns="90000" bIns="45000" anchor="t">
            <a:spAutoFit/>
          </a:bodyPr>
          <a:p>
            <a:r>
              <a:rPr lang="en-US" sz="2800" b="1" u="none" strike="noStrike">
                <a:solidFill>
                  <a:srgbClr val="1F242E"/>
                </a:solidFill>
                <a:effectLst/>
                <a:uFillTx/>
                <a:latin typeface="Cambria-Bold"/>
                <a:ea typeface="Cambria-Bold"/>
              </a:rPr>
              <a:t>What the Numbers Actually Say</a:t>
            </a:r>
            <a:endParaRPr lang="en-US" sz="2800" b="0" u="none" strike="noStrike">
              <a:solidFill>
                <a:srgbClr val="000000"/>
              </a:solidFill>
              <a:effectLst/>
              <a:uFillTx/>
              <a:latin typeface="Arial"/>
            </a:endParaRPr>
          </a:p>
        </p:txBody>
      </p:sp>
      <p:sp>
        <p:nvSpPr>
          <p:cNvPr id="320" name=""/>
          <p:cNvSpPr/>
          <p:nvPr/>
        </p:nvSpPr>
        <p:spPr>
          <a:xfrm>
            <a:off x="548640" y="150876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21" name=""/>
          <p:cNvSpPr txBox="1"/>
          <p:nvPr/>
        </p:nvSpPr>
        <p:spPr>
          <a:xfrm>
            <a:off x="777240" y="1600200"/>
            <a:ext cx="1828800" cy="914400"/>
          </a:xfrm>
          <a:prstGeom prst="rect">
            <a:avLst/>
          </a:prstGeom>
          <a:noFill/>
          <a:ln w="0">
            <a:noFill/>
          </a:ln>
        </p:spPr>
        <p:txBody>
          <a:bodyPr lIns="90000" tIns="45000" rIns="90000" bIns="45000" anchor="t">
            <a:spAutoFit/>
          </a:bodyPr>
          <a:p>
            <a:pPr>
              <a:lnSpc>
                <a:spcPct val="115000"/>
              </a:lnSpc>
            </a:pPr>
            <a:r>
              <a:rPr lang="en-US" sz="1400" b="1" u="none" strike="noStrike">
                <a:solidFill>
                  <a:srgbClr val="1C375C"/>
                </a:solidFill>
                <a:effectLst/>
                <a:uFillTx/>
                <a:latin typeface="Cambria-Bold"/>
                <a:ea typeface="Cambria-Bold"/>
              </a:rPr>
              <a:t>Variant origin</a:t>
            </a:r>
            <a:endParaRPr lang="en-US" sz="1400" b="0" u="none" strike="noStrike">
              <a:solidFill>
                <a:srgbClr val="000000"/>
              </a:solidFill>
              <a:effectLst/>
              <a:uFillTx/>
              <a:latin typeface="Arial"/>
            </a:endParaRPr>
          </a:p>
        </p:txBody>
      </p:sp>
      <p:sp>
        <p:nvSpPr>
          <p:cNvPr id="322" name=""/>
          <p:cNvSpPr txBox="1"/>
          <p:nvPr/>
        </p:nvSpPr>
        <p:spPr>
          <a:xfrm>
            <a:off x="2697480" y="1600200"/>
            <a:ext cx="3520440" cy="914400"/>
          </a:xfrm>
          <a:prstGeom prst="rect">
            <a:avLst/>
          </a:prstGeom>
          <a:noFill/>
          <a:ln w="0">
            <a:noFill/>
          </a:ln>
        </p:spPr>
        <p:txBody>
          <a:bodyPr lIns="90000" tIns="45000" rIns="90000" bIns="45000" anchor="t">
            <a:spAutoFit/>
          </a:bodyPr>
          <a:p>
            <a:pPr>
              <a:lnSpc>
                <a:spcPct val="120000"/>
              </a:lnSpc>
            </a:pPr>
            <a:r>
              <a:rPr lang="en-US" sz="1100" b="1" u="none" strike="noStrike">
                <a:solidFill>
                  <a:srgbClr val="E76C4E"/>
                </a:solidFill>
                <a:effectLst/>
                <a:uFillTx/>
                <a:latin typeface="Calibri-Bold"/>
                <a:ea typeface="Calibri-Bold"/>
              </a:rPr>
              <a:t>Precision ≥ 0.90 across 45,706 rows, 149 real patients</a:t>
            </a:r>
            <a:r>
              <a:rPr lang="en-US" sz="1100" b="1" u="none" strike="noStrike">
                <a:solidFill>
                  <a:srgbClr val="E76C4E"/>
                </a:solidFill>
                <a:effectLst/>
                <a:uFillTx/>
                <a:latin typeface="Calibri-Bold"/>
                <a:ea typeface="Calibri-Bold"/>
              </a:rPr>
              <a:t>.</a:t>
            </a:r>
            <a:endParaRPr lang="en-US" sz="1100" b="0" u="none" strike="noStrike">
              <a:solidFill>
                <a:srgbClr val="000000"/>
              </a:solidFill>
              <a:effectLst/>
              <a:uFillTx/>
              <a:latin typeface="Arial"/>
            </a:endParaRPr>
          </a:p>
        </p:txBody>
      </p:sp>
      <p:sp>
        <p:nvSpPr>
          <p:cNvPr id="323" name=""/>
          <p:cNvSpPr txBox="1"/>
          <p:nvPr/>
        </p:nvSpPr>
        <p:spPr>
          <a:xfrm>
            <a:off x="6355080" y="1600200"/>
            <a:ext cx="507492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Strong enough to trust in a real pipeline. This stage is essentially solved for the data it was trained on</a:t>
            </a:r>
            <a:r>
              <a:rPr lang="en-US" sz="1000" b="0" u="none" strike="noStrike">
                <a:solidFill>
                  <a:srgbClr val="2A3547"/>
                </a:solidFill>
                <a:effectLst/>
                <a:uFillTx/>
                <a:latin typeface="Calibri"/>
                <a:ea typeface="Calibri"/>
              </a:rPr>
              <a:t>.</a:t>
            </a:r>
            <a:endParaRPr lang="en-US" sz="1000" b="0" u="none" strike="noStrike">
              <a:solidFill>
                <a:srgbClr val="000000"/>
              </a:solidFill>
              <a:effectLst/>
              <a:uFillTx/>
              <a:latin typeface="Arial"/>
            </a:endParaRPr>
          </a:p>
        </p:txBody>
      </p:sp>
      <p:sp>
        <p:nvSpPr>
          <p:cNvPr id="324" name=""/>
          <p:cNvSpPr/>
          <p:nvPr/>
        </p:nvSpPr>
        <p:spPr>
          <a:xfrm>
            <a:off x="548640" y="271584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25" name=""/>
          <p:cNvSpPr txBox="1"/>
          <p:nvPr/>
        </p:nvSpPr>
        <p:spPr>
          <a:xfrm>
            <a:off x="777240" y="2807280"/>
            <a:ext cx="1828800" cy="914400"/>
          </a:xfrm>
          <a:prstGeom prst="rect">
            <a:avLst/>
          </a:prstGeom>
          <a:noFill/>
          <a:ln w="0">
            <a:noFill/>
          </a:ln>
        </p:spPr>
        <p:txBody>
          <a:bodyPr lIns="90000" tIns="45000" rIns="90000" bIns="45000" anchor="t">
            <a:spAutoFit/>
          </a:bodyPr>
          <a:p>
            <a:pPr>
              <a:lnSpc>
                <a:spcPct val="115000"/>
              </a:lnSpc>
            </a:pPr>
            <a:r>
              <a:rPr lang="en-US" sz="1400" b="1" u="none" strike="noStrike">
                <a:solidFill>
                  <a:srgbClr val="1C375C"/>
                </a:solidFill>
                <a:effectLst/>
                <a:uFillTx/>
                <a:latin typeface="Cambria-Bold"/>
                <a:ea typeface="Cambria-Bold"/>
              </a:rPr>
              <a:t>Will it resolve</a:t>
            </a:r>
            <a:endParaRPr lang="en-US" sz="1400" b="0" u="none" strike="noStrike">
              <a:solidFill>
                <a:srgbClr val="000000"/>
              </a:solidFill>
              <a:effectLst/>
              <a:uFillTx/>
              <a:latin typeface="Arial"/>
            </a:endParaRPr>
          </a:p>
        </p:txBody>
      </p:sp>
      <p:sp>
        <p:nvSpPr>
          <p:cNvPr id="326" name=""/>
          <p:cNvSpPr txBox="1"/>
          <p:nvPr/>
        </p:nvSpPr>
        <p:spPr>
          <a:xfrm>
            <a:off x="2697480" y="2807280"/>
            <a:ext cx="3520440" cy="914400"/>
          </a:xfrm>
          <a:prstGeom prst="rect">
            <a:avLst/>
          </a:prstGeom>
          <a:noFill/>
          <a:ln w="0">
            <a:noFill/>
          </a:ln>
        </p:spPr>
        <p:txBody>
          <a:bodyPr lIns="90000" tIns="45000" rIns="90000" bIns="45000" anchor="t">
            <a:spAutoFit/>
          </a:bodyPr>
          <a:p>
            <a:pPr>
              <a:lnSpc>
                <a:spcPct val="120000"/>
              </a:lnSpc>
            </a:pPr>
            <a:r>
              <a:rPr lang="en-US" sz="1100" b="1" u="none" strike="noStrike">
                <a:solidFill>
                  <a:srgbClr val="E76C4E"/>
                </a:solidFill>
                <a:effectLst/>
                <a:uFillTx/>
                <a:latin typeface="Calibri-Bold"/>
                <a:ea typeface="Calibri-Bold"/>
              </a:rPr>
              <a:t>PR-AUC 0.432, ROC-AUC 0.849, against a population base rate under 10%</a:t>
            </a:r>
            <a:r>
              <a:rPr lang="en-US" sz="1100" b="1" u="none" strike="noStrike">
                <a:solidFill>
                  <a:srgbClr val="E76C4E"/>
                </a:solidFill>
                <a:effectLst/>
                <a:uFillTx/>
                <a:latin typeface="Calibri-Bold"/>
                <a:ea typeface="Calibri-Bold"/>
              </a:rPr>
              <a:t>.</a:t>
            </a:r>
            <a:endParaRPr lang="en-US" sz="1100" b="0" u="none" strike="noStrike">
              <a:solidFill>
                <a:srgbClr val="000000"/>
              </a:solidFill>
              <a:effectLst/>
              <a:uFillTx/>
              <a:latin typeface="Arial"/>
            </a:endParaRPr>
          </a:p>
        </p:txBody>
      </p:sp>
      <p:sp>
        <p:nvSpPr>
          <p:cNvPr id="327" name=""/>
          <p:cNvSpPr txBox="1"/>
          <p:nvPr/>
        </p:nvSpPr>
        <p:spPr>
          <a:xfrm>
            <a:off x="6355080" y="2807280"/>
            <a:ext cx="507492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Meaningful signal on a hard, imbalanced problem, though short of the 0.50-0.60 range this project originally aimed for</a:t>
            </a:r>
            <a:r>
              <a:rPr lang="en-US" sz="1000" b="0" u="none" strike="noStrike">
                <a:solidFill>
                  <a:srgbClr val="2A3547"/>
                </a:solidFill>
                <a:effectLst/>
                <a:uFillTx/>
                <a:latin typeface="Calibri"/>
                <a:ea typeface="Calibri"/>
              </a:rPr>
              <a:t>.</a:t>
            </a:r>
            <a:endParaRPr lang="en-US" sz="1000" b="0" u="none" strike="noStrike">
              <a:solidFill>
                <a:srgbClr val="000000"/>
              </a:solidFill>
              <a:effectLst/>
              <a:uFillTx/>
              <a:latin typeface="Arial"/>
            </a:endParaRPr>
          </a:p>
        </p:txBody>
      </p:sp>
      <p:sp>
        <p:nvSpPr>
          <p:cNvPr id="328" name=""/>
          <p:cNvSpPr/>
          <p:nvPr/>
        </p:nvSpPr>
        <p:spPr>
          <a:xfrm>
            <a:off x="548640" y="392292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29" name=""/>
          <p:cNvSpPr txBox="1"/>
          <p:nvPr/>
        </p:nvSpPr>
        <p:spPr>
          <a:xfrm>
            <a:off x="777240" y="4014360"/>
            <a:ext cx="1828800" cy="914400"/>
          </a:xfrm>
          <a:prstGeom prst="rect">
            <a:avLst/>
          </a:prstGeom>
          <a:noFill/>
          <a:ln w="0">
            <a:noFill/>
          </a:ln>
        </p:spPr>
        <p:txBody>
          <a:bodyPr lIns="90000" tIns="45000" rIns="90000" bIns="45000" anchor="t">
            <a:spAutoFit/>
          </a:bodyPr>
          <a:p>
            <a:pPr>
              <a:lnSpc>
                <a:spcPct val="115000"/>
              </a:lnSpc>
            </a:pPr>
            <a:r>
              <a:rPr lang="en-US" sz="1400" b="1" u="none" strike="noStrike">
                <a:solidFill>
                  <a:srgbClr val="1C375C"/>
                </a:solidFill>
                <a:effectLst/>
                <a:uFillTx/>
                <a:latin typeface="Cambria-Bold"/>
                <a:ea typeface="Cambria-Bold"/>
              </a:rPr>
              <a:t>When it resolves</a:t>
            </a:r>
            <a:endParaRPr lang="en-US" sz="1400" b="0" u="none" strike="noStrike">
              <a:solidFill>
                <a:srgbClr val="000000"/>
              </a:solidFill>
              <a:effectLst/>
              <a:uFillTx/>
              <a:latin typeface="Arial"/>
            </a:endParaRPr>
          </a:p>
        </p:txBody>
      </p:sp>
      <p:sp>
        <p:nvSpPr>
          <p:cNvPr id="330" name=""/>
          <p:cNvSpPr txBox="1"/>
          <p:nvPr/>
        </p:nvSpPr>
        <p:spPr>
          <a:xfrm>
            <a:off x="2697480" y="4014360"/>
            <a:ext cx="3520440" cy="914400"/>
          </a:xfrm>
          <a:prstGeom prst="rect">
            <a:avLst/>
          </a:prstGeom>
          <a:noFill/>
          <a:ln w="0">
            <a:noFill/>
          </a:ln>
        </p:spPr>
        <p:txBody>
          <a:bodyPr lIns="90000" tIns="45000" rIns="90000" bIns="45000" anchor="t">
            <a:spAutoFit/>
          </a:bodyPr>
          <a:p>
            <a:pPr>
              <a:lnSpc>
                <a:spcPct val="120000"/>
              </a:lnSpc>
            </a:pPr>
            <a:r>
              <a:rPr lang="en-US" sz="1100" b="1" u="none" strike="noStrike">
                <a:solidFill>
                  <a:srgbClr val="E76C4E"/>
                </a:solidFill>
                <a:effectLst/>
                <a:uFillTx/>
                <a:latin typeface="Calibri-Bold"/>
                <a:ea typeface="Calibri-Bold"/>
              </a:rPr>
              <a:t>c-index 0.760, with a year-by-year breakdown instead of one point estimate</a:t>
            </a:r>
            <a:r>
              <a:rPr lang="en-US" sz="1100" b="1" u="none" strike="noStrike">
                <a:solidFill>
                  <a:srgbClr val="E76C4E"/>
                </a:solidFill>
                <a:effectLst/>
                <a:uFillTx/>
                <a:latin typeface="Calibri-Bold"/>
                <a:ea typeface="Calibri-Bold"/>
              </a:rPr>
              <a:t>.</a:t>
            </a:r>
            <a:endParaRPr lang="en-US" sz="1100" b="0" u="none" strike="noStrike">
              <a:solidFill>
                <a:srgbClr val="000000"/>
              </a:solidFill>
              <a:effectLst/>
              <a:uFillTx/>
              <a:latin typeface="Arial"/>
            </a:endParaRPr>
          </a:p>
        </p:txBody>
      </p:sp>
      <p:sp>
        <p:nvSpPr>
          <p:cNvPr id="331" name=""/>
          <p:cNvSpPr txBox="1"/>
          <p:nvPr/>
        </p:nvSpPr>
        <p:spPr>
          <a:xfrm>
            <a:off x="6355080" y="4014360"/>
            <a:ext cx="507492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The most conservative result by design: 90.2% of the watchlist is expected to still be unresolved past year 10, and the model says so rather than guessing further out.</a:t>
            </a:r>
            <a:endParaRPr lang="en-US" sz="1000" b="0" u="none" strike="noStrike">
              <a:solidFill>
                <a:srgbClr val="000000"/>
              </a:solidFill>
              <a:effectLst/>
              <a:uFillTx/>
              <a:latin typeface="Arial"/>
            </a:endParaRPr>
          </a:p>
        </p:txBody>
      </p:sp>
      <p:sp>
        <p:nvSpPr>
          <p:cNvPr id="332" name=""/>
          <p:cNvSpPr/>
          <p:nvPr/>
        </p:nvSpPr>
        <p:spPr>
          <a:xfrm>
            <a:off x="548640" y="512964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33" name=""/>
          <p:cNvSpPr txBox="1"/>
          <p:nvPr/>
        </p:nvSpPr>
        <p:spPr>
          <a:xfrm>
            <a:off x="777240" y="5221080"/>
            <a:ext cx="1828800" cy="914400"/>
          </a:xfrm>
          <a:prstGeom prst="rect">
            <a:avLst/>
          </a:prstGeom>
          <a:noFill/>
          <a:ln w="0">
            <a:noFill/>
          </a:ln>
        </p:spPr>
        <p:txBody>
          <a:bodyPr lIns="90000" tIns="45000" rIns="90000" bIns="45000" anchor="t">
            <a:spAutoFit/>
          </a:bodyPr>
          <a:p>
            <a:pPr>
              <a:lnSpc>
                <a:spcPct val="115000"/>
              </a:lnSpc>
            </a:pPr>
            <a:r>
              <a:rPr lang="en-US" sz="1400" b="1" u="none" strike="noStrike">
                <a:solidFill>
                  <a:srgbClr val="1C375C"/>
                </a:solidFill>
                <a:effectLst/>
                <a:uFillTx/>
                <a:latin typeface="Cambria-Bold"/>
                <a:ea typeface="Cambria-Bold"/>
              </a:rPr>
              <a:t>Which way it resolves</a:t>
            </a:r>
            <a:endParaRPr lang="en-US" sz="1400" b="0" u="none" strike="noStrike">
              <a:solidFill>
                <a:srgbClr val="000000"/>
              </a:solidFill>
              <a:effectLst/>
              <a:uFillTx/>
              <a:latin typeface="Arial"/>
            </a:endParaRPr>
          </a:p>
        </p:txBody>
      </p:sp>
      <p:sp>
        <p:nvSpPr>
          <p:cNvPr id="334" name=""/>
          <p:cNvSpPr txBox="1"/>
          <p:nvPr/>
        </p:nvSpPr>
        <p:spPr>
          <a:xfrm>
            <a:off x="2697480" y="5221080"/>
            <a:ext cx="3520440" cy="914400"/>
          </a:xfrm>
          <a:prstGeom prst="rect">
            <a:avLst/>
          </a:prstGeom>
          <a:noFill/>
          <a:ln w="0">
            <a:noFill/>
          </a:ln>
        </p:spPr>
        <p:txBody>
          <a:bodyPr lIns="90000" tIns="45000" rIns="90000" bIns="45000" anchor="t">
            <a:spAutoFit/>
          </a:bodyPr>
          <a:p>
            <a:pPr>
              <a:lnSpc>
                <a:spcPct val="120000"/>
              </a:lnSpc>
            </a:pPr>
            <a:r>
              <a:rPr lang="en-US" sz="1100" b="1" u="none" strike="noStrike">
                <a:solidFill>
                  <a:srgbClr val="E76C4E"/>
                </a:solidFill>
                <a:effectLst/>
                <a:uFillTx/>
                <a:latin typeface="Calibri-Bold"/>
                <a:ea typeface="Calibri-Bold"/>
              </a:rPr>
              <a:t>ROC-AUC 0.946, PR-AUC 0.862, the strongest result in the project</a:t>
            </a:r>
            <a:r>
              <a:rPr lang="en-US" sz="1100" b="1" u="none" strike="noStrike">
                <a:solidFill>
                  <a:srgbClr val="E76C4E"/>
                </a:solidFill>
                <a:effectLst/>
                <a:uFillTx/>
                <a:latin typeface="Calibri-Bold"/>
                <a:ea typeface="Calibri-Bold"/>
              </a:rPr>
              <a:t>.</a:t>
            </a:r>
            <a:endParaRPr lang="en-US" sz="1100" b="0" u="none" strike="noStrike">
              <a:solidFill>
                <a:srgbClr val="000000"/>
              </a:solidFill>
              <a:effectLst/>
              <a:uFillTx/>
              <a:latin typeface="Arial"/>
            </a:endParaRPr>
          </a:p>
        </p:txBody>
      </p:sp>
      <p:sp>
        <p:nvSpPr>
          <p:cNvPr id="335" name=""/>
          <p:cNvSpPr txBox="1"/>
          <p:nvPr/>
        </p:nvSpPr>
        <p:spPr>
          <a:xfrm>
            <a:off x="6355080" y="5221080"/>
            <a:ext cx="507492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Once a variant has enough evidence to resolve, gene identity alone predicts the outcome well. That's a genuinely easier problem than resolution itself</a:t>
            </a:r>
            <a:r>
              <a:rPr lang="en-US" sz="1000" b="0" u="none" strike="noStrike">
                <a:solidFill>
                  <a:srgbClr val="2A3547"/>
                </a:solidFill>
                <a:effectLst/>
                <a:uFillTx/>
                <a:latin typeface="Calibri"/>
                <a:ea typeface="Calibri"/>
              </a:rPr>
              <a:t>.</a:t>
            </a:r>
            <a:endParaRPr lang="en-US" sz="1000" b="0" u="none" strike="noStrike">
              <a:solidFill>
                <a:srgbClr val="000000"/>
              </a:solidFill>
              <a:effectLst/>
              <a:uFillTx/>
              <a:latin typeface="Arial"/>
            </a:endParaRPr>
          </a:p>
        </p:txBody>
      </p:sp>
      <p:sp>
        <p:nvSpPr>
          <p:cNvPr id="336"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27</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42E"/>
        </a:solidFill>
      </p:bgPr>
    </p:bg>
    <p:spTree>
      <p:nvGrpSpPr>
        <p:cNvPr id="1" name=""/>
        <p:cNvGrpSpPr/>
        <p:nvPr/>
      </p:nvGrpSpPr>
      <p:grpSpPr>
        <a:xfrm>
          <a:off x="0" y="0"/>
          <a:ext cx="0" cy="0"/>
          <a:chOff x="0" y="0"/>
          <a:chExt cx="0" cy="0"/>
        </a:xfrm>
      </p:grpSpPr>
      <p:sp>
        <p:nvSpPr>
          <p:cNvPr id="337" name=""/>
          <p:cNvSpPr txBox="1"/>
          <p:nvPr/>
        </p:nvSpPr>
        <p:spPr>
          <a:xfrm>
            <a:off x="548640" y="502920"/>
            <a:ext cx="7315200" cy="365760"/>
          </a:xfrm>
          <a:prstGeom prst="rect">
            <a:avLst/>
          </a:prstGeom>
          <a:noFill/>
          <a:ln w="0">
            <a:noFill/>
          </a:ln>
        </p:spPr>
        <p:txBody>
          <a:bodyPr lIns="90000" tIns="45000" rIns="90000" bIns="45000" anchor="t">
            <a:spAutoFit/>
          </a:bodyPr>
          <a:p>
            <a:r>
              <a:rPr lang="en-US" sz="1300" b="1" u="none" spc="201" strike="noStrike">
                <a:solidFill>
                  <a:srgbClr val="E9C467"/>
                </a:solidFill>
                <a:effectLst/>
                <a:uFillTx/>
                <a:latin typeface="Calibri-Bold"/>
                <a:ea typeface="Calibri-Bold"/>
              </a:rPr>
              <a:t>GLOBAL VUS WATCHLIST</a:t>
            </a:r>
            <a:endParaRPr lang="en-US" sz="1300" b="0" u="none" strike="noStrike">
              <a:solidFill>
                <a:srgbClr val="FFFFFF"/>
              </a:solidFill>
              <a:effectLst/>
              <a:uFillTx/>
              <a:latin typeface="Arial"/>
            </a:endParaRPr>
          </a:p>
        </p:txBody>
      </p:sp>
      <p:sp>
        <p:nvSpPr>
          <p:cNvPr id="338" name=""/>
          <p:cNvSpPr txBox="1"/>
          <p:nvPr/>
        </p:nvSpPr>
        <p:spPr>
          <a:xfrm>
            <a:off x="548640" y="868680"/>
            <a:ext cx="11064240" cy="914400"/>
          </a:xfrm>
          <a:prstGeom prst="rect">
            <a:avLst/>
          </a:prstGeom>
          <a:noFill/>
          <a:ln w="0">
            <a:noFill/>
          </a:ln>
        </p:spPr>
        <p:txBody>
          <a:bodyPr lIns="90000" tIns="45000" rIns="90000" bIns="45000" anchor="t">
            <a:spAutoFit/>
          </a:bodyPr>
          <a:p>
            <a:pPr>
              <a:lnSpc>
                <a:spcPct val="105000"/>
              </a:lnSpc>
            </a:pPr>
            <a:r>
              <a:rPr lang="en-US" sz="3000" b="1" u="none" strike="noStrike">
                <a:solidFill>
                  <a:srgbClr val="FFFFFF"/>
                </a:solidFill>
                <a:effectLst/>
                <a:uFillTx/>
                <a:latin typeface="Cambria-Bold"/>
                <a:ea typeface="Cambria-Bold"/>
              </a:rPr>
              <a:t>Two Watchlist Deliverables, Ready to Share</a:t>
            </a:r>
            <a:endParaRPr lang="en-US" sz="3000" b="0" u="none" strike="noStrike">
              <a:solidFill>
                <a:srgbClr val="FFFFFF"/>
              </a:solidFill>
              <a:effectLst/>
              <a:uFillTx/>
              <a:latin typeface="Arial"/>
            </a:endParaRPr>
          </a:p>
        </p:txBody>
      </p:sp>
      <p:sp>
        <p:nvSpPr>
          <p:cNvPr id="339" name=""/>
          <p:cNvSpPr txBox="1"/>
          <p:nvPr/>
        </p:nvSpPr>
        <p:spPr>
          <a:xfrm>
            <a:off x="548640" y="1783080"/>
            <a:ext cx="11064240" cy="640080"/>
          </a:xfrm>
          <a:prstGeom prst="rect">
            <a:avLst/>
          </a:prstGeom>
          <a:noFill/>
          <a:ln w="0">
            <a:noFill/>
          </a:ln>
        </p:spPr>
        <p:txBody>
          <a:bodyPr lIns="90000" tIns="45000" rIns="90000" bIns="45000" anchor="t">
            <a:spAutoFit/>
          </a:bodyPr>
          <a:p>
            <a:pPr>
              <a:lnSpc>
                <a:spcPct val="135000"/>
              </a:lnSpc>
            </a:pPr>
            <a:r>
              <a:rPr lang="en-US" sz="1400" b="0" u="none" strike="noStrike">
                <a:solidFill>
                  <a:srgbClr val="D6DEEC"/>
                </a:solidFill>
                <a:effectLst/>
                <a:uFillTx/>
                <a:latin typeface="Calibri"/>
                <a:ea typeface="Calibri"/>
              </a:rPr>
              <a:t>Every VUS the model has scored, delivered as two linked spreadsheets: the full model output </a:t>
            </a:r>
            <a:r>
              <a:rPr lang="en-US" sz="1400" b="0" u="none" strike="noStrike">
                <a:solidFill>
                  <a:srgbClr val="D6DEEC"/>
                </a:solidFill>
                <a:effectLst/>
                <a:uFillTx/>
                <a:latin typeface="Calibri"/>
                <a:ea typeface="Calibri"/>
              </a:rPr>
              <a:t>for all the VUS in ClinVar</a:t>
            </a:r>
            <a:r>
              <a:rPr lang="en-US" sz="1400" b="0" u="none" strike="noStrike">
                <a:solidFill>
                  <a:srgbClr val="D6DEEC"/>
                </a:solidFill>
                <a:effectLst/>
                <a:uFillTx/>
                <a:latin typeface="Calibri"/>
                <a:ea typeface="Calibri"/>
              </a:rPr>
              <a:t>, and a short, </a:t>
            </a:r>
            <a:r>
              <a:rPr lang="en-US" sz="1400" b="0" u="none" strike="noStrike">
                <a:solidFill>
                  <a:srgbClr val="D6DEEC"/>
                </a:solidFill>
                <a:effectLst/>
                <a:uFillTx/>
                <a:latin typeface="Calibri"/>
                <a:ea typeface="Calibri"/>
              </a:rPr>
              <a:t>global watchlist for VUS’s likely to be reclassified in the next five years</a:t>
            </a:r>
            <a:endParaRPr lang="en-US" sz="1400" b="0" u="none" strike="noStrike">
              <a:solidFill>
                <a:srgbClr val="FFFFFF"/>
              </a:solidFill>
              <a:effectLst/>
              <a:uFillTx/>
              <a:latin typeface="Arial"/>
            </a:endParaRPr>
          </a:p>
        </p:txBody>
      </p:sp>
      <p:sp>
        <p:nvSpPr>
          <p:cNvPr id="340" name=""/>
          <p:cNvSpPr/>
          <p:nvPr/>
        </p:nvSpPr>
        <p:spPr>
          <a:xfrm>
            <a:off x="548640" y="2606040"/>
            <a:ext cx="5441040" cy="3566520"/>
          </a:xfrm>
          <a:custGeom>
            <a:avLst/>
            <a:gdLst/>
            <a:ahLst/>
            <a:rect l="0" t="0" r="r" b="b"/>
            <a:pathLst>
              <a:path w="15114" h="9907">
                <a:moveTo>
                  <a:pt x="14911" y="0"/>
                </a:moveTo>
                <a:cubicBezTo>
                  <a:pt x="15046" y="0"/>
                  <a:pt x="15114" y="68"/>
                  <a:pt x="15114" y="203"/>
                </a:cubicBezTo>
                <a:lnTo>
                  <a:pt x="15114" y="9704"/>
                </a:lnTo>
                <a:cubicBezTo>
                  <a:pt x="15114" y="9839"/>
                  <a:pt x="15046" y="9907"/>
                  <a:pt x="14911" y="9907"/>
                </a:cubicBezTo>
                <a:lnTo>
                  <a:pt x="203" y="9907"/>
                </a:lnTo>
                <a:cubicBezTo>
                  <a:pt x="68" y="9907"/>
                  <a:pt x="0" y="9839"/>
                  <a:pt x="0" y="9704"/>
                </a:cubicBezTo>
                <a:lnTo>
                  <a:pt x="0" y="203"/>
                </a:lnTo>
                <a:cubicBezTo>
                  <a:pt x="0" y="68"/>
                  <a:pt x="68" y="0"/>
                  <a:pt x="203" y="0"/>
                </a:cubicBezTo>
                <a:lnTo>
                  <a:pt x="14911" y="0"/>
                </a:lnTo>
                <a:close/>
              </a:path>
            </a:pathLst>
          </a:custGeom>
          <a:solidFill>
            <a:srgbClr val="1C375C"/>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341" name=""/>
          <p:cNvSpPr txBox="1"/>
          <p:nvPr/>
        </p:nvSpPr>
        <p:spPr>
          <a:xfrm>
            <a:off x="868680" y="2880360"/>
            <a:ext cx="4800600" cy="320040"/>
          </a:xfrm>
          <a:prstGeom prst="rect">
            <a:avLst/>
          </a:prstGeom>
          <a:noFill/>
          <a:ln w="0">
            <a:noFill/>
          </a:ln>
        </p:spPr>
        <p:txBody>
          <a:bodyPr lIns="90000" tIns="45000" rIns="90000" bIns="45000" anchor="t">
            <a:spAutoFit/>
          </a:bodyPr>
          <a:p>
            <a:r>
              <a:rPr lang="en-US" sz="1100" b="1" u="none" spc="150" strike="noStrike">
                <a:solidFill>
                  <a:srgbClr val="279D8F"/>
                </a:solidFill>
                <a:effectLst/>
                <a:uFillTx/>
                <a:latin typeface="Calibri-Bold"/>
                <a:ea typeface="Calibri-Bold"/>
              </a:rPr>
              <a:t>FULL MODEL OUTPUT</a:t>
            </a:r>
            <a:endParaRPr lang="en-US" sz="1100" b="0" u="none" strike="noStrike">
              <a:solidFill>
                <a:srgbClr val="FFFFFF"/>
              </a:solidFill>
              <a:effectLst/>
              <a:uFillTx/>
              <a:latin typeface="Arial"/>
            </a:endParaRPr>
          </a:p>
        </p:txBody>
      </p:sp>
      <p:sp>
        <p:nvSpPr>
          <p:cNvPr id="342" name=""/>
          <p:cNvSpPr txBox="1"/>
          <p:nvPr/>
        </p:nvSpPr>
        <p:spPr>
          <a:xfrm>
            <a:off x="868680" y="3200400"/>
            <a:ext cx="4800600" cy="502920"/>
          </a:xfrm>
          <a:prstGeom prst="rect">
            <a:avLst/>
          </a:prstGeom>
          <a:noFill/>
          <a:ln w="0">
            <a:noFill/>
          </a:ln>
        </p:spPr>
        <p:txBody>
          <a:bodyPr lIns="90000" tIns="45000" rIns="90000" bIns="45000" anchor="t">
            <a:spAutoFit/>
          </a:bodyPr>
          <a:p>
            <a:r>
              <a:rPr lang="en-US" sz="2000" b="1" u="none" strike="noStrike">
                <a:solidFill>
                  <a:srgbClr val="FFFFFF"/>
                </a:solidFill>
                <a:effectLst/>
                <a:uFillTx/>
                <a:latin typeface="Cambria-Bold"/>
                <a:ea typeface="Cambria-Bold"/>
              </a:rPr>
              <a:t>Global VUS Watchlist</a:t>
            </a:r>
            <a:endParaRPr lang="en-US" sz="2000" b="0" u="none" strike="noStrike">
              <a:solidFill>
                <a:srgbClr val="FFFFFF"/>
              </a:solidFill>
              <a:effectLst/>
              <a:uFillTx/>
              <a:latin typeface="Arial"/>
            </a:endParaRPr>
          </a:p>
        </p:txBody>
      </p:sp>
      <p:sp>
        <p:nvSpPr>
          <p:cNvPr id="343" name=""/>
          <p:cNvSpPr txBox="1"/>
          <p:nvPr/>
        </p:nvSpPr>
        <p:spPr>
          <a:xfrm>
            <a:off x="868680" y="3749040"/>
            <a:ext cx="4800600" cy="1554480"/>
          </a:xfrm>
          <a:prstGeom prst="rect">
            <a:avLst/>
          </a:prstGeom>
          <a:noFill/>
          <a:ln w="0">
            <a:noFill/>
          </a:ln>
        </p:spPr>
        <p:txBody>
          <a:bodyPr lIns="90000" tIns="45000" rIns="90000" bIns="45000" anchor="t">
            <a:spAutoFit/>
          </a:bodyPr>
          <a:p>
            <a:pPr>
              <a:lnSpc>
                <a:spcPct val="140000"/>
              </a:lnSpc>
            </a:pPr>
            <a:r>
              <a:rPr lang="en-US" sz="1300" b="0" u="none" strike="noStrike">
                <a:solidFill>
                  <a:srgbClr val="AEBEDD"/>
                </a:solidFill>
                <a:effectLst/>
                <a:uFillTx/>
                <a:latin typeface="Calibri"/>
                <a:ea typeface="Calibri"/>
              </a:rPr>
              <a:t>All 2,330,308 VUS currently open in ClinVar, every model column: overall reclassification likelihood, all ten yearly resolution probabilities, predicted direction, and the driver features behind each score. Ranked by likelihood, descending.</a:t>
            </a:r>
            <a:endParaRPr lang="en-US" sz="1300" b="0" u="none" strike="noStrike">
              <a:solidFill>
                <a:srgbClr val="FFFFFF"/>
              </a:solidFill>
              <a:effectLst/>
              <a:uFillTx/>
              <a:latin typeface="Arial"/>
            </a:endParaRPr>
          </a:p>
        </p:txBody>
      </p:sp>
      <p:sp>
        <p:nvSpPr>
          <p:cNvPr id="344" name=""/>
          <p:cNvSpPr txBox="1"/>
          <p:nvPr/>
        </p:nvSpPr>
        <p:spPr>
          <a:xfrm>
            <a:off x="868680" y="5577840"/>
            <a:ext cx="4800600" cy="365760"/>
          </a:xfrm>
          <a:prstGeom prst="rect">
            <a:avLst/>
          </a:prstGeom>
          <a:noFill/>
          <a:ln w="0">
            <a:noFill/>
          </a:ln>
        </p:spPr>
        <p:txBody>
          <a:bodyPr lIns="90000" tIns="45000" rIns="90000" bIns="45000" anchor="t">
            <a:spAutoFit/>
          </a:bodyPr>
          <a:p>
            <a:r>
              <a:rPr lang="en-US" sz="1800" b="1" u="sng" strike="noStrike">
                <a:solidFill>
                  <a:srgbClr val="E9C467"/>
                </a:solidFill>
                <a:effectLst/>
                <a:uFillTx/>
                <a:latin typeface="Arial"/>
                <a:hlinkClick r:id="rId1"/>
              </a:rPr>
              <a:t>Open in Google Drive</a:t>
            </a:r>
            <a:endParaRPr lang="en-US" sz="1800" b="0" u="none" strike="noStrike">
              <a:solidFill>
                <a:srgbClr val="FFFFFF"/>
              </a:solidFill>
              <a:effectLst/>
              <a:uFillTx/>
              <a:latin typeface="Arial"/>
            </a:endParaRPr>
          </a:p>
        </p:txBody>
      </p:sp>
      <p:sp>
        <p:nvSpPr>
          <p:cNvPr id="345" name=""/>
          <p:cNvSpPr/>
          <p:nvPr/>
        </p:nvSpPr>
        <p:spPr>
          <a:xfrm>
            <a:off x="6172200" y="2606040"/>
            <a:ext cx="5441040" cy="3566520"/>
          </a:xfrm>
          <a:custGeom>
            <a:avLst/>
            <a:gdLst/>
            <a:ahLst/>
            <a:rect l="0" t="0" r="r" b="b"/>
            <a:pathLst>
              <a:path w="15114" h="9907">
                <a:moveTo>
                  <a:pt x="14911" y="0"/>
                </a:moveTo>
                <a:cubicBezTo>
                  <a:pt x="15046" y="0"/>
                  <a:pt x="15114" y="68"/>
                  <a:pt x="15114" y="203"/>
                </a:cubicBezTo>
                <a:lnTo>
                  <a:pt x="15114" y="9704"/>
                </a:lnTo>
                <a:cubicBezTo>
                  <a:pt x="15114" y="9839"/>
                  <a:pt x="15046" y="9907"/>
                  <a:pt x="14911" y="9907"/>
                </a:cubicBezTo>
                <a:lnTo>
                  <a:pt x="203" y="9907"/>
                </a:lnTo>
                <a:cubicBezTo>
                  <a:pt x="68" y="9907"/>
                  <a:pt x="0" y="9839"/>
                  <a:pt x="0" y="9704"/>
                </a:cubicBezTo>
                <a:lnTo>
                  <a:pt x="0" y="203"/>
                </a:lnTo>
                <a:cubicBezTo>
                  <a:pt x="0" y="68"/>
                  <a:pt x="68" y="0"/>
                  <a:pt x="203" y="0"/>
                </a:cubicBezTo>
                <a:lnTo>
                  <a:pt x="14911" y="0"/>
                </a:lnTo>
                <a:close/>
              </a:path>
            </a:pathLst>
          </a:custGeom>
          <a:solidFill>
            <a:srgbClr val="1C375C"/>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346" name=""/>
          <p:cNvSpPr txBox="1"/>
          <p:nvPr/>
        </p:nvSpPr>
        <p:spPr>
          <a:xfrm>
            <a:off x="6492240" y="2880360"/>
            <a:ext cx="4800600" cy="320040"/>
          </a:xfrm>
          <a:prstGeom prst="rect">
            <a:avLst/>
          </a:prstGeom>
          <a:noFill/>
          <a:ln w="0">
            <a:noFill/>
          </a:ln>
        </p:spPr>
        <p:txBody>
          <a:bodyPr lIns="90000" tIns="45000" rIns="90000" bIns="45000" anchor="t">
            <a:spAutoFit/>
          </a:bodyPr>
          <a:p>
            <a:r>
              <a:rPr lang="en-US" sz="1100" b="1" u="none" spc="150" strike="noStrike">
                <a:solidFill>
                  <a:srgbClr val="E76C4E"/>
                </a:solidFill>
                <a:effectLst/>
                <a:uFillTx/>
                <a:latin typeface="Calibri-Bold"/>
                <a:ea typeface="Calibri-Bold"/>
              </a:rPr>
              <a:t>TOP CANDIDATES, NEXT 5 YEARS</a:t>
            </a:r>
            <a:endParaRPr lang="en-US" sz="1100" b="0" u="none" strike="noStrike">
              <a:solidFill>
                <a:srgbClr val="FFFFFF"/>
              </a:solidFill>
              <a:effectLst/>
              <a:uFillTx/>
              <a:latin typeface="Arial"/>
            </a:endParaRPr>
          </a:p>
        </p:txBody>
      </p:sp>
      <p:sp>
        <p:nvSpPr>
          <p:cNvPr id="347" name=""/>
          <p:cNvSpPr txBox="1"/>
          <p:nvPr/>
        </p:nvSpPr>
        <p:spPr>
          <a:xfrm>
            <a:off x="6492240" y="3200400"/>
            <a:ext cx="4800600" cy="502920"/>
          </a:xfrm>
          <a:prstGeom prst="rect">
            <a:avLst/>
          </a:prstGeom>
          <a:noFill/>
          <a:ln w="0">
            <a:noFill/>
          </a:ln>
        </p:spPr>
        <p:txBody>
          <a:bodyPr lIns="90000" tIns="45000" rIns="90000" bIns="45000" anchor="t">
            <a:spAutoFit/>
          </a:bodyPr>
          <a:p>
            <a:r>
              <a:rPr lang="en-US" sz="2000" b="1" u="none" strike="noStrike">
                <a:solidFill>
                  <a:srgbClr val="FFFFFF"/>
                </a:solidFill>
                <a:effectLst/>
                <a:uFillTx/>
                <a:latin typeface="Cambria-Bold"/>
                <a:ea typeface="Cambria-Bold"/>
              </a:rPr>
              <a:t>Watchlist: Likely Within 5 Years</a:t>
            </a:r>
            <a:endParaRPr lang="en-US" sz="2000" b="0" u="none" strike="noStrike">
              <a:solidFill>
                <a:srgbClr val="FFFFFF"/>
              </a:solidFill>
              <a:effectLst/>
              <a:uFillTx/>
              <a:latin typeface="Arial"/>
            </a:endParaRPr>
          </a:p>
        </p:txBody>
      </p:sp>
      <p:sp>
        <p:nvSpPr>
          <p:cNvPr id="348" name=""/>
          <p:cNvSpPr txBox="1"/>
          <p:nvPr/>
        </p:nvSpPr>
        <p:spPr>
          <a:xfrm>
            <a:off x="6492240" y="3749040"/>
            <a:ext cx="4800600" cy="1554480"/>
          </a:xfrm>
          <a:prstGeom prst="rect">
            <a:avLst/>
          </a:prstGeom>
          <a:noFill/>
          <a:ln w="0">
            <a:noFill/>
          </a:ln>
        </p:spPr>
        <p:txBody>
          <a:bodyPr lIns="90000" tIns="45000" rIns="90000" bIns="45000" anchor="t">
            <a:spAutoFit/>
          </a:bodyPr>
          <a:p>
            <a:pPr>
              <a:lnSpc>
                <a:spcPct val="140000"/>
              </a:lnSpc>
            </a:pPr>
            <a:r>
              <a:rPr lang="en-US" sz="1300" b="0" u="none" strike="noStrike">
                <a:solidFill>
                  <a:srgbClr val="AEBEDD"/>
                </a:solidFill>
                <a:effectLst/>
                <a:uFillTx/>
                <a:latin typeface="Calibri"/>
                <a:ea typeface="Calibri"/>
              </a:rPr>
              <a:t>The relative top tier of the watchlist by 5-year resolution probability (8,655 variants, just above the real 99th percentile). Gene name and score only.</a:t>
            </a:r>
            <a:endParaRPr lang="en-US" sz="1300" b="0" u="none" strike="noStrike">
              <a:solidFill>
                <a:srgbClr val="FFFFFF"/>
              </a:solidFill>
              <a:effectLst/>
              <a:uFillTx/>
              <a:latin typeface="Arial"/>
            </a:endParaRPr>
          </a:p>
        </p:txBody>
      </p:sp>
      <p:sp>
        <p:nvSpPr>
          <p:cNvPr id="349" name=""/>
          <p:cNvSpPr txBox="1"/>
          <p:nvPr/>
        </p:nvSpPr>
        <p:spPr>
          <a:xfrm>
            <a:off x="6492240" y="5577840"/>
            <a:ext cx="4800600" cy="365760"/>
          </a:xfrm>
          <a:prstGeom prst="rect">
            <a:avLst/>
          </a:prstGeom>
          <a:noFill/>
          <a:ln w="0">
            <a:noFill/>
          </a:ln>
        </p:spPr>
        <p:txBody>
          <a:bodyPr lIns="90000" tIns="45000" rIns="90000" bIns="45000" anchor="t">
            <a:spAutoFit/>
          </a:bodyPr>
          <a:p>
            <a:r>
              <a:rPr lang="en-US" sz="1800" b="1" u="sng" strike="noStrike">
                <a:solidFill>
                  <a:srgbClr val="E9C467"/>
                </a:solidFill>
                <a:effectLst/>
                <a:uFillTx/>
                <a:latin typeface="Arial"/>
                <a:hlinkClick r:id="rId2"/>
              </a:rPr>
              <a:t>Open in Google Drive</a:t>
            </a:r>
            <a:endParaRPr lang="en-US" sz="1800" b="0" u="none" strike="noStrike">
              <a:solidFill>
                <a:srgbClr val="FFFFFF"/>
              </a:solidFill>
              <a:effectLst/>
              <a:uFillTx/>
              <a:latin typeface="Arial"/>
            </a:endParaRPr>
          </a:p>
        </p:txBody>
      </p:sp>
      <p:sp>
        <p:nvSpPr>
          <p:cNvPr id="350" name=""/>
          <p:cNvSpPr txBox="1"/>
          <p:nvPr/>
        </p:nvSpPr>
        <p:spPr>
          <a:xfrm>
            <a:off x="11368840" y="646956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a:t>
            </a:r>
            <a:r>
              <a:rPr lang="en-US" sz="1000" b="0" u="none" strike="noStrike">
                <a:solidFill>
                  <a:srgbClr val="8D99AE"/>
                </a:solidFill>
                <a:effectLst/>
                <a:uFillTx/>
                <a:latin typeface="Calibri"/>
                <a:ea typeface="Calibri"/>
              </a:rPr>
              <a:t>8</a:t>
            </a:r>
            <a:endParaRPr lang="en-US"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C375C"/>
        </a:solidFill>
      </p:bgPr>
    </p:bg>
    <p:spTree>
      <p:nvGrpSpPr>
        <p:cNvPr id="1" name=""/>
        <p:cNvGrpSpPr/>
        <p:nvPr/>
      </p:nvGrpSpPr>
      <p:grpSpPr>
        <a:xfrm>
          <a:off x="0" y="0"/>
          <a:ext cx="0" cy="0"/>
          <a:chOff x="0" y="0"/>
          <a:chExt cx="0" cy="0"/>
        </a:xfrm>
      </p:grpSpPr>
      <p:sp>
        <p:nvSpPr>
          <p:cNvPr id="351" name=""/>
          <p:cNvSpPr txBox="1"/>
          <p:nvPr/>
        </p:nvSpPr>
        <p:spPr>
          <a:xfrm>
            <a:off x="822960" y="1965960"/>
            <a:ext cx="10515600" cy="822960"/>
          </a:xfrm>
          <a:prstGeom prst="rect">
            <a:avLst/>
          </a:prstGeom>
          <a:noFill/>
          <a:ln w="0">
            <a:noFill/>
          </a:ln>
        </p:spPr>
        <p:txBody>
          <a:bodyPr lIns="90000" tIns="45000" rIns="90000" bIns="45000" anchor="t">
            <a:spAutoFit/>
          </a:bodyPr>
          <a:p>
            <a:r>
              <a:rPr lang="en-US" sz="3400" b="1" u="none" strike="noStrike">
                <a:solidFill>
                  <a:srgbClr val="FFFFFF"/>
                </a:solidFill>
                <a:effectLst/>
                <a:uFillTx/>
                <a:latin typeface="Cambria-Bold"/>
                <a:ea typeface="Cambria-Bold"/>
              </a:rPr>
              <a:t>Thank You</a:t>
            </a:r>
            <a:r>
              <a:rPr lang="en-US" sz="3400" b="1" u="none" strike="noStrike">
                <a:solidFill>
                  <a:srgbClr val="FFFFFF"/>
                </a:solidFill>
                <a:effectLst/>
                <a:uFillTx/>
                <a:latin typeface="Cambria-Bold"/>
                <a:ea typeface="Cambria-Bold"/>
              </a:rPr>
              <a:t>!</a:t>
            </a:r>
            <a:endParaRPr lang="en-US" sz="3400" b="0" u="none" strike="noStrike">
              <a:solidFill>
                <a:srgbClr val="FFFFFF"/>
              </a:solidFill>
              <a:effectLst/>
              <a:uFillTx/>
              <a:latin typeface="Arial"/>
            </a:endParaRPr>
          </a:p>
        </p:txBody>
      </p:sp>
      <p:sp>
        <p:nvSpPr>
          <p:cNvPr id="352" name=""/>
          <p:cNvSpPr txBox="1"/>
          <p:nvPr/>
        </p:nvSpPr>
        <p:spPr>
          <a:xfrm>
            <a:off x="822960" y="4343400"/>
            <a:ext cx="9875520" cy="914400"/>
          </a:xfrm>
          <a:prstGeom prst="rect">
            <a:avLst/>
          </a:prstGeom>
          <a:noFill/>
          <a:ln w="0">
            <a:noFill/>
          </a:ln>
        </p:spPr>
        <p:txBody>
          <a:bodyPr lIns="90000" tIns="45000" rIns="90000" bIns="45000" anchor="t">
            <a:spAutoFit/>
          </a:bodyPr>
          <a:p>
            <a:pPr>
              <a:lnSpc>
                <a:spcPct val="130000"/>
              </a:lnSpc>
            </a:pPr>
            <a:r>
              <a:rPr lang="en-US" sz="1300" b="0" u="none" strike="noStrike">
                <a:solidFill>
                  <a:srgbClr val="C9DADA"/>
                </a:solidFill>
                <a:effectLst/>
                <a:uFillTx/>
                <a:latin typeface="Calibri"/>
                <a:ea typeface="Calibri"/>
              </a:rPr>
              <a:t>Prakhar Shah</a:t>
            </a:r>
            <a:endParaRPr lang="en-US" sz="1300" b="0" u="none" strike="noStrike">
              <a:solidFill>
                <a:srgbClr val="FFFFFF"/>
              </a:solidFill>
              <a:effectLst/>
              <a:uFillTx/>
              <a:latin typeface="Arial"/>
            </a:endParaRPr>
          </a:p>
          <a:p>
            <a:pPr>
              <a:lnSpc>
                <a:spcPct val="130000"/>
              </a:lnSpc>
            </a:pPr>
            <a:r>
              <a:rPr lang="en-US" sz="1800" b="0" u="sng" strike="noStrike">
                <a:solidFill>
                  <a:srgbClr val="E9C467"/>
                </a:solidFill>
                <a:effectLst/>
                <a:uFillTx/>
                <a:latin typeface="Arial"/>
                <a:hlinkClick r:id="rId1"/>
              </a:rPr>
              <a:t>prs016@ucsd.edu</a:t>
            </a:r>
            <a:endParaRPr lang="en-US" sz="1800" b="0" u="none" strike="noStrike">
              <a:solidFill>
                <a:srgbClr val="FFFFFF"/>
              </a:solidFill>
              <a:effectLst/>
              <a:uFillTx/>
              <a:latin typeface="Arial"/>
            </a:endParaRPr>
          </a:p>
          <a:p>
            <a:pPr>
              <a:lnSpc>
                <a:spcPct val="130000"/>
              </a:lnSpc>
            </a:pPr>
            <a:r>
              <a:rPr lang="en-US" sz="1300" b="0" u="sng" strike="noStrike">
                <a:solidFill>
                  <a:srgbClr val="E9C467"/>
                </a:solidFill>
                <a:effectLst/>
                <a:uFillTx/>
                <a:latin typeface="Calibri"/>
                <a:ea typeface="Calibri"/>
                <a:hlinkClick r:id="rId3"/>
              </a:rPr>
              <a:t>https://www.linkedin.com/in/prakhar-shah-842b48293</a:t>
            </a:r>
            <a:endParaRPr lang="en-US" sz="1300" b="0" u="none" strike="noStrike">
              <a:solidFill>
                <a:srgbClr val="FFFFFF"/>
              </a:solidFill>
              <a:effectLst/>
              <a:uFillTx/>
              <a:latin typeface="Arial"/>
            </a:endParaRPr>
          </a:p>
        </p:txBody>
      </p:sp>
      <p:sp>
        <p:nvSpPr>
          <p:cNvPr id="353" name=""/>
          <p:cNvSpPr/>
          <p:nvPr/>
        </p:nvSpPr>
        <p:spPr>
          <a:xfrm>
            <a:off x="822960" y="5532120"/>
            <a:ext cx="1006200" cy="41400"/>
          </a:xfrm>
          <a:custGeom>
            <a:avLst/>
            <a:gdLst/>
            <a:ahLst/>
            <a:rect l="0" t="0" r="r" b="b"/>
            <a:pathLst>
              <a:path w="2795" h="115">
                <a:moveTo>
                  <a:pt x="0" y="0"/>
                </a:moveTo>
                <a:lnTo>
                  <a:pt x="2795" y="0"/>
                </a:lnTo>
                <a:lnTo>
                  <a:pt x="2795" y="115"/>
                </a:lnTo>
                <a:lnTo>
                  <a:pt x="0" y="115"/>
                </a:lnTo>
                <a:lnTo>
                  <a:pt x="0" y="0"/>
                </a:lnTo>
                <a:close/>
              </a:path>
            </a:pathLst>
          </a:custGeom>
          <a:solidFill>
            <a:srgbClr val="E76C4E"/>
          </a:solidFill>
          <a:ln w="0">
            <a:noFill/>
          </a:ln>
        </p:spPr>
        <p:txBody>
          <a:bodyPr lIns="90000" tIns="-3600" rIns="90000" bIns="-3600" anchor="t">
            <a:noAutofit/>
          </a:bodyPr>
          <a:p>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E9C467"/>
      </a:hlink>
      <a:folHlink>
        <a:srgbClr val="E9C467"/>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LibreOffice/26.2.5.2$Linux_AARCH64 LibreOffice_project/620$Build-2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
  <cp:revision>0</cp:revision>
  <dc:subject/>
  <dc:title/>
</cp:coreProperties>
</file>
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6" r:id="rId34"/>
    <p:sldId id="285" r:id="rId32"/>
  </p:sldIdLst>
  <p:sldSz cx="12192000" cy="6858000"/>
  <p:notesSz cx="7559675" cy="10691813"/>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7.xml"/><Relationship Id="rId30" Type="http://schemas.openxmlformats.org/officeDocument/2006/relationships/slide" Target="slides/slide28.xml"/><Relationship Id="rId31" Type="http://schemas.openxmlformats.org/officeDocument/2006/relationships/slide" Target="slides/slide29.xml"/><Relationship Id="rId32" Type="http://schemas.openxmlformats.org/officeDocument/2006/relationships/slide" Target="slides/slide31.xml"/><Relationship Id="rId33" Type="http://schemas.openxmlformats.org/officeDocument/2006/relationships/presProps" Target="presProps.xml"/><Relationship Id="rId34" Type="http://schemas.openxmlformats.org/officeDocument/2006/relationships/slide" Target="slides/slide3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MasterSlide0">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MasterSlide0">
    <p:spTree>
      <p:nvGrpSpPr>
        <p:cNvPr id="1" name=""/>
        <p:cNvGrpSpPr/>
        <p:nvPr/>
      </p:nvGrpSpPr>
      <p:grpSpPr>
        <a:xfrm>
          <a:off x="0" y="0"/>
          <a:ext cx="0" cy="0"/>
          <a:chOff x="0" y="0"/>
          <a:chExt cx="0" cy="0"/>
        </a:xfrm>
      </p:grpSpPr>
      <p:sp>
        <p:nvSpPr>
          <p:cNvPr id="4" name="PlaceHolder 1"/>
          <p:cNvSpPr>
            <a:spLocks noGrp="1"/>
          </p:cNvSpPr>
          <p:nvPr>
            <p:ph type="title"/>
          </p:nvPr>
        </p:nvSpPr>
        <p:spPr>
          <a:xfrm>
            <a:off x="609480" y="273600"/>
            <a:ext cx="10972440" cy="1144800"/>
          </a:xfrm>
          <a:prstGeom prst="rect">
            <a:avLst/>
          </a:prstGeom>
          <a:noFill/>
          <a:ln w="0">
            <a:noFill/>
          </a:ln>
        </p:spPr>
        <p:txBody>
          <a:bodyPr lIns="0" tIns="0" rIns="0" bIns="0" anchor="ctr">
            <a:spAutoFit/>
          </a:bodyPr>
          <a:p>
            <a:pPr indent="0" algn="ctr">
              <a:buNone/>
            </a:pPr>
            <a:endParaRPr lang="en-US" sz="4400" b="0" u="none" strike="noStrike">
              <a:solidFill>
                <a:srgbClr val="000000"/>
              </a:solidFill>
              <a:effectLst/>
              <a:uFillTx/>
              <a:latin typeface="Arial"/>
            </a:endParaRPr>
          </a:p>
        </p:txBody>
      </p:sp>
      <p:sp>
        <p:nvSpPr>
          <p:cNvPr id="5" name="PlaceHolder 2"/>
          <p:cNvSpPr>
            <a:spLocks noGrp="1"/>
          </p:cNvSpPr>
          <p:nvPr>
            <p:ph type="subTitle"/>
          </p:nvPr>
        </p:nvSpPr>
        <p:spPr>
          <a:xfrm>
            <a:off x="609480" y="1604520"/>
            <a:ext cx="10972440" cy="3977280"/>
          </a:xfrm>
          <a:prstGeom prst="rect">
            <a:avLst/>
          </a:prstGeom>
          <a:noFill/>
          <a:ln w="0">
            <a:noFill/>
          </a:ln>
        </p:spPr>
        <p:txBody>
          <a:bodyPr lIns="0" tIns="0" rIns="0" bIns="0" anchor="ctr">
            <a:spAutoFit/>
          </a:bodyPr>
          <a:p>
            <a:pPr indent="0" algn="ctr">
              <a:buNone/>
            </a:pPr>
            <a:endParaRPr lang="en-US" sz="3200" b="0" u="none" strike="noStrike">
              <a:solidFill>
                <a:srgbClr val="000000"/>
              </a:solidFill>
              <a:effectLst/>
              <a:uFillTx/>
              <a:latin typeface="Arial"/>
            </a:endParaRPr>
          </a:p>
        </p:txBody>
      </p:sp>
    </p:spTree>
  </p:cSld>
</p:sldLayout>
</file>

<file path=ppt/slideMasters/_rels/slideMaster1.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lvl1pPr indent="0" algn="ctr">
              <a:buNone/>
              <a:defRPr lang="en-US" sz="4400" b="0" u="none" strike="noStrike">
                <a:solidFill>
                  <a:srgbClr val="000000"/>
                </a:solidFill>
                <a:effectLst/>
                <a:uFillTx/>
                <a:latin typeface="Arial"/>
              </a:defRPr>
            </a:lvl1pPr>
          </a:lstStyle>
          <a:p>
            <a:pPr indent="0" algn="ctr">
              <a:buNone/>
            </a:pPr>
            <a:r>
              <a:rPr lang="en-US" sz="4400" b="0" u="none" strike="noStrike">
                <a:solidFill>
                  <a:srgbClr val="000000"/>
                </a:solidFill>
                <a:effectLst/>
                <a:uFillTx/>
                <a:latin typeface="Arial"/>
              </a:rPr>
              <a:t>Click to edit the title text format</a:t>
            </a:r>
            <a:endParaRPr lang="en-US" sz="4400" b="0" u="none" strike="noStrike">
              <a:solidFill>
                <a:srgbClr val="000000"/>
              </a:solidFill>
              <a:effectLst/>
              <a:uFillTx/>
              <a:latin typeface="Arial"/>
            </a:endParaRPr>
          </a:p>
        </p:txBody>
      </p:sp>
      <p:sp>
        <p:nvSpPr>
          <p:cNvPr id="3" name="PlaceHolder 2"/>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lvl1pPr algn="l">
              <a:spcBef>
                <a:spcPts val="1417"/>
              </a:spcBef>
              <a:buClr>
                <a:srgbClr val="000000"/>
              </a:buClr>
              <a:buSzPct val="45000"/>
              <a:buFont typeface="Wingdings" charset="2"/>
              <a:buChar char=""/>
              <a:defRPr lang="en-US" sz="32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US" sz="28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US" sz="24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US" sz="20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US" sz="20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US" sz="20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US" sz="2000" b="0" u="none" strike="noStrike">
                <a:solidFill>
                  <a:srgbClr val="000000"/>
                </a:solidFill>
                <a:effectLst/>
                <a:uFillTx/>
                <a:latin typeface="Arial"/>
              </a:defRPr>
            </a:lvl7pPr>
          </a:lstStyle>
          <a:p>
            <a:pPr marL="432000" indent="-324000" algn="l">
              <a:spcBef>
                <a:spcPts val="1417"/>
              </a:spcBef>
              <a:buClr>
                <a:srgbClr val="000000"/>
              </a:buClr>
              <a:buSzPct val="45000"/>
              <a:buFont typeface="Wingdings" charset="2"/>
              <a:buChar char=""/>
            </a:pPr>
            <a:r>
              <a:rPr lang="en-US" sz="3200" b="0" u="none" strike="noStrike">
                <a:solidFill>
                  <a:srgbClr val="000000"/>
                </a:solidFill>
                <a:effectLst/>
                <a:uFillTx/>
                <a:latin typeface="Arial"/>
              </a:rPr>
              <a:t>Click to edit the outline text format</a:t>
            </a:r>
            <a:endParaRPr lang="en-US" sz="3200" b="0" u="none" strike="noStrike">
              <a:solidFill>
                <a:srgbClr val="000000"/>
              </a:solidFill>
              <a:effectLst/>
              <a:uFillTx/>
              <a:latin typeface="Arial"/>
            </a:endParaRPr>
          </a:p>
          <a:p>
            <a:pPr marL="864000" lvl="1" indent="-324000" algn="l">
              <a:spcBef>
                <a:spcPts val="1134"/>
              </a:spcBef>
              <a:buClr>
                <a:srgbClr val="000000"/>
              </a:buClr>
              <a:buSzPct val="75000"/>
              <a:buFont typeface="Symbol" charset="2"/>
              <a:buChar char=""/>
            </a:pPr>
            <a:r>
              <a:rPr lang="en-US" sz="2800" b="0" u="none" strike="noStrike">
                <a:solidFill>
                  <a:srgbClr val="000000"/>
                </a:solidFill>
                <a:effectLst/>
                <a:uFillTx/>
                <a:latin typeface="Arial"/>
              </a:rPr>
              <a:t>Second Outline Level</a:t>
            </a:r>
            <a:endParaRPr lang="en-US" sz="2800" b="0" u="none" strike="noStrike">
              <a:solidFill>
                <a:srgbClr val="000000"/>
              </a:solidFill>
              <a:effectLst/>
              <a:uFillTx/>
              <a:latin typeface="Arial"/>
            </a:endParaRPr>
          </a:p>
          <a:p>
            <a:pPr marL="1296000" lvl="2" indent="-288000" algn="l">
              <a:spcBef>
                <a:spcPts val="850"/>
              </a:spcBef>
              <a:buClr>
                <a:srgbClr val="000000"/>
              </a:buClr>
              <a:buSzPct val="45000"/>
              <a:buFont typeface="Wingdings" charset="2"/>
              <a:buChar char=""/>
            </a:pPr>
            <a:r>
              <a:rPr lang="en-US" sz="2400" b="0" u="none" strike="noStrike">
                <a:solidFill>
                  <a:srgbClr val="000000"/>
                </a:solidFill>
                <a:effectLst/>
                <a:uFillTx/>
                <a:latin typeface="Arial"/>
              </a:rPr>
              <a:t>Third Outline Level</a:t>
            </a:r>
            <a:endParaRPr lang="en-US" sz="2400" b="0" u="none" strike="noStrike">
              <a:solidFill>
                <a:srgbClr val="000000"/>
              </a:solidFill>
              <a:effectLst/>
              <a:uFillTx/>
              <a:latin typeface="Arial"/>
            </a:endParaRPr>
          </a:p>
          <a:p>
            <a:pPr marL="1728000" lvl="3" indent="-216000" algn="l">
              <a:spcBef>
                <a:spcPts val="567"/>
              </a:spcBef>
              <a:buClr>
                <a:srgbClr val="000000"/>
              </a:buClr>
              <a:buSzPct val="75000"/>
              <a:buFont typeface="Symbol" charset="2"/>
              <a:buChar char=""/>
            </a:pPr>
            <a:r>
              <a:rPr lang="en-US" sz="2000" b="0" u="none" strike="noStrike">
                <a:solidFill>
                  <a:srgbClr val="000000"/>
                </a:solidFill>
                <a:effectLst/>
                <a:uFillTx/>
                <a:latin typeface="Arial"/>
              </a:rPr>
              <a:t>Fourth Outline Level</a:t>
            </a:r>
            <a:endParaRPr lang="en-US" sz="2000" b="0" u="none" strike="noStrike">
              <a:solidFill>
                <a:srgbClr val="000000"/>
              </a:solidFill>
              <a:effectLst/>
              <a:uFillTx/>
              <a:latin typeface="Arial"/>
            </a:endParaRPr>
          </a:p>
          <a:p>
            <a:pPr marL="2160000" lvl="4" indent="-216000" algn="l">
              <a:spcBef>
                <a:spcPts val="283"/>
              </a:spcBef>
              <a:buClr>
                <a:srgbClr val="000000"/>
              </a:buClr>
              <a:buSzPct val="45000"/>
              <a:buFont typeface="Wingdings" charset="2"/>
              <a:buChar char=""/>
            </a:pPr>
            <a:r>
              <a:rPr lang="en-US" sz="2000" b="0" u="none" strike="noStrike">
                <a:solidFill>
                  <a:srgbClr val="000000"/>
                </a:solidFill>
                <a:effectLst/>
                <a:uFillTx/>
                <a:latin typeface="Arial"/>
              </a:rPr>
              <a:t>Fifth Outline Level</a:t>
            </a:r>
            <a:endParaRPr lang="en-US" sz="2000" b="0" u="none" strike="noStrike">
              <a:solidFill>
                <a:srgbClr val="000000"/>
              </a:solidFill>
              <a:effectLst/>
              <a:uFillTx/>
              <a:latin typeface="Arial"/>
            </a:endParaRPr>
          </a:p>
          <a:p>
            <a:pPr marL="2592000" lvl="5" indent="-216000" algn="l">
              <a:spcBef>
                <a:spcPts val="283"/>
              </a:spcBef>
              <a:buClr>
                <a:srgbClr val="000000"/>
              </a:buClr>
              <a:buSzPct val="45000"/>
              <a:buFont typeface="Wingdings" charset="2"/>
              <a:buChar char=""/>
            </a:pPr>
            <a:r>
              <a:rPr lang="en-US" sz="2000" b="0" u="none" strike="noStrike">
                <a:solidFill>
                  <a:srgbClr val="000000"/>
                </a:solidFill>
                <a:effectLst/>
                <a:uFillTx/>
                <a:latin typeface="Arial"/>
              </a:rPr>
              <a:t>Sixth Outline Level</a:t>
            </a:r>
            <a:endParaRPr lang="en-US" sz="2000" b="0" u="none" strike="noStrike">
              <a:solidFill>
                <a:srgbClr val="000000"/>
              </a:solidFill>
              <a:effectLst/>
              <a:uFillTx/>
              <a:latin typeface="Arial"/>
            </a:endParaRPr>
          </a:p>
          <a:p>
            <a:pPr marL="3024000" lvl="6" indent="-216000" algn="l">
              <a:spcBef>
                <a:spcPts val="283"/>
              </a:spcBef>
              <a:buClr>
                <a:srgbClr val="000000"/>
              </a:buClr>
              <a:buSzPct val="45000"/>
              <a:buFont typeface="Wingdings" charset="2"/>
              <a:buChar char=""/>
            </a:pPr>
            <a:r>
              <a:rPr lang="en-US" sz="2000" b="0" u="none" strike="noStrike">
                <a:solidFill>
                  <a:srgbClr val="000000"/>
                </a:solidFill>
                <a:effectLst/>
                <a:uFillTx/>
                <a:latin typeface="Arial"/>
              </a:rPr>
              <a:t>Seventh Outline Level</a:t>
            </a:r>
            <a:endParaRPr lang="en-US" sz="2000" b="0" u="none" strike="noStrike">
              <a:solidFill>
                <a:srgbClr val="000000"/>
              </a:solidFill>
              <a:effectLst/>
              <a:uFillTx/>
              <a:latin typeface="Arial"/>
            </a:endParaRPr>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image" Target="../media/image11.png"/><Relationship Id="rId4" Type="http://schemas.openxmlformats.org/officeDocument/2006/relationships/image" Target="../media/image1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1.xml"/><Relationship Id="rId3"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1.xml"/><Relationship Id="rId3" Type="http://schemas.openxmlformats.org/officeDocument/2006/relationships/image" Target="../media/image14.png"/></Relationships>
</file>

<file path=ppt/slides/_rels/slide15.xml.rels><?xml version='1.0' encoding='UTF-8' standalone='yes'?>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1.xml"/><Relationship Id="rId3" Type="http://schemas.openxmlformats.org/officeDocument/2006/relationships/image" Target="../media/image1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image" Target="../media/image10.png"/><Relationship Id="rId2" Type="http://schemas.openxmlformats.org/officeDocument/2006/relationships/slideLayout" Target="../slideLayouts/slideLayout1.xml"/><Relationship Id="rId3" Type="http://schemas.openxmlformats.org/officeDocument/2006/relationships/image" Target="../media/image1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hyperlink" Target="https://drive.google.com/drive/folders/1JcLgJJ9OV8EDCesRJkCwMi_Gtl22EJk8?usp=sharing" TargetMode="External"/><Relationship Id="rId2" Type="http://schemas.openxmlformats.org/officeDocument/2006/relationships/hyperlink" Target="https://drive.google.com/file/d/1u5IW14A4_qwg5-B-mIAAT0ooxpU7hzjh/view?usp=sharing" TargetMode="External"/><Relationship Id="rId3"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hyperlink" Target="https://vus-reclassification-latest.onrender.com" TargetMode="External"/><Relationship Id="rId3"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hyperlink" Target="mailto:prs016@ucsd.edu" TargetMode="External"/><Relationship Id="rId2" Type="http://schemas.openxmlformats.org/officeDocument/2006/relationships/slideLayout" Target="../slideLayouts/slideLayout1.xml"/><Relationship Id="rId3" Type="http://schemas.openxmlformats.org/officeDocument/2006/relationships/hyperlink" Target="https://www.linkedin.com/in/prakhar-shah-842b48293" TargetMode="External"/></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C375C"/>
        </a:solidFill>
      </p:bgPr>
    </p:bg>
    <p:spTree>
      <p:nvGrpSpPr>
        <p:cNvPr id="1" name=""/>
        <p:cNvGrpSpPr/>
        <p:nvPr/>
      </p:nvGrpSpPr>
      <p:grpSpPr>
        <a:xfrm>
          <a:off x="0" y="0"/>
          <a:ext cx="0" cy="0"/>
          <a:chOff x="0" y="0"/>
          <a:chExt cx="0" cy="0"/>
        </a:xfrm>
      </p:grpSpPr>
      <p:sp>
        <p:nvSpPr>
          <p:cNvPr id="6" name=""/>
          <p:cNvSpPr txBox="1"/>
          <p:nvPr/>
        </p:nvSpPr>
        <p:spPr>
          <a:xfrm>
            <a:off x="822960" y="2148840"/>
            <a:ext cx="10515600" cy="365760"/>
          </a:xfrm>
          <a:prstGeom prst="rect">
            <a:avLst/>
          </a:prstGeom>
          <a:noFill/>
          <a:ln w="0">
            <a:noFill/>
          </a:ln>
        </p:spPr>
        <p:txBody>
          <a:bodyPr lIns="90000" tIns="45000" rIns="90000" bIns="45000" anchor="t">
            <a:spAutoFit/>
          </a:bodyPr>
          <a:p>
            <a:r>
              <a:rPr lang="en-US" sz="1400" b="1" u="none" spc="300" strike="noStrike">
                <a:solidFill>
                  <a:srgbClr val="E9C467"/>
                </a:solidFill>
                <a:effectLst/>
                <a:uFillTx/>
                <a:latin typeface="Calibri-Bold"/>
                <a:ea typeface="Calibri-Bold"/>
              </a:rPr>
              <a:t>VUS RECLASSIFICATION FORECASTING</a:t>
            </a:r>
            <a:endParaRPr lang="en-US" sz="1400" b="0" u="none" strike="noStrike">
              <a:solidFill>
                <a:srgbClr val="FFFFFF"/>
              </a:solidFill>
              <a:effectLst/>
              <a:uFillTx/>
              <a:latin typeface="Arial"/>
            </a:endParaRPr>
          </a:p>
        </p:txBody>
      </p:sp>
      <p:sp>
        <p:nvSpPr>
          <p:cNvPr id="7" name=""/>
          <p:cNvSpPr txBox="1"/>
          <p:nvPr/>
        </p:nvSpPr>
        <p:spPr>
          <a:xfrm>
            <a:off x="822960" y="2560320"/>
            <a:ext cx="10515600" cy="1554480"/>
          </a:xfrm>
          <a:prstGeom prst="rect">
            <a:avLst/>
          </a:prstGeom>
          <a:noFill/>
          <a:ln w="0">
            <a:noFill/>
          </a:ln>
        </p:spPr>
        <p:txBody>
          <a:bodyPr lIns="90000" tIns="45000" rIns="90000" bIns="45000" anchor="t">
            <a:spAutoFit/>
          </a:bodyPr>
          <a:p>
            <a:pPr>
              <a:lnSpc>
                <a:spcPct val="105000"/>
              </a:lnSpc>
            </a:pPr>
            <a:r>
              <a:rPr lang="en-US" sz="4000" b="1" u="none" strike="noStrike">
                <a:solidFill>
                  <a:srgbClr val="FFFFFF"/>
                </a:solidFill>
                <a:effectLst/>
                <a:uFillTx/>
                <a:latin typeface="Cambria-Bold"/>
                <a:ea typeface="Cambria-Bold"/>
              </a:rPr>
              <a:t>Which Uncertain Variants Resolve Next, and How Soon</a:t>
            </a:r>
            <a:endParaRPr lang="en-US" sz="4000" b="0" u="none" strike="noStrike">
              <a:solidFill>
                <a:srgbClr val="FFFFFF"/>
              </a:solidFill>
              <a:effectLst/>
              <a:uFillTx/>
              <a:latin typeface="Arial"/>
            </a:endParaRPr>
          </a:p>
        </p:txBody>
      </p:sp>
      <p:sp>
        <p:nvSpPr>
          <p:cNvPr id="8" name=""/>
          <p:cNvSpPr txBox="1"/>
          <p:nvPr/>
        </p:nvSpPr>
        <p:spPr>
          <a:xfrm>
            <a:off x="822960" y="4160520"/>
            <a:ext cx="9601200" cy="548640"/>
          </a:xfrm>
          <a:prstGeom prst="rect">
            <a:avLst/>
          </a:prstGeom>
          <a:noFill/>
          <a:ln w="0">
            <a:noFill/>
          </a:ln>
        </p:spPr>
        <p:txBody>
          <a:bodyPr lIns="90000" tIns="45000" rIns="90000" bIns="45000" anchor="t">
            <a:spAutoFit/>
          </a:bodyPr>
          <a:p>
            <a:r>
              <a:rPr lang="en-US" sz="1500" b="0" i="1" u="none" strike="noStrike">
                <a:solidFill>
                  <a:srgbClr val="AEBEDD"/>
                </a:solidFill>
                <a:effectLst/>
                <a:uFillTx/>
                <a:latin typeface="Calibri-Italic"/>
                <a:ea typeface="Calibri-Italic"/>
              </a:rPr>
              <a:t>Results from 149 real patients, 195,127 tracked ClinVar variants, and a global reclassification watchlist</a:t>
            </a:r>
            <a:endParaRPr lang="en-US" sz="1500" b="0" u="none" strike="noStrike">
              <a:solidFill>
                <a:srgbClr val="FFFFFF"/>
              </a:solidFill>
              <a:effectLst/>
              <a:uFillTx/>
              <a:latin typeface="Arial"/>
            </a:endParaRPr>
          </a:p>
        </p:txBody>
      </p:sp>
      <p:sp>
        <p:nvSpPr>
          <p:cNvPr id="9" name=""/>
          <p:cNvSpPr/>
          <p:nvPr/>
        </p:nvSpPr>
        <p:spPr>
          <a:xfrm>
            <a:off x="822960" y="4892040"/>
            <a:ext cx="1006200" cy="41400"/>
          </a:xfrm>
          <a:custGeom>
            <a:avLst/>
            <a:gdLst/>
            <a:ahLst/>
            <a:rect l="0" t="0" r="r" b="b"/>
            <a:pathLst>
              <a:path w="2795" h="115">
                <a:moveTo>
                  <a:pt x="0" y="0"/>
                </a:moveTo>
                <a:lnTo>
                  <a:pt x="2795" y="0"/>
                </a:lnTo>
                <a:lnTo>
                  <a:pt x="2795" y="115"/>
                </a:lnTo>
                <a:lnTo>
                  <a:pt x="0" y="115"/>
                </a:lnTo>
                <a:lnTo>
                  <a:pt x="0" y="0"/>
                </a:lnTo>
                <a:close/>
              </a:path>
            </a:pathLst>
          </a:custGeom>
          <a:solidFill>
            <a:srgbClr val="E76C4E"/>
          </a:solidFill>
          <a:ln w="0">
            <a:noFill/>
          </a:ln>
        </p:spPr>
        <p:txBody>
          <a:bodyPr lIns="90000" tIns="-3600" rIns="90000" bIns="-3600" anchor="t">
            <a:noAutofit/>
          </a:bodyPr>
          <a:p>
            <a:endParaRPr lang="en-US" sz="18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0" name=""/>
          <p:cNvSpPr txBox="1"/>
          <p:nvPr/>
        </p:nvSpPr>
        <p:spPr>
          <a:xfrm>
            <a:off x="548640" y="384120"/>
            <a:ext cx="7315200" cy="292680"/>
          </a:xfrm>
          <a:prstGeom prst="rect">
            <a:avLst/>
          </a:prstGeom>
          <a:noFill/>
          <a:ln w="0">
            <a:noFill/>
          </a:ln>
        </p:spPr>
        <p:txBody>
          <a:bodyPr lIns="90000" tIns="45000" rIns="90000" bIns="45000" anchor="t">
            <a:spAutoFit/>
          </a:bodyPr>
          <a:p>
            <a:r>
              <a:rPr lang="en-US" sz="1200" b="1" u="none" spc="201" strike="noStrike">
                <a:solidFill>
                  <a:srgbClr val="E76C4E"/>
                </a:solidFill>
                <a:effectLst/>
                <a:uFillTx/>
                <a:latin typeface="Calibri-Bold"/>
                <a:ea typeface="Calibri-Bold"/>
              </a:rPr>
              <a:t>HOW THIS WAS BUILT</a:t>
            </a:r>
            <a:endParaRPr lang="en-US" sz="1200" b="0" u="none" strike="noStrike">
              <a:solidFill>
                <a:srgbClr val="000000"/>
              </a:solidFill>
              <a:effectLst/>
              <a:uFillTx/>
              <a:latin typeface="Arial"/>
            </a:endParaRPr>
          </a:p>
        </p:txBody>
      </p:sp>
      <p:sp>
        <p:nvSpPr>
          <p:cNvPr id="11" name=""/>
          <p:cNvSpPr txBox="1"/>
          <p:nvPr/>
        </p:nvSpPr>
        <p:spPr>
          <a:xfrm>
            <a:off x="548640" y="658440"/>
            <a:ext cx="10789920" cy="777240"/>
          </a:xfrm>
          <a:prstGeom prst="rect">
            <a:avLst/>
          </a:prstGeom>
          <a:noFill/>
          <a:ln w="0">
            <a:noFill/>
          </a:ln>
        </p:spPr>
        <p:txBody>
          <a:bodyPr lIns="90000" tIns="45000" rIns="90000" bIns="45000" anchor="t">
            <a:spAutoFit/>
          </a:bodyPr>
          <a:p>
            <a:r>
              <a:rPr lang="en-US" sz="3000" b="1" u="none" strike="noStrike">
                <a:solidFill>
                  <a:srgbClr val="1F242E"/>
                </a:solidFill>
                <a:effectLst/>
                <a:uFillTx/>
                <a:latin typeface="Cambria-Bold"/>
                <a:ea typeface="Cambria-Bold"/>
              </a:rPr>
              <a:t>The End-to-End Pipeline</a:t>
            </a:r>
            <a:endParaRPr lang="en-US" sz="3000" b="0" u="none" strike="noStrike">
              <a:solidFill>
                <a:srgbClr val="000000"/>
              </a:solidFill>
              <a:effectLst/>
              <a:uFillTx/>
              <a:latin typeface="Arial"/>
            </a:endParaRPr>
          </a:p>
        </p:txBody>
      </p:sp>
      <p:sp>
        <p:nvSpPr>
          <p:cNvPr id="13" name=""/>
          <p:cNvSpPr txBox="1"/>
          <p:nvPr/>
        </p:nvSpPr>
        <p:spPr>
          <a:xfrm>
            <a:off x="11368840" y="6446520"/>
            <a:ext cx="500000" cy="300000"/>
          </a:xfrm>
          <a:prstGeom prst="rect">
            <a:avLst/>
          </a:prstGeom>
          <a:noFill/>
          <a:ln w="0">
            <a:noFill/>
          </a:ln>
        </p:spPr>
        <p:txBody>
          <a:bodyPr lIns="90000" tIns="45000" rIns="90000" bIns="45000" anchor="t">
            <a:spAutoFit/>
          </a:bodyPr>
          <a:p>
            <a:pPr algn="r"/>
            <a:r>
              <a:rPr lang="en-US" sz="1000" b="0" u="none" strike="noStrike">
                <a:solidFill>
                  <a:srgbClr val="8D99AE"/>
                </a:solidFill>
                <a:effectLst/>
                <a:uFillTx/>
                <a:latin typeface="Calibri"/>
                <a:ea typeface="Calibri"/>
              </a:rPr>
              <a:t>1</a:t>
            </a:r>
            <a:endParaRPr lang="en-US" sz="1000" b="0" u="none" strike="noStrike">
              <a:solidFill>
                <a:srgbClr val="000000"/>
              </a:solidFill>
              <a:effectLst/>
              <a:uFillTx/>
              <a:latin typeface="Arial"/>
            </a:endParaRPr>
          </a:p>
        </p:txBody>
      </p:sp>
      <p:pic>
        <p:nvPicPr>
          <p:cNvPr id="14" name="Picture 13" descr="pipeline_diagram_annotated6.png"/>
          <p:cNvPicPr>
            <a:picLocks noChangeAspect="1"/>
          </p:cNvPicPr>
          <p:nvPr/>
        </p:nvPicPr>
        <p:blipFill>
          <a:blip r:embed="rId4"/>
          <a:stretch>
            <a:fillRect/>
          </a:stretch>
        </p:blipFill>
        <p:spPr>
          <a:xfrm>
            <a:off x="505000" y="1417320"/>
            <a:ext cx="11151520" cy="5074920"/>
          </a:xfrm>
          <a:prstGeom prst="rect">
            <a:avLst/>
          </a:prstGeom>
        </p:spPr>
      </p:pic>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4" name=""/>
          <p:cNvSpPr txBox="1"/>
          <p:nvPr/>
        </p:nvSpPr>
        <p:spPr>
          <a:xfrm>
            <a:off x="548640" y="384120"/>
            <a:ext cx="7315200" cy="292680"/>
          </a:xfrm>
          <a:prstGeom prst="rect">
            <a:avLst/>
          </a:prstGeom>
          <a:noFill/>
          <a:ln w="0">
            <a:noFill/>
          </a:ln>
        </p:spPr>
        <p:txBody>
          <a:bodyPr lIns="90000" tIns="45000" rIns="90000" bIns="45000" anchor="t">
            <a:spAutoFit/>
          </a:bodyPr>
          <a:p>
            <a:r>
              <a:rPr lang="en-US" sz="1200" b="1" u="none" spc="201" strike="noStrike">
                <a:solidFill>
                  <a:srgbClr val="E76C4E"/>
                </a:solidFill>
                <a:effectLst/>
                <a:uFillTx/>
                <a:latin typeface="Calibri-Bold"/>
                <a:ea typeface="Calibri-Bold"/>
              </a:rPr>
              <a:t>HOW THIS WAS BUILT</a:t>
            </a:r>
            <a:endParaRPr lang="en-US" sz="1200" b="0" u="none" strike="noStrike">
              <a:solidFill>
                <a:srgbClr val="000000"/>
              </a:solidFill>
              <a:effectLst/>
              <a:uFillTx/>
              <a:latin typeface="Arial"/>
            </a:endParaRPr>
          </a:p>
        </p:txBody>
      </p:sp>
      <p:sp>
        <p:nvSpPr>
          <p:cNvPr id="15" name=""/>
          <p:cNvSpPr txBox="1"/>
          <p:nvPr/>
        </p:nvSpPr>
        <p:spPr>
          <a:xfrm>
            <a:off x="548640" y="658440"/>
            <a:ext cx="10789920" cy="777240"/>
          </a:xfrm>
          <a:prstGeom prst="rect">
            <a:avLst/>
          </a:prstGeom>
          <a:noFill/>
          <a:ln w="0">
            <a:noFill/>
          </a:ln>
        </p:spPr>
        <p:txBody>
          <a:bodyPr lIns="90000" tIns="45000" rIns="90000" bIns="45000" anchor="t">
            <a:spAutoFit/>
          </a:bodyPr>
          <a:p>
            <a:r>
              <a:rPr lang="en-US" sz="3000" b="1" u="none" strike="noStrike">
                <a:solidFill>
                  <a:srgbClr val="1F242E"/>
                </a:solidFill>
                <a:effectLst/>
                <a:uFillTx/>
                <a:latin typeface="Cambria-Bold"/>
                <a:ea typeface="Cambria-Bold"/>
              </a:rPr>
              <a:t>Two Models</a:t>
            </a:r>
            <a:r>
              <a:rPr lang="en-US" sz="3000" b="1" u="none" strike="noStrike">
                <a:solidFill>
                  <a:srgbClr val="1F242E"/>
                </a:solidFill>
                <a:effectLst/>
                <a:uFillTx/>
                <a:latin typeface="Cambria-Bold"/>
                <a:ea typeface="Cambria-Bold"/>
              </a:rPr>
              <a:t> performing Two</a:t>
            </a:r>
            <a:r>
              <a:rPr lang="en-US" sz="3000" b="1" u="none" strike="noStrike">
                <a:solidFill>
                  <a:srgbClr val="1F242E"/>
                </a:solidFill>
                <a:effectLst/>
                <a:uFillTx/>
                <a:latin typeface="Cambria-Bold"/>
                <a:ea typeface="Cambria-Bold"/>
              </a:rPr>
              <a:t> Jobs</a:t>
            </a:r>
            <a:endParaRPr lang="en-US" sz="3000" b="0" u="none" strike="noStrike">
              <a:solidFill>
                <a:srgbClr val="000000"/>
              </a:solidFill>
              <a:effectLst/>
              <a:uFillTx/>
              <a:latin typeface="Arial"/>
            </a:endParaRPr>
          </a:p>
        </p:txBody>
      </p:sp>
      <p:sp>
        <p:nvSpPr>
          <p:cNvPr id="16" name=""/>
          <p:cNvSpPr txBox="1"/>
          <p:nvPr/>
        </p:nvSpPr>
        <p:spPr>
          <a:xfrm>
            <a:off x="548640" y="1463040"/>
            <a:ext cx="10789920" cy="548640"/>
          </a:xfrm>
          <a:prstGeom prst="rect">
            <a:avLst/>
          </a:prstGeom>
          <a:noFill/>
          <a:ln w="0">
            <a:noFill/>
          </a:ln>
        </p:spPr>
        <p:txBody>
          <a:bodyPr lIns="90000" tIns="45000" rIns="90000" bIns="45000" anchor="t">
            <a:spAutoFit/>
          </a:bodyPr>
          <a:p>
            <a:pPr>
              <a:lnSpc>
                <a:spcPct val="125000"/>
              </a:lnSpc>
            </a:pPr>
            <a:r>
              <a:rPr lang="en-US" sz="1300" b="0" u="none" strike="noStrike">
                <a:solidFill>
                  <a:srgbClr val="475265"/>
                </a:solidFill>
                <a:effectLst/>
                <a:uFillTx/>
                <a:latin typeface="Calibri"/>
                <a:ea typeface="Calibri"/>
              </a:rPr>
              <a:t>Stage 1 sorts each variant into Germline or Somatic </a:t>
            </a:r>
            <a:r>
              <a:rPr lang="en-US" sz="1300" b="0" u="none" strike="noStrike">
                <a:solidFill>
                  <a:srgbClr val="475265"/>
                </a:solidFill>
                <a:effectLst/>
                <a:uFillTx/>
                <a:latin typeface="Calibri"/>
                <a:ea typeface="Calibri"/>
              </a:rPr>
              <a:t>or VUS</a:t>
            </a:r>
            <a:r>
              <a:rPr lang="en-US" sz="1300" b="0" u="none" strike="noStrike">
                <a:solidFill>
                  <a:srgbClr val="475265"/>
                </a:solidFill>
                <a:effectLst/>
                <a:uFillTx/>
                <a:latin typeface="Calibri"/>
                <a:ea typeface="Calibri"/>
              </a:rPr>
              <a:t>. Stage 2 takes every variant still classified as a VUS and forecasts how likely it is to be reclassified</a:t>
            </a:r>
            <a:r>
              <a:rPr lang="en-US" sz="1300" b="0" u="none" strike="noStrike">
                <a:solidFill>
                  <a:srgbClr val="475265"/>
                </a:solidFill>
                <a:effectLst/>
                <a:uFillTx/>
                <a:latin typeface="Calibri"/>
                <a:ea typeface="Calibri"/>
              </a:rPr>
              <a:t>.</a:t>
            </a:r>
            <a:endParaRPr lang="en-US" sz="1300" b="0" u="none" strike="noStrike">
              <a:solidFill>
                <a:srgbClr val="000000"/>
              </a:solidFill>
              <a:effectLst/>
              <a:uFillTx/>
              <a:latin typeface="Arial"/>
            </a:endParaRPr>
          </a:p>
        </p:txBody>
      </p:sp>
      <p:sp>
        <p:nvSpPr>
          <p:cNvPr id="17" name=""/>
          <p:cNvSpPr txBox="1"/>
          <p:nvPr/>
        </p:nvSpPr>
        <p:spPr>
          <a:xfrm>
            <a:off x="548640" y="2148840"/>
            <a:ext cx="5486400" cy="274320"/>
          </a:xfrm>
          <a:prstGeom prst="rect">
            <a:avLst/>
          </a:prstGeom>
          <a:noFill/>
          <a:ln w="0">
            <a:noFill/>
          </a:ln>
        </p:spPr>
        <p:txBody>
          <a:bodyPr lIns="90000" tIns="45000" rIns="90000" bIns="45000" anchor="t">
            <a:spAutoFit/>
          </a:bodyPr>
          <a:p>
            <a:r>
              <a:rPr lang="en-US" sz="1100" b="1" u="none" spc="150" strike="noStrike">
                <a:solidFill>
                  <a:srgbClr val="279D8F"/>
                </a:solidFill>
                <a:effectLst/>
                <a:uFillTx/>
                <a:latin typeface="Calibri-Bold"/>
                <a:ea typeface="Calibri-Bold"/>
              </a:rPr>
              <a:t>STAGE 1: GERMLINE VS. SOMATIC VS. VUS · XGBOOST</a:t>
            </a:r>
            <a:endParaRPr lang="en-US" sz="1100" b="0" u="none" strike="noStrike">
              <a:solidFill>
                <a:srgbClr val="000000"/>
              </a:solidFill>
              <a:effectLst/>
              <a:uFillTx/>
              <a:latin typeface="Arial"/>
            </a:endParaRPr>
          </a:p>
        </p:txBody>
      </p:sp>
      <p:sp>
        <p:nvSpPr>
          <p:cNvPr id="18" name=""/>
          <p:cNvSpPr/>
          <p:nvPr/>
        </p:nvSpPr>
        <p:spPr>
          <a:xfrm>
            <a:off x="548640" y="2468880"/>
            <a:ext cx="2423520" cy="1051920"/>
          </a:xfrm>
          <a:custGeom>
            <a:avLst/>
            <a:gdLst/>
            <a:ahLst/>
            <a:rect l="0" t="0" r="r" b="b"/>
            <a:pathLst>
              <a:path w="6732" h="2922">
                <a:moveTo>
                  <a:pt x="6503" y="0"/>
                </a:moveTo>
                <a:cubicBezTo>
                  <a:pt x="6656" y="0"/>
                  <a:pt x="6732" y="76"/>
                  <a:pt x="6732" y="228"/>
                </a:cubicBezTo>
                <a:lnTo>
                  <a:pt x="6732" y="2693"/>
                </a:lnTo>
                <a:cubicBezTo>
                  <a:pt x="6732" y="2846"/>
                  <a:pt x="6656" y="2922"/>
                  <a:pt x="6503" y="2922"/>
                </a:cubicBezTo>
                <a:lnTo>
                  <a:pt x="228" y="2922"/>
                </a:lnTo>
                <a:cubicBezTo>
                  <a:pt x="76" y="2922"/>
                  <a:pt x="0" y="2846"/>
                  <a:pt x="0" y="2693"/>
                </a:cubicBezTo>
                <a:lnTo>
                  <a:pt x="0" y="228"/>
                </a:lnTo>
                <a:cubicBezTo>
                  <a:pt x="0" y="76"/>
                  <a:pt x="76" y="0"/>
                  <a:pt x="228" y="0"/>
                </a:cubicBezTo>
                <a:lnTo>
                  <a:pt x="6503" y="0"/>
                </a:lnTo>
                <a:close/>
              </a:path>
            </a:pathLst>
          </a:custGeom>
          <a:solidFill>
            <a:srgbClr val="F5F7FA"/>
          </a:solidFill>
          <a:ln w="12600">
            <a:solidFill>
              <a:srgbClr val="E2E7EF"/>
            </a:solidFill>
            <a:round/>
          </a:ln>
        </p:spPr>
        <p:txBody>
          <a:bodyPr lIns="96120" tIns="51120" rIns="96120" bIns="51120" anchor="t">
            <a:noAutofit/>
          </a:bodyPr>
          <a:p>
            <a:endParaRPr lang="en-US" sz="1800" b="0" u="none" strike="noStrike">
              <a:solidFill>
                <a:srgbClr val="000000"/>
              </a:solidFill>
              <a:effectLst/>
              <a:uFillTx/>
              <a:latin typeface="Arial"/>
            </a:endParaRPr>
          </a:p>
        </p:txBody>
      </p:sp>
      <p:sp>
        <p:nvSpPr>
          <p:cNvPr id="19" name=""/>
          <p:cNvSpPr txBox="1"/>
          <p:nvPr/>
        </p:nvSpPr>
        <p:spPr>
          <a:xfrm>
            <a:off x="658440" y="2672280"/>
            <a:ext cx="2203560" cy="474480"/>
          </a:xfrm>
          <a:prstGeom prst="rect">
            <a:avLst/>
          </a:prstGeom>
          <a:noFill/>
          <a:ln w="0">
            <a:noFill/>
          </a:ln>
        </p:spPr>
        <p:txBody>
          <a:bodyPr lIns="90000" tIns="45000" rIns="90000" bIns="45000" anchor="t">
            <a:spAutoFit/>
          </a:bodyPr>
          <a:p>
            <a:r>
              <a:rPr lang="en-US" sz="2600" b="1" u="none" strike="noStrike">
                <a:solidFill>
                  <a:srgbClr val="1C375C"/>
                </a:solidFill>
                <a:effectLst/>
                <a:uFillTx/>
                <a:latin typeface="Cambria-Bold"/>
                <a:ea typeface="Cambria-Bold"/>
              </a:rPr>
              <a:t>45,706</a:t>
            </a:r>
            <a:endParaRPr lang="en-US" sz="2600" b="0" u="none" strike="noStrike">
              <a:solidFill>
                <a:srgbClr val="000000"/>
              </a:solidFill>
              <a:effectLst/>
              <a:uFillTx/>
              <a:latin typeface="Arial"/>
            </a:endParaRPr>
          </a:p>
        </p:txBody>
      </p:sp>
      <p:sp>
        <p:nvSpPr>
          <p:cNvPr id="20" name=""/>
          <p:cNvSpPr txBox="1"/>
          <p:nvPr/>
        </p:nvSpPr>
        <p:spPr>
          <a:xfrm>
            <a:off x="658440" y="3099960"/>
            <a:ext cx="2203560" cy="399600"/>
          </a:xfrm>
          <a:prstGeom prst="rect">
            <a:avLst/>
          </a:prstGeom>
          <a:noFill/>
          <a:ln w="0">
            <a:noFill/>
          </a:ln>
        </p:spPr>
        <p:txBody>
          <a:bodyPr lIns="90000" tIns="45000" rIns="90000" bIns="45000" anchor="t">
            <a:spAutoFit/>
          </a:bodyPr>
          <a:p>
            <a:r>
              <a:rPr lang="en-US" sz="1100" b="0" u="none" strike="noStrike">
                <a:solidFill>
                  <a:srgbClr val="475265"/>
                </a:solidFill>
                <a:effectLst/>
                <a:uFillTx/>
                <a:latin typeface="Calibri"/>
                <a:ea typeface="Calibri"/>
              </a:rPr>
              <a:t>training rows, 149 real patients</a:t>
            </a:r>
            <a:endParaRPr lang="en-US" sz="1100" b="0" u="none" strike="noStrike">
              <a:solidFill>
                <a:srgbClr val="000000"/>
              </a:solidFill>
              <a:effectLst/>
              <a:uFillTx/>
              <a:latin typeface="Arial"/>
            </a:endParaRPr>
          </a:p>
        </p:txBody>
      </p:sp>
      <p:sp>
        <p:nvSpPr>
          <p:cNvPr id="21" name=""/>
          <p:cNvSpPr/>
          <p:nvPr/>
        </p:nvSpPr>
        <p:spPr>
          <a:xfrm>
            <a:off x="3063240" y="2468880"/>
            <a:ext cx="2423520" cy="1051920"/>
          </a:xfrm>
          <a:custGeom>
            <a:avLst/>
            <a:gdLst/>
            <a:ahLst/>
            <a:rect l="0" t="0" r="r" b="b"/>
            <a:pathLst>
              <a:path w="6732" h="2922">
                <a:moveTo>
                  <a:pt x="6503" y="0"/>
                </a:moveTo>
                <a:cubicBezTo>
                  <a:pt x="6656" y="0"/>
                  <a:pt x="6732" y="76"/>
                  <a:pt x="6732" y="228"/>
                </a:cubicBezTo>
                <a:lnTo>
                  <a:pt x="6732" y="2693"/>
                </a:lnTo>
                <a:cubicBezTo>
                  <a:pt x="6732" y="2846"/>
                  <a:pt x="6656" y="2922"/>
                  <a:pt x="6503" y="2922"/>
                </a:cubicBezTo>
                <a:lnTo>
                  <a:pt x="228" y="2922"/>
                </a:lnTo>
                <a:cubicBezTo>
                  <a:pt x="76" y="2922"/>
                  <a:pt x="0" y="2846"/>
                  <a:pt x="0" y="2693"/>
                </a:cubicBezTo>
                <a:lnTo>
                  <a:pt x="0" y="228"/>
                </a:lnTo>
                <a:cubicBezTo>
                  <a:pt x="0" y="76"/>
                  <a:pt x="76" y="0"/>
                  <a:pt x="228" y="0"/>
                </a:cubicBezTo>
                <a:lnTo>
                  <a:pt x="6503" y="0"/>
                </a:lnTo>
                <a:close/>
              </a:path>
            </a:pathLst>
          </a:custGeom>
          <a:solidFill>
            <a:srgbClr val="F5F7FA"/>
          </a:solidFill>
          <a:ln w="12600">
            <a:solidFill>
              <a:srgbClr val="E2E7EF"/>
            </a:solidFill>
            <a:round/>
          </a:ln>
        </p:spPr>
        <p:txBody>
          <a:bodyPr lIns="96120" tIns="51120" rIns="96120" bIns="51120" anchor="t">
            <a:noAutofit/>
          </a:bodyPr>
          <a:p>
            <a:endParaRPr lang="en-US" sz="1800" b="0" u="none" strike="noStrike">
              <a:solidFill>
                <a:srgbClr val="000000"/>
              </a:solidFill>
              <a:effectLst/>
              <a:uFillTx/>
              <a:latin typeface="Arial"/>
            </a:endParaRPr>
          </a:p>
        </p:txBody>
      </p:sp>
      <p:sp>
        <p:nvSpPr>
          <p:cNvPr id="22" name=""/>
          <p:cNvSpPr txBox="1"/>
          <p:nvPr/>
        </p:nvSpPr>
        <p:spPr>
          <a:xfrm>
            <a:off x="3173040" y="2672280"/>
            <a:ext cx="2203560" cy="474480"/>
          </a:xfrm>
          <a:prstGeom prst="rect">
            <a:avLst/>
          </a:prstGeom>
          <a:noFill/>
          <a:ln w="0">
            <a:noFill/>
          </a:ln>
        </p:spPr>
        <p:txBody>
          <a:bodyPr lIns="90000" tIns="45000" rIns="90000" bIns="45000" anchor="t">
            <a:spAutoFit/>
          </a:bodyPr>
          <a:p>
            <a:r>
              <a:rPr lang="en-US" sz="2600" b="1" u="none" strike="noStrike">
                <a:solidFill>
                  <a:srgbClr val="1C375C"/>
                </a:solidFill>
                <a:effectLst/>
                <a:uFillTx/>
                <a:latin typeface="Cambria-Bold"/>
                <a:ea typeface="Cambria-Bold"/>
              </a:rPr>
              <a:t>0.9</a:t>
            </a:r>
            <a:r>
              <a:rPr lang="en-US" sz="2600" b="1" u="none" strike="noStrike">
                <a:solidFill>
                  <a:srgbClr val="1C375C"/>
                </a:solidFill>
                <a:effectLst/>
                <a:uFillTx/>
                <a:latin typeface="Cambria-Bold"/>
                <a:ea typeface="Cambria-Bold"/>
              </a:rPr>
              <a:t>218</a:t>
            </a:r>
            <a:endParaRPr lang="en-US" sz="2600" b="0" u="none" strike="noStrike">
              <a:solidFill>
                <a:srgbClr val="000000"/>
              </a:solidFill>
              <a:effectLst/>
              <a:uFillTx/>
              <a:latin typeface="Arial"/>
            </a:endParaRPr>
          </a:p>
        </p:txBody>
      </p:sp>
      <p:sp>
        <p:nvSpPr>
          <p:cNvPr id="23" name=""/>
          <p:cNvSpPr txBox="1"/>
          <p:nvPr/>
        </p:nvSpPr>
        <p:spPr>
          <a:xfrm>
            <a:off x="3173040" y="3099960"/>
            <a:ext cx="2203560" cy="399600"/>
          </a:xfrm>
          <a:prstGeom prst="rect">
            <a:avLst/>
          </a:prstGeom>
          <a:noFill/>
          <a:ln w="0">
            <a:noFill/>
          </a:ln>
        </p:spPr>
        <p:txBody>
          <a:bodyPr lIns="90000" tIns="45000" rIns="90000" bIns="45000" anchor="t">
            <a:spAutoFit/>
          </a:bodyPr>
          <a:p>
            <a:r>
              <a:rPr lang="en-US" sz="1100" b="0" u="none" strike="noStrike">
                <a:solidFill>
                  <a:srgbClr val="475265"/>
                </a:solidFill>
                <a:effectLst/>
                <a:uFillTx/>
                <a:latin typeface="Calibri"/>
                <a:ea typeface="Calibri"/>
              </a:rPr>
              <a:t>precision at production</a:t>
            </a:r>
            <a:endParaRPr lang="en-US" sz="1100" b="0" u="none" strike="noStrike">
              <a:solidFill>
                <a:srgbClr val="000000"/>
              </a:solidFill>
              <a:effectLst/>
              <a:uFillTx/>
              <a:latin typeface="Arial"/>
            </a:endParaRPr>
          </a:p>
        </p:txBody>
      </p:sp>
      <p:sp>
        <p:nvSpPr>
          <p:cNvPr id="24" name=""/>
          <p:cNvSpPr txBox="1"/>
          <p:nvPr/>
        </p:nvSpPr>
        <p:spPr>
          <a:xfrm>
            <a:off x="548640" y="3794760"/>
            <a:ext cx="7315200" cy="274320"/>
          </a:xfrm>
          <a:prstGeom prst="rect">
            <a:avLst/>
          </a:prstGeom>
          <a:noFill/>
          <a:ln w="0">
            <a:noFill/>
          </a:ln>
        </p:spPr>
        <p:txBody>
          <a:bodyPr lIns="90000" tIns="45000" rIns="90000" bIns="45000" anchor="t">
            <a:spAutoFit/>
          </a:bodyPr>
          <a:p>
            <a:r>
              <a:rPr lang="en-US" sz="1100" b="1" u="none" spc="150" strike="noStrike">
                <a:solidFill>
                  <a:srgbClr val="279D8F"/>
                </a:solidFill>
                <a:effectLst/>
                <a:uFillTx/>
                <a:latin typeface="Calibri-Bold"/>
                <a:ea typeface="Calibri-Bold"/>
              </a:rPr>
              <a:t>STAGE 2: RECLASSIFICATION FORECAST · CATBOOST, COX, ENSEMBLE</a:t>
            </a:r>
            <a:endParaRPr lang="en-US" sz="1100" b="0" u="none" strike="noStrike">
              <a:solidFill>
                <a:srgbClr val="000000"/>
              </a:solidFill>
              <a:effectLst/>
              <a:uFillTx/>
              <a:latin typeface="Arial"/>
            </a:endParaRPr>
          </a:p>
        </p:txBody>
      </p:sp>
      <p:sp>
        <p:nvSpPr>
          <p:cNvPr id="25" name=""/>
          <p:cNvSpPr/>
          <p:nvPr/>
        </p:nvSpPr>
        <p:spPr>
          <a:xfrm>
            <a:off x="548640" y="4114800"/>
            <a:ext cx="2469240" cy="1189080"/>
          </a:xfrm>
          <a:custGeom>
            <a:avLst/>
            <a:gdLst/>
            <a:ahLst/>
            <a:rect l="0" t="0" r="r" b="b"/>
            <a:pathLst>
              <a:path w="6859" h="3303">
                <a:moveTo>
                  <a:pt x="6631" y="0"/>
                </a:moveTo>
                <a:cubicBezTo>
                  <a:pt x="6783" y="0"/>
                  <a:pt x="6859" y="76"/>
                  <a:pt x="6859" y="228"/>
                </a:cubicBezTo>
                <a:lnTo>
                  <a:pt x="6859" y="3075"/>
                </a:lnTo>
                <a:cubicBezTo>
                  <a:pt x="6859" y="3227"/>
                  <a:pt x="6783" y="3303"/>
                  <a:pt x="6631" y="3303"/>
                </a:cubicBezTo>
                <a:lnTo>
                  <a:pt x="228" y="3303"/>
                </a:lnTo>
                <a:cubicBezTo>
                  <a:pt x="76" y="3303"/>
                  <a:pt x="0" y="3227"/>
                  <a:pt x="0" y="3075"/>
                </a:cubicBezTo>
                <a:lnTo>
                  <a:pt x="0" y="228"/>
                </a:lnTo>
                <a:cubicBezTo>
                  <a:pt x="0" y="76"/>
                  <a:pt x="76" y="0"/>
                  <a:pt x="228" y="0"/>
                </a:cubicBezTo>
                <a:lnTo>
                  <a:pt x="6631" y="0"/>
                </a:lnTo>
                <a:close/>
              </a:path>
            </a:pathLst>
          </a:custGeom>
          <a:solidFill>
            <a:srgbClr val="FDEEE8"/>
          </a:solidFill>
          <a:ln w="12600">
            <a:solidFill>
              <a:srgbClr val="E2E7EF"/>
            </a:solidFill>
            <a:round/>
          </a:ln>
        </p:spPr>
        <p:txBody>
          <a:bodyPr lIns="96120" tIns="51120" rIns="96120" bIns="51120" anchor="t">
            <a:noAutofit/>
          </a:bodyPr>
          <a:p>
            <a:endParaRPr lang="en-US" sz="1800" b="0" u="none" strike="noStrike">
              <a:solidFill>
                <a:srgbClr val="000000"/>
              </a:solidFill>
              <a:effectLst/>
              <a:uFillTx/>
              <a:latin typeface="Arial"/>
            </a:endParaRPr>
          </a:p>
        </p:txBody>
      </p:sp>
      <p:sp>
        <p:nvSpPr>
          <p:cNvPr id="26" name=""/>
          <p:cNvSpPr txBox="1"/>
          <p:nvPr/>
        </p:nvSpPr>
        <p:spPr>
          <a:xfrm>
            <a:off x="658440" y="4360320"/>
            <a:ext cx="2249280" cy="474480"/>
          </a:xfrm>
          <a:prstGeom prst="rect">
            <a:avLst/>
          </a:prstGeom>
          <a:noFill/>
          <a:ln w="0">
            <a:noFill/>
          </a:ln>
        </p:spPr>
        <p:txBody>
          <a:bodyPr lIns="90000" tIns="45000" rIns="90000" bIns="45000" anchor="t">
            <a:spAutoFit/>
          </a:bodyPr>
          <a:p>
            <a:r>
              <a:rPr lang="en-US" sz="2600" b="1" u="none" strike="noStrike">
                <a:solidFill>
                  <a:srgbClr val="E76C4E"/>
                </a:solidFill>
                <a:effectLst/>
                <a:uFillTx/>
                <a:latin typeface="Cambria-Bold"/>
                <a:ea typeface="Cambria-Bold"/>
              </a:rPr>
              <a:t>0.432</a:t>
            </a:r>
            <a:endParaRPr lang="en-US" sz="2600" b="0" u="none" strike="noStrike">
              <a:solidFill>
                <a:srgbClr val="000000"/>
              </a:solidFill>
              <a:effectLst/>
              <a:uFillTx/>
              <a:latin typeface="Arial"/>
            </a:endParaRPr>
          </a:p>
        </p:txBody>
      </p:sp>
      <p:sp>
        <p:nvSpPr>
          <p:cNvPr id="27" name=""/>
          <p:cNvSpPr txBox="1"/>
          <p:nvPr/>
        </p:nvSpPr>
        <p:spPr>
          <a:xfrm>
            <a:off x="658440" y="4827960"/>
            <a:ext cx="2249280" cy="451800"/>
          </a:xfrm>
          <a:prstGeom prst="rect">
            <a:avLst/>
          </a:prstGeom>
          <a:noFill/>
          <a:ln w="0">
            <a:noFill/>
          </a:ln>
        </p:spPr>
        <p:txBody>
          <a:bodyPr lIns="90000" tIns="45000" rIns="90000" bIns="45000" anchor="t">
            <a:spAutoFit/>
          </a:bodyPr>
          <a:p>
            <a:r>
              <a:rPr lang="en-US" sz="1100" b="0" u="none" strike="noStrike">
                <a:solidFill>
                  <a:srgbClr val="475265"/>
                </a:solidFill>
                <a:effectLst/>
                <a:uFillTx/>
                <a:latin typeface="Calibri"/>
                <a:ea typeface="Calibri"/>
              </a:rPr>
              <a:t>PR-AUC · CatBoost model</a:t>
            </a:r>
            <a:endParaRPr lang="en-US" sz="1100" b="0" u="none" strike="noStrike">
              <a:solidFill>
                <a:srgbClr val="000000"/>
              </a:solidFill>
              <a:effectLst/>
              <a:uFillTx/>
              <a:latin typeface="Arial"/>
            </a:endParaRPr>
          </a:p>
        </p:txBody>
      </p:sp>
      <p:sp>
        <p:nvSpPr>
          <p:cNvPr id="28" name=""/>
          <p:cNvSpPr/>
          <p:nvPr/>
        </p:nvSpPr>
        <p:spPr>
          <a:xfrm>
            <a:off x="3200400" y="4114800"/>
            <a:ext cx="2469240" cy="1189080"/>
          </a:xfrm>
          <a:custGeom>
            <a:avLst/>
            <a:gdLst/>
            <a:ahLst/>
            <a:rect l="0" t="0" r="r" b="b"/>
            <a:pathLst>
              <a:path w="6859" h="3303">
                <a:moveTo>
                  <a:pt x="6631" y="0"/>
                </a:moveTo>
                <a:cubicBezTo>
                  <a:pt x="6783" y="0"/>
                  <a:pt x="6859" y="76"/>
                  <a:pt x="6859" y="228"/>
                </a:cubicBezTo>
                <a:lnTo>
                  <a:pt x="6859" y="3075"/>
                </a:lnTo>
                <a:cubicBezTo>
                  <a:pt x="6859" y="3227"/>
                  <a:pt x="6783" y="3303"/>
                  <a:pt x="6631" y="3303"/>
                </a:cubicBezTo>
                <a:lnTo>
                  <a:pt x="228" y="3303"/>
                </a:lnTo>
                <a:cubicBezTo>
                  <a:pt x="76" y="3303"/>
                  <a:pt x="0" y="3227"/>
                  <a:pt x="0" y="3075"/>
                </a:cubicBezTo>
                <a:lnTo>
                  <a:pt x="0" y="228"/>
                </a:lnTo>
                <a:cubicBezTo>
                  <a:pt x="0" y="76"/>
                  <a:pt x="76" y="0"/>
                  <a:pt x="228" y="0"/>
                </a:cubicBezTo>
                <a:lnTo>
                  <a:pt x="6631" y="0"/>
                </a:lnTo>
                <a:close/>
              </a:path>
            </a:pathLst>
          </a:custGeom>
          <a:solidFill>
            <a:srgbClr val="FDEEE8"/>
          </a:solidFill>
          <a:ln w="12600">
            <a:solidFill>
              <a:srgbClr val="E2E7EF"/>
            </a:solidFill>
            <a:round/>
          </a:ln>
        </p:spPr>
        <p:txBody>
          <a:bodyPr lIns="96120" tIns="51120" rIns="96120" bIns="51120" anchor="t">
            <a:noAutofit/>
          </a:bodyPr>
          <a:p>
            <a:endParaRPr lang="en-US" sz="1800" b="0" u="none" strike="noStrike">
              <a:solidFill>
                <a:srgbClr val="000000"/>
              </a:solidFill>
              <a:effectLst/>
              <a:uFillTx/>
              <a:latin typeface="Arial"/>
            </a:endParaRPr>
          </a:p>
        </p:txBody>
      </p:sp>
      <p:sp>
        <p:nvSpPr>
          <p:cNvPr id="29" name=""/>
          <p:cNvSpPr txBox="1"/>
          <p:nvPr/>
        </p:nvSpPr>
        <p:spPr>
          <a:xfrm>
            <a:off x="3310200" y="4360320"/>
            <a:ext cx="2249280" cy="474480"/>
          </a:xfrm>
          <a:prstGeom prst="rect">
            <a:avLst/>
          </a:prstGeom>
          <a:noFill/>
          <a:ln w="0">
            <a:noFill/>
          </a:ln>
        </p:spPr>
        <p:txBody>
          <a:bodyPr lIns="90000" tIns="45000" rIns="90000" bIns="45000" anchor="t">
            <a:spAutoFit/>
          </a:bodyPr>
          <a:p>
            <a:r>
              <a:rPr lang="en-US" sz="2600" b="1" u="none" strike="noStrike">
                <a:solidFill>
                  <a:srgbClr val="E76C4E"/>
                </a:solidFill>
                <a:effectLst/>
                <a:uFillTx/>
                <a:latin typeface="Cambria-Bold"/>
                <a:ea typeface="Cambria-Bold"/>
              </a:rPr>
              <a:t>0.849</a:t>
            </a:r>
            <a:endParaRPr lang="en-US" sz="2600" b="0" u="none" strike="noStrike">
              <a:solidFill>
                <a:srgbClr val="000000"/>
              </a:solidFill>
              <a:effectLst/>
              <a:uFillTx/>
              <a:latin typeface="Arial"/>
            </a:endParaRPr>
          </a:p>
        </p:txBody>
      </p:sp>
      <p:sp>
        <p:nvSpPr>
          <p:cNvPr id="30" name=""/>
          <p:cNvSpPr txBox="1"/>
          <p:nvPr/>
        </p:nvSpPr>
        <p:spPr>
          <a:xfrm>
            <a:off x="3310200" y="4827960"/>
            <a:ext cx="2249280" cy="451800"/>
          </a:xfrm>
          <a:prstGeom prst="rect">
            <a:avLst/>
          </a:prstGeom>
          <a:noFill/>
          <a:ln w="0">
            <a:noFill/>
          </a:ln>
        </p:spPr>
        <p:txBody>
          <a:bodyPr lIns="90000" tIns="45000" rIns="90000" bIns="45000" anchor="t">
            <a:spAutoFit/>
          </a:bodyPr>
          <a:p>
            <a:r>
              <a:rPr lang="en-US" sz="1100" b="0" u="none" strike="noStrike">
                <a:solidFill>
                  <a:srgbClr val="475265"/>
                </a:solidFill>
                <a:effectLst/>
                <a:uFillTx/>
                <a:latin typeface="Calibri"/>
                <a:ea typeface="Calibri"/>
              </a:rPr>
              <a:t>ROC-AUC · CatBoost model</a:t>
            </a:r>
            <a:endParaRPr lang="en-US" sz="1100" b="0" u="none" strike="noStrike">
              <a:solidFill>
                <a:srgbClr val="000000"/>
              </a:solidFill>
              <a:effectLst/>
              <a:uFillTx/>
              <a:latin typeface="Arial"/>
            </a:endParaRPr>
          </a:p>
        </p:txBody>
      </p:sp>
      <p:sp>
        <p:nvSpPr>
          <p:cNvPr id="31" name=""/>
          <p:cNvSpPr/>
          <p:nvPr/>
        </p:nvSpPr>
        <p:spPr>
          <a:xfrm>
            <a:off x="5852160" y="4114800"/>
            <a:ext cx="2469240" cy="1189080"/>
          </a:xfrm>
          <a:custGeom>
            <a:avLst/>
            <a:gdLst/>
            <a:ahLst/>
            <a:rect l="0" t="0" r="r" b="b"/>
            <a:pathLst>
              <a:path w="6859" h="3303">
                <a:moveTo>
                  <a:pt x="6631" y="0"/>
                </a:moveTo>
                <a:cubicBezTo>
                  <a:pt x="6783" y="0"/>
                  <a:pt x="6859" y="76"/>
                  <a:pt x="6859" y="228"/>
                </a:cubicBezTo>
                <a:lnTo>
                  <a:pt x="6859" y="3075"/>
                </a:lnTo>
                <a:cubicBezTo>
                  <a:pt x="6859" y="3227"/>
                  <a:pt x="6783" y="3303"/>
                  <a:pt x="6631" y="3303"/>
                </a:cubicBezTo>
                <a:lnTo>
                  <a:pt x="228" y="3303"/>
                </a:lnTo>
                <a:cubicBezTo>
                  <a:pt x="76" y="3303"/>
                  <a:pt x="0" y="3227"/>
                  <a:pt x="0" y="3075"/>
                </a:cubicBezTo>
                <a:lnTo>
                  <a:pt x="0" y="228"/>
                </a:lnTo>
                <a:cubicBezTo>
                  <a:pt x="0" y="76"/>
                  <a:pt x="76" y="0"/>
                  <a:pt x="228" y="0"/>
                </a:cubicBezTo>
                <a:lnTo>
                  <a:pt x="6631" y="0"/>
                </a:lnTo>
                <a:close/>
              </a:path>
            </a:pathLst>
          </a:custGeom>
          <a:solidFill>
            <a:srgbClr val="FDEEE8"/>
          </a:solidFill>
          <a:ln w="12600">
            <a:solidFill>
              <a:srgbClr val="E2E7EF"/>
            </a:solidFill>
            <a:round/>
          </a:ln>
        </p:spPr>
        <p:txBody>
          <a:bodyPr lIns="96120" tIns="51120" rIns="96120" bIns="51120" anchor="t">
            <a:noAutofit/>
          </a:bodyPr>
          <a:p>
            <a:endParaRPr lang="en-US" sz="1800" b="0" u="none" strike="noStrike">
              <a:solidFill>
                <a:srgbClr val="000000"/>
              </a:solidFill>
              <a:effectLst/>
              <a:uFillTx/>
              <a:latin typeface="Arial"/>
            </a:endParaRPr>
          </a:p>
        </p:txBody>
      </p:sp>
      <p:sp>
        <p:nvSpPr>
          <p:cNvPr id="32" name=""/>
          <p:cNvSpPr txBox="1"/>
          <p:nvPr/>
        </p:nvSpPr>
        <p:spPr>
          <a:xfrm>
            <a:off x="5961960" y="4360320"/>
            <a:ext cx="2249280" cy="474480"/>
          </a:xfrm>
          <a:prstGeom prst="rect">
            <a:avLst/>
          </a:prstGeom>
          <a:noFill/>
          <a:ln w="0">
            <a:noFill/>
          </a:ln>
        </p:spPr>
        <p:txBody>
          <a:bodyPr lIns="90000" tIns="45000" rIns="90000" bIns="45000" anchor="t">
            <a:spAutoFit/>
          </a:bodyPr>
          <a:p>
            <a:r>
              <a:rPr lang="en-US" sz="2600" b="1" u="none" strike="noStrike">
                <a:solidFill>
                  <a:srgbClr val="E76C4E"/>
                </a:solidFill>
                <a:effectLst/>
                <a:uFillTx/>
                <a:latin typeface="Cambria-Bold"/>
                <a:ea typeface="Cambria-Bold"/>
              </a:rPr>
              <a:t>0.760</a:t>
            </a:r>
            <a:endParaRPr lang="en-US" sz="2600" b="0" u="none" strike="noStrike">
              <a:solidFill>
                <a:srgbClr val="000000"/>
              </a:solidFill>
              <a:effectLst/>
              <a:uFillTx/>
              <a:latin typeface="Arial"/>
            </a:endParaRPr>
          </a:p>
        </p:txBody>
      </p:sp>
      <p:sp>
        <p:nvSpPr>
          <p:cNvPr id="33" name=""/>
          <p:cNvSpPr txBox="1"/>
          <p:nvPr/>
        </p:nvSpPr>
        <p:spPr>
          <a:xfrm>
            <a:off x="5961960" y="4827960"/>
            <a:ext cx="2249280" cy="451800"/>
          </a:xfrm>
          <a:prstGeom prst="rect">
            <a:avLst/>
          </a:prstGeom>
          <a:noFill/>
          <a:ln w="0">
            <a:noFill/>
          </a:ln>
        </p:spPr>
        <p:txBody>
          <a:bodyPr lIns="90000" tIns="45000" rIns="90000" bIns="45000" anchor="t">
            <a:spAutoFit/>
          </a:bodyPr>
          <a:p>
            <a:r>
              <a:rPr lang="en-US" sz="1100" b="0" u="none" strike="noStrike">
                <a:solidFill>
                  <a:srgbClr val="475265"/>
                </a:solidFill>
                <a:effectLst/>
                <a:uFillTx/>
                <a:latin typeface="Calibri"/>
                <a:ea typeface="Calibri"/>
              </a:rPr>
              <a:t>c-index · Cox timing model</a:t>
            </a:r>
            <a:endParaRPr lang="en-US" sz="1100" b="0" u="none" strike="noStrike">
              <a:solidFill>
                <a:srgbClr val="000000"/>
              </a:solidFill>
              <a:effectLst/>
              <a:uFillTx/>
              <a:latin typeface="Arial"/>
            </a:endParaRPr>
          </a:p>
        </p:txBody>
      </p:sp>
      <p:sp>
        <p:nvSpPr>
          <p:cNvPr id="34" name=""/>
          <p:cNvSpPr/>
          <p:nvPr/>
        </p:nvSpPr>
        <p:spPr>
          <a:xfrm>
            <a:off x="8503920" y="4114800"/>
            <a:ext cx="2469240" cy="1189080"/>
          </a:xfrm>
          <a:custGeom>
            <a:avLst/>
            <a:gdLst/>
            <a:ahLst/>
            <a:rect l="0" t="0" r="r" b="b"/>
            <a:pathLst>
              <a:path w="6859" h="3303">
                <a:moveTo>
                  <a:pt x="6631" y="0"/>
                </a:moveTo>
                <a:cubicBezTo>
                  <a:pt x="6783" y="0"/>
                  <a:pt x="6859" y="76"/>
                  <a:pt x="6859" y="228"/>
                </a:cubicBezTo>
                <a:lnTo>
                  <a:pt x="6859" y="3075"/>
                </a:lnTo>
                <a:cubicBezTo>
                  <a:pt x="6859" y="3227"/>
                  <a:pt x="6783" y="3303"/>
                  <a:pt x="6631" y="3303"/>
                </a:cubicBezTo>
                <a:lnTo>
                  <a:pt x="228" y="3303"/>
                </a:lnTo>
                <a:cubicBezTo>
                  <a:pt x="76" y="3303"/>
                  <a:pt x="0" y="3227"/>
                  <a:pt x="0" y="3075"/>
                </a:cubicBezTo>
                <a:lnTo>
                  <a:pt x="0" y="228"/>
                </a:lnTo>
                <a:cubicBezTo>
                  <a:pt x="0" y="76"/>
                  <a:pt x="76" y="0"/>
                  <a:pt x="228" y="0"/>
                </a:cubicBezTo>
                <a:lnTo>
                  <a:pt x="6631" y="0"/>
                </a:lnTo>
                <a:close/>
              </a:path>
            </a:pathLst>
          </a:custGeom>
          <a:solidFill>
            <a:srgbClr val="FDEEE8"/>
          </a:solidFill>
          <a:ln w="12600">
            <a:solidFill>
              <a:srgbClr val="E2E7EF"/>
            </a:solidFill>
            <a:round/>
          </a:ln>
        </p:spPr>
        <p:txBody>
          <a:bodyPr lIns="96120" tIns="51120" rIns="96120" bIns="51120" anchor="t">
            <a:noAutofit/>
          </a:bodyPr>
          <a:p>
            <a:endParaRPr lang="en-US" sz="1800" b="0" u="none" strike="noStrike">
              <a:solidFill>
                <a:srgbClr val="000000"/>
              </a:solidFill>
              <a:effectLst/>
              <a:uFillTx/>
              <a:latin typeface="Arial"/>
            </a:endParaRPr>
          </a:p>
        </p:txBody>
      </p:sp>
      <p:sp>
        <p:nvSpPr>
          <p:cNvPr id="35" name=""/>
          <p:cNvSpPr txBox="1"/>
          <p:nvPr/>
        </p:nvSpPr>
        <p:spPr>
          <a:xfrm>
            <a:off x="8613720" y="4360320"/>
            <a:ext cx="2249280" cy="474480"/>
          </a:xfrm>
          <a:prstGeom prst="rect">
            <a:avLst/>
          </a:prstGeom>
          <a:noFill/>
          <a:ln w="0">
            <a:noFill/>
          </a:ln>
        </p:spPr>
        <p:txBody>
          <a:bodyPr lIns="90000" tIns="45000" rIns="90000" bIns="45000" anchor="t">
            <a:spAutoFit/>
          </a:bodyPr>
          <a:p>
            <a:r>
              <a:rPr lang="en-US" sz="2600" b="1" u="none" strike="noStrike">
                <a:solidFill>
                  <a:srgbClr val="E76C4E"/>
                </a:solidFill>
                <a:effectLst/>
                <a:uFillTx/>
                <a:latin typeface="Cambria-Bold"/>
                <a:ea typeface="Cambria-Bold"/>
              </a:rPr>
              <a:t>0.946</a:t>
            </a:r>
            <a:endParaRPr lang="en-US" sz="2600" b="0" u="none" strike="noStrike">
              <a:solidFill>
                <a:srgbClr val="000000"/>
              </a:solidFill>
              <a:effectLst/>
              <a:uFillTx/>
              <a:latin typeface="Arial"/>
            </a:endParaRPr>
          </a:p>
        </p:txBody>
      </p:sp>
      <p:sp>
        <p:nvSpPr>
          <p:cNvPr id="36" name=""/>
          <p:cNvSpPr txBox="1"/>
          <p:nvPr/>
        </p:nvSpPr>
        <p:spPr>
          <a:xfrm>
            <a:off x="8613720" y="4827960"/>
            <a:ext cx="2249280" cy="451800"/>
          </a:xfrm>
          <a:prstGeom prst="rect">
            <a:avLst/>
          </a:prstGeom>
          <a:noFill/>
          <a:ln w="0">
            <a:noFill/>
          </a:ln>
        </p:spPr>
        <p:txBody>
          <a:bodyPr lIns="90000" tIns="45000" rIns="90000" bIns="45000" anchor="t">
            <a:spAutoFit/>
          </a:bodyPr>
          <a:p>
            <a:r>
              <a:rPr lang="en-US" sz="1100" b="0" u="none" strike="noStrike">
                <a:solidFill>
                  <a:srgbClr val="475265"/>
                </a:solidFill>
                <a:effectLst/>
                <a:uFillTx/>
                <a:latin typeface="Calibri"/>
                <a:ea typeface="Calibri"/>
              </a:rPr>
              <a:t>ROC-AUC · ensemble direction</a:t>
            </a:r>
            <a:endParaRPr lang="en-US" sz="1100" b="0" u="none" strike="noStrike">
              <a:solidFill>
                <a:srgbClr val="000000"/>
              </a:solidFill>
              <a:effectLst/>
              <a:uFillTx/>
              <a:latin typeface="Arial"/>
            </a:endParaRPr>
          </a:p>
        </p:txBody>
      </p:sp>
      <p:sp>
        <p:nvSpPr>
          <p:cNvPr id="37" name=""/>
          <p:cNvSpPr txBox="1"/>
          <p:nvPr/>
        </p:nvSpPr>
        <p:spPr>
          <a:xfrm>
            <a:off x="548640" y="5486400"/>
            <a:ext cx="10789920" cy="914400"/>
          </a:xfrm>
          <a:prstGeom prst="rect">
            <a:avLst/>
          </a:prstGeom>
          <a:noFill/>
          <a:ln w="0">
            <a:noFill/>
          </a:ln>
        </p:spPr>
        <p:txBody>
          <a:bodyPr lIns="90000" tIns="45000" rIns="90000" bIns="45000" anchor="t">
            <a:spAutoFit/>
          </a:bodyPr>
          <a:p>
            <a:pPr>
              <a:lnSpc>
                <a:spcPct val="125000"/>
              </a:lnSpc>
            </a:pPr>
            <a:r>
              <a:rPr lang="en-US" sz="1200" b="0" u="none" strike="noStrike">
                <a:solidFill>
                  <a:srgbClr val="475265"/>
                </a:solidFill>
                <a:effectLst/>
                <a:uFillTx/>
                <a:latin typeface="Calibri"/>
                <a:ea typeface="Calibri"/>
              </a:rPr>
              <a:t>Three separate models, three separate jobs: CatBoost ranks how likely a VUS is to resolve at all, a Cox proportional-hazards model estimates roughly when, and a LightGBM, XGBoost, and RandomForest ensemble predicts which way it resolves once it does (pathogenic or benign). Each is scored honestly on its own held-out test set.</a:t>
            </a:r>
            <a:endParaRPr lang="en-US" sz="1200" b="0" u="none" strike="noStrike">
              <a:solidFill>
                <a:srgbClr val="000000"/>
              </a:solidFill>
              <a:effectLst/>
              <a:uFillTx/>
              <a:latin typeface="Arial"/>
            </a:endParaRPr>
          </a:p>
        </p:txBody>
      </p:sp>
      <p:sp>
        <p:nvSpPr>
          <p:cNvPr id="38" name=""/>
          <p:cNvSpPr txBox="1"/>
          <p:nvPr/>
        </p:nvSpPr>
        <p:spPr>
          <a:xfrm>
            <a:off x="11368840" y="6446520"/>
            <a:ext cx="500000" cy="300000"/>
          </a:xfrm>
          <a:prstGeom prst="rect">
            <a:avLst/>
          </a:prstGeom>
          <a:noFill/>
          <a:ln w="0">
            <a:noFill/>
          </a:ln>
        </p:spPr>
        <p:txBody>
          <a:bodyPr lIns="90000" tIns="45000" rIns="90000" bIns="45000" anchor="t">
            <a:spAutoFit/>
          </a:bodyPr>
          <a:p>
            <a:pPr algn="r"/>
            <a:r>
              <a:rPr lang="en-US" sz="1000" b="0" u="none" strike="noStrike">
                <a:solidFill>
                  <a:srgbClr val="8D99AE"/>
                </a:solidFill>
                <a:effectLst/>
                <a:uFillTx/>
                <a:latin typeface="Calibri"/>
                <a:ea typeface="Calibri"/>
              </a:rPr>
              <a:t>2</a:t>
            </a:r>
            <a:endParaRPr lang="en-US"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9" name=""/>
          <p:cNvSpPr txBox="1"/>
          <p:nvPr/>
        </p:nvSpPr>
        <p:spPr>
          <a:xfrm>
            <a:off x="548640" y="384120"/>
            <a:ext cx="7315200" cy="292680"/>
          </a:xfrm>
          <a:prstGeom prst="rect">
            <a:avLst/>
          </a:prstGeom>
          <a:noFill/>
          <a:ln w="0">
            <a:noFill/>
          </a:ln>
        </p:spPr>
        <p:txBody>
          <a:bodyPr lIns="90000" tIns="45000" rIns="90000" bIns="45000" anchor="t">
            <a:spAutoFit/>
          </a:bodyPr>
          <a:p>
            <a:r>
              <a:rPr lang="en-US" sz="1200" b="1" u="none" spc="201" strike="noStrike">
                <a:solidFill>
                  <a:srgbClr val="E76C4E"/>
                </a:solidFill>
                <a:effectLst/>
                <a:uFillTx/>
                <a:latin typeface="Calibri-Bold"/>
                <a:ea typeface="Calibri-Bold"/>
              </a:rPr>
              <a:t>HOW THIS WAS BUILT</a:t>
            </a:r>
            <a:endParaRPr lang="en-US" sz="1200" b="0" u="none" strike="noStrike">
              <a:solidFill>
                <a:srgbClr val="000000"/>
              </a:solidFill>
              <a:effectLst/>
              <a:uFillTx/>
              <a:latin typeface="Arial"/>
            </a:endParaRPr>
          </a:p>
        </p:txBody>
      </p:sp>
      <p:sp>
        <p:nvSpPr>
          <p:cNvPr id="40" name=""/>
          <p:cNvSpPr txBox="1"/>
          <p:nvPr/>
        </p:nvSpPr>
        <p:spPr>
          <a:xfrm>
            <a:off x="548640" y="658440"/>
            <a:ext cx="10789920" cy="777240"/>
          </a:xfrm>
          <a:prstGeom prst="rect">
            <a:avLst/>
          </a:prstGeom>
          <a:noFill/>
          <a:ln w="0">
            <a:noFill/>
          </a:ln>
        </p:spPr>
        <p:txBody>
          <a:bodyPr lIns="90000" tIns="45000" rIns="90000" bIns="45000" anchor="t">
            <a:spAutoFit/>
          </a:bodyPr>
          <a:p>
            <a:r>
              <a:rPr lang="en-US" sz="2800" b="1" u="none" strike="noStrike">
                <a:solidFill>
                  <a:srgbClr val="1F242E"/>
                </a:solidFill>
                <a:effectLst/>
                <a:uFillTx/>
                <a:latin typeface="Cambria-Bold"/>
                <a:ea typeface="Cambria-Bold"/>
              </a:rPr>
              <a:t>The Models Behind Each Number</a:t>
            </a:r>
            <a:endParaRPr lang="en-US" sz="2800" b="0" u="none" strike="noStrike">
              <a:solidFill>
                <a:srgbClr val="000000"/>
              </a:solidFill>
              <a:effectLst/>
              <a:uFillTx/>
              <a:latin typeface="Arial"/>
            </a:endParaRPr>
          </a:p>
        </p:txBody>
      </p:sp>
      <p:sp>
        <p:nvSpPr>
          <p:cNvPr id="41" name=""/>
          <p:cNvSpPr/>
          <p:nvPr/>
        </p:nvSpPr>
        <p:spPr>
          <a:xfrm>
            <a:off x="548640" y="1508760"/>
            <a:ext cx="11064600" cy="1097640"/>
          </a:xfrm>
          <a:custGeom>
            <a:avLst/>
            <a:gdLst/>
            <a:ahLst/>
            <a:rect l="0" t="0" r="r" b="b"/>
            <a:pathLst>
              <a:path w="30735" h="3049">
                <a:moveTo>
                  <a:pt x="30531" y="0"/>
                </a:moveTo>
                <a:cubicBezTo>
                  <a:pt x="30667" y="0"/>
                  <a:pt x="30735" y="68"/>
                  <a:pt x="30735" y="203"/>
                </a:cubicBezTo>
                <a:lnTo>
                  <a:pt x="30735" y="2845"/>
                </a:lnTo>
                <a:cubicBezTo>
                  <a:pt x="30735" y="2981"/>
                  <a:pt x="30667" y="3049"/>
                  <a:pt x="30531" y="3049"/>
                </a:cubicBezTo>
                <a:lnTo>
                  <a:pt x="203" y="3049"/>
                </a:lnTo>
                <a:cubicBezTo>
                  <a:pt x="68" y="3049"/>
                  <a:pt x="0" y="2981"/>
                  <a:pt x="0" y="2845"/>
                </a:cubicBezTo>
                <a:lnTo>
                  <a:pt x="0" y="203"/>
                </a:lnTo>
                <a:cubicBezTo>
                  <a:pt x="0" y="68"/>
                  <a:pt x="68" y="0"/>
                  <a:pt x="203" y="0"/>
                </a:cubicBezTo>
                <a:lnTo>
                  <a:pt x="30531" y="0"/>
                </a:lnTo>
                <a:close/>
              </a:path>
            </a:pathLst>
          </a:custGeom>
          <a:solidFill>
            <a:srgbClr val="F5F7FA"/>
          </a:solidFill>
          <a:ln w="12600">
            <a:solidFill>
              <a:srgbClr val="E2E7EF"/>
            </a:solidFill>
            <a:round/>
          </a:ln>
        </p:spPr>
        <p:txBody>
          <a:bodyPr lIns="96120" tIns="51120" rIns="96120" bIns="51120" anchor="t">
            <a:noAutofit/>
          </a:bodyPr>
          <a:p>
            <a:endParaRPr lang="en-US" sz="1800" b="0" u="none" strike="noStrike">
              <a:solidFill>
                <a:srgbClr val="000000"/>
              </a:solidFill>
              <a:effectLst/>
              <a:uFillTx/>
              <a:latin typeface="Arial"/>
            </a:endParaRPr>
          </a:p>
        </p:txBody>
      </p:sp>
      <p:sp>
        <p:nvSpPr>
          <p:cNvPr id="42" name=""/>
          <p:cNvSpPr txBox="1"/>
          <p:nvPr/>
        </p:nvSpPr>
        <p:spPr>
          <a:xfrm>
            <a:off x="777240" y="1600200"/>
            <a:ext cx="2514600" cy="914400"/>
          </a:xfrm>
          <a:prstGeom prst="rect">
            <a:avLst/>
          </a:prstGeom>
          <a:noFill/>
          <a:ln w="0">
            <a:noFill/>
          </a:ln>
        </p:spPr>
        <p:txBody>
          <a:bodyPr lIns="90000" tIns="45000" rIns="90000" bIns="45000" anchor="t">
            <a:spAutoFit/>
          </a:bodyPr>
          <a:p>
            <a:pPr>
              <a:lnSpc>
                <a:spcPct val="115000"/>
              </a:lnSpc>
            </a:pPr>
            <a:r>
              <a:rPr lang="en-US" sz="1300" b="1" u="none" strike="noStrike">
                <a:solidFill>
                  <a:srgbClr val="1C375C"/>
                </a:solidFill>
                <a:effectLst/>
                <a:uFillTx/>
                <a:latin typeface="Cambria-Bold"/>
                <a:ea typeface="Cambria-Bold"/>
              </a:rPr>
              <a:t>Germline vs. somatic</a:t>
            </a:r>
            <a:endParaRPr lang="en-US" sz="1300" b="0" u="none" strike="noStrike">
              <a:solidFill>
                <a:srgbClr val="000000"/>
              </a:solidFill>
              <a:effectLst/>
              <a:uFillTx/>
              <a:latin typeface="Arial"/>
            </a:endParaRPr>
          </a:p>
        </p:txBody>
      </p:sp>
      <p:sp>
        <p:nvSpPr>
          <p:cNvPr id="43" name=""/>
          <p:cNvSpPr txBox="1"/>
          <p:nvPr/>
        </p:nvSpPr>
        <p:spPr>
          <a:xfrm>
            <a:off x="3429000" y="1600200"/>
            <a:ext cx="2880360" cy="914400"/>
          </a:xfrm>
          <a:prstGeom prst="rect">
            <a:avLst/>
          </a:prstGeom>
          <a:noFill/>
          <a:ln w="0">
            <a:noFill/>
          </a:ln>
        </p:spPr>
        <p:txBody>
          <a:bodyPr lIns="90000" tIns="45000" rIns="90000" bIns="45000" anchor="t">
            <a:spAutoFit/>
          </a:bodyPr>
          <a:p>
            <a:pPr>
              <a:lnSpc>
                <a:spcPct val="115000"/>
              </a:lnSpc>
            </a:pPr>
            <a:r>
              <a:rPr lang="en-US" sz="1100" b="1" u="none" strike="noStrike">
                <a:solidFill>
                  <a:srgbClr val="279D8F"/>
                </a:solidFill>
                <a:effectLst/>
                <a:uFillTx/>
                <a:latin typeface="Calibri-Bold"/>
                <a:ea typeface="Calibri-Bold"/>
              </a:rPr>
              <a:t>XGBoost, tuned decision threshold (0.9218)</a:t>
            </a:r>
            <a:r>
              <a:rPr sz="1200" i="1" b="0">
                <a:solidFill>
                  <a:srgbClr val="289D8F"/>
                </a:solidFill>
              </a:rPr>
              <a:t>, production model</a:t>
            </a:r>
            <a:endParaRPr lang="en-US" sz="1100" b="0" u="none" strike="noStrike">
              <a:solidFill>
                <a:srgbClr val="000000"/>
              </a:solidFill>
              <a:effectLst/>
              <a:uFillTx/>
              <a:latin typeface="Arial"/>
            </a:endParaRPr>
          </a:p>
        </p:txBody>
      </p:sp>
      <p:sp>
        <p:nvSpPr>
          <p:cNvPr id="44" name=""/>
          <p:cNvSpPr txBox="1"/>
          <p:nvPr/>
        </p:nvSpPr>
        <p:spPr>
          <a:xfrm>
            <a:off x="6446520" y="1600200"/>
            <a:ext cx="4983480" cy="914400"/>
          </a:xfrm>
          <a:prstGeom prst="rect">
            <a:avLst/>
          </a:prstGeom>
          <a:noFill/>
          <a:ln w="0">
            <a:noFill/>
          </a:ln>
        </p:spPr>
        <p:txBody>
          <a:bodyPr lIns="90000" tIns="45000" rIns="90000" bIns="45000" anchor="t">
            <a:spAutoFit/>
          </a:bodyPr>
          <a:p>
            <a:pPr>
              <a:lnSpc>
                <a:spcPct val="120000"/>
              </a:lnSpc>
            </a:pPr>
            <a:r>
              <a:rPr lang="en-US" sz="1000" b="0" u="none" strike="noStrike">
                <a:solidFill>
                  <a:srgbClr val="2A3547"/>
                </a:solidFill>
                <a:effectLst/>
                <a:uFillTx/>
                <a:latin typeface="Calibri"/>
                <a:ea typeface="Calibri"/>
              </a:rPr>
              <a:t>ClinVar resolves most variants directly; whatever's left as a VUS gets tagged Germline or Somatic by this model. The threshold was pushed to hit 90%+ precision</a:t>
            </a:r>
            <a:r>
              <a:rPr lang="en-US" sz="1000" b="0" u="none" strike="noStrike">
                <a:solidFill>
                  <a:srgbClr val="2A3547"/>
                </a:solidFill>
                <a:effectLst/>
                <a:uFillTx/>
                <a:latin typeface="Calibri"/>
                <a:ea typeface="Calibri"/>
              </a:rPr>
              <a:t>.</a:t>
            </a:r>
            <a:endParaRPr lang="en-US" sz="1000" b="0" u="none" strike="noStrike">
              <a:solidFill>
                <a:srgbClr val="000000"/>
              </a:solidFill>
              <a:effectLst/>
              <a:uFillTx/>
              <a:latin typeface="Arial"/>
            </a:endParaRPr>
          </a:p>
        </p:txBody>
      </p:sp>
      <p:sp>
        <p:nvSpPr>
          <p:cNvPr id="45" name=""/>
          <p:cNvSpPr/>
          <p:nvPr/>
        </p:nvSpPr>
        <p:spPr>
          <a:xfrm>
            <a:off x="548640" y="2715840"/>
            <a:ext cx="11064600" cy="1097640"/>
          </a:xfrm>
          <a:custGeom>
            <a:avLst/>
            <a:gdLst/>
            <a:ahLst/>
            <a:rect l="0" t="0" r="r" b="b"/>
            <a:pathLst>
              <a:path w="30735" h="3049">
                <a:moveTo>
                  <a:pt x="30531" y="0"/>
                </a:moveTo>
                <a:cubicBezTo>
                  <a:pt x="30667" y="0"/>
                  <a:pt x="30735" y="68"/>
                  <a:pt x="30735" y="203"/>
                </a:cubicBezTo>
                <a:lnTo>
                  <a:pt x="30735" y="2845"/>
                </a:lnTo>
                <a:cubicBezTo>
                  <a:pt x="30735" y="2981"/>
                  <a:pt x="30667" y="3049"/>
                  <a:pt x="30531" y="3049"/>
                </a:cubicBezTo>
                <a:lnTo>
                  <a:pt x="203" y="3049"/>
                </a:lnTo>
                <a:cubicBezTo>
                  <a:pt x="68" y="3049"/>
                  <a:pt x="0" y="2981"/>
                  <a:pt x="0" y="2845"/>
                </a:cubicBezTo>
                <a:lnTo>
                  <a:pt x="0" y="203"/>
                </a:lnTo>
                <a:cubicBezTo>
                  <a:pt x="0" y="68"/>
                  <a:pt x="68" y="0"/>
                  <a:pt x="203" y="0"/>
                </a:cubicBezTo>
                <a:lnTo>
                  <a:pt x="30531" y="0"/>
                </a:lnTo>
                <a:close/>
              </a:path>
            </a:pathLst>
          </a:custGeom>
          <a:solidFill>
            <a:srgbClr val="F5F7FA"/>
          </a:solidFill>
          <a:ln w="12600">
            <a:solidFill>
              <a:srgbClr val="E2E7EF"/>
            </a:solidFill>
            <a:round/>
          </a:ln>
        </p:spPr>
        <p:txBody>
          <a:bodyPr lIns="96120" tIns="51120" rIns="96120" bIns="51120" anchor="t">
            <a:noAutofit/>
          </a:bodyPr>
          <a:p>
            <a:endParaRPr lang="en-US" sz="1800" b="0" u="none" strike="noStrike">
              <a:solidFill>
                <a:srgbClr val="000000"/>
              </a:solidFill>
              <a:effectLst/>
              <a:uFillTx/>
              <a:latin typeface="Arial"/>
            </a:endParaRPr>
          </a:p>
        </p:txBody>
      </p:sp>
      <p:sp>
        <p:nvSpPr>
          <p:cNvPr id="46" name=""/>
          <p:cNvSpPr txBox="1"/>
          <p:nvPr/>
        </p:nvSpPr>
        <p:spPr>
          <a:xfrm>
            <a:off x="777240" y="2807280"/>
            <a:ext cx="2514600" cy="914400"/>
          </a:xfrm>
          <a:prstGeom prst="rect">
            <a:avLst/>
          </a:prstGeom>
          <a:noFill/>
          <a:ln w="0">
            <a:noFill/>
          </a:ln>
        </p:spPr>
        <p:txBody>
          <a:bodyPr lIns="90000" tIns="45000" rIns="90000" bIns="45000" anchor="t">
            <a:spAutoFit/>
          </a:bodyPr>
          <a:p>
            <a:pPr>
              <a:lnSpc>
                <a:spcPct val="115000"/>
              </a:lnSpc>
            </a:pPr>
            <a:r>
              <a:rPr lang="en-US" sz="1300" b="1" u="none" strike="noStrike">
                <a:solidFill>
                  <a:srgbClr val="1C375C"/>
                </a:solidFill>
                <a:effectLst/>
                <a:uFillTx/>
                <a:latin typeface="Cambria-Bold"/>
                <a:ea typeface="Cambria-Bold"/>
              </a:rPr>
              <a:t>Will a VUS resolve at all</a:t>
            </a:r>
            <a:endParaRPr lang="en-US" sz="1300" b="0" u="none" strike="noStrike">
              <a:solidFill>
                <a:srgbClr val="000000"/>
              </a:solidFill>
              <a:effectLst/>
              <a:uFillTx/>
              <a:latin typeface="Arial"/>
            </a:endParaRPr>
          </a:p>
        </p:txBody>
      </p:sp>
      <p:sp>
        <p:nvSpPr>
          <p:cNvPr id="47" name=""/>
          <p:cNvSpPr txBox="1"/>
          <p:nvPr/>
        </p:nvSpPr>
        <p:spPr>
          <a:xfrm>
            <a:off x="3429000" y="2807280"/>
            <a:ext cx="2880360" cy="914400"/>
          </a:xfrm>
          <a:prstGeom prst="rect">
            <a:avLst/>
          </a:prstGeom>
          <a:noFill/>
          <a:ln w="0">
            <a:noFill/>
          </a:ln>
        </p:spPr>
        <p:txBody>
          <a:bodyPr lIns="90000" tIns="45000" rIns="90000" bIns="45000" anchor="t">
            <a:spAutoFit/>
          </a:bodyPr>
          <a:p>
            <a:pPr>
              <a:lnSpc>
                <a:spcPct val="115000"/>
              </a:lnSpc>
            </a:pPr>
            <a:r>
              <a:rPr lang="en-US" sz="1100" b="1" u="none" strike="noStrike">
                <a:solidFill>
                  <a:srgbClr val="279D8F"/>
                </a:solidFill>
                <a:effectLst/>
                <a:uFillTx/>
                <a:latin typeface="Calibri-Bold"/>
                <a:ea typeface="Calibri-Bold"/>
              </a:rPr>
              <a:t>Gradient-boosted trees, gene identity as a native categorical feature</a:t>
            </a:r>
            <a:r>
              <a:rPr sz="1200" i="1" b="0">
                <a:solidFill>
                  <a:srgbClr val="289D8F"/>
                </a:solidFill>
              </a:rPr>
              <a:t>, production model</a:t>
            </a:r>
            <a:endParaRPr lang="en-US" sz="1100" b="0" u="none" strike="noStrike">
              <a:solidFill>
                <a:srgbClr val="000000"/>
              </a:solidFill>
              <a:effectLst/>
              <a:uFillTx/>
              <a:latin typeface="Arial"/>
            </a:endParaRPr>
          </a:p>
        </p:txBody>
      </p:sp>
      <p:sp>
        <p:nvSpPr>
          <p:cNvPr id="48" name=""/>
          <p:cNvSpPr txBox="1"/>
          <p:nvPr/>
        </p:nvSpPr>
        <p:spPr>
          <a:xfrm>
            <a:off x="6446520" y="2807280"/>
            <a:ext cx="4983480" cy="914400"/>
          </a:xfrm>
          <a:prstGeom prst="rect">
            <a:avLst/>
          </a:prstGeom>
          <a:noFill/>
          <a:ln w="0">
            <a:noFill/>
          </a:ln>
        </p:spPr>
        <p:txBody>
          <a:bodyPr lIns="90000" tIns="45000" rIns="90000" bIns="45000" anchor="t">
            <a:spAutoFit/>
          </a:bodyPr>
          <a:p>
            <a:pPr>
              <a:lnSpc>
                <a:spcPct val="120000"/>
              </a:lnSpc>
            </a:pPr>
            <a:r>
              <a:rPr lang="en-US" sz="1000" b="0" u="none" strike="noStrike">
                <a:solidFill>
                  <a:srgbClr val="2A3547"/>
                </a:solidFill>
                <a:effectLst/>
                <a:uFillTx/>
                <a:latin typeface="Calibri"/>
                <a:ea typeface="Calibri"/>
              </a:rPr>
              <a:t>Letting the model learn gene-level structure directly, instead of hand-encoding it into a single number first, was the single biggest </a:t>
            </a:r>
            <a:r>
              <a:rPr lang="en-US" sz="1000" b="0" u="none" strike="noStrike">
                <a:solidFill>
                  <a:srgbClr val="2A3547"/>
                </a:solidFill>
                <a:effectLst/>
                <a:uFillTx/>
                <a:latin typeface="Calibri"/>
                <a:ea typeface="Calibri"/>
              </a:rPr>
              <a:t>improvement</a:t>
            </a:r>
            <a:r>
              <a:rPr lang="en-US" sz="1000" b="0" u="none" strike="noStrike">
                <a:solidFill>
                  <a:srgbClr val="2A3547"/>
                </a:solidFill>
                <a:effectLst/>
                <a:uFillTx/>
                <a:latin typeface="Calibri"/>
                <a:ea typeface="Calibri"/>
              </a:rPr>
              <a:t> in this </a:t>
            </a:r>
            <a:r>
              <a:rPr lang="en-US" sz="1000" b="0" u="none" strike="noStrike">
                <a:solidFill>
                  <a:srgbClr val="2A3547"/>
                </a:solidFill>
                <a:effectLst/>
                <a:uFillTx/>
                <a:latin typeface="Calibri"/>
                <a:ea typeface="Calibri"/>
              </a:rPr>
              <a:t>model</a:t>
            </a:r>
            <a:r>
              <a:rPr lang="en-US" sz="1000" b="0" u="none" strike="noStrike">
                <a:solidFill>
                  <a:srgbClr val="2A3547"/>
                </a:solidFill>
                <a:effectLst/>
                <a:uFillTx/>
                <a:latin typeface="Calibri"/>
                <a:ea typeface="Calibri"/>
              </a:rPr>
              <a:t>.</a:t>
            </a:r>
            <a:endParaRPr lang="en-US" sz="1000" b="0" u="none" strike="noStrike">
              <a:solidFill>
                <a:srgbClr val="000000"/>
              </a:solidFill>
              <a:effectLst/>
              <a:uFillTx/>
              <a:latin typeface="Arial"/>
            </a:endParaRPr>
          </a:p>
        </p:txBody>
      </p:sp>
      <p:sp>
        <p:nvSpPr>
          <p:cNvPr id="49" name=""/>
          <p:cNvSpPr/>
          <p:nvPr/>
        </p:nvSpPr>
        <p:spPr>
          <a:xfrm>
            <a:off x="548640" y="3922920"/>
            <a:ext cx="11064600" cy="1097640"/>
          </a:xfrm>
          <a:custGeom>
            <a:avLst/>
            <a:gdLst/>
            <a:ahLst/>
            <a:rect l="0" t="0" r="r" b="b"/>
            <a:pathLst>
              <a:path w="30735" h="3049">
                <a:moveTo>
                  <a:pt x="30531" y="0"/>
                </a:moveTo>
                <a:cubicBezTo>
                  <a:pt x="30667" y="0"/>
                  <a:pt x="30735" y="68"/>
                  <a:pt x="30735" y="203"/>
                </a:cubicBezTo>
                <a:lnTo>
                  <a:pt x="30735" y="2845"/>
                </a:lnTo>
                <a:cubicBezTo>
                  <a:pt x="30735" y="2981"/>
                  <a:pt x="30667" y="3049"/>
                  <a:pt x="30531" y="3049"/>
                </a:cubicBezTo>
                <a:lnTo>
                  <a:pt x="203" y="3049"/>
                </a:lnTo>
                <a:cubicBezTo>
                  <a:pt x="68" y="3049"/>
                  <a:pt x="0" y="2981"/>
                  <a:pt x="0" y="2845"/>
                </a:cubicBezTo>
                <a:lnTo>
                  <a:pt x="0" y="203"/>
                </a:lnTo>
                <a:cubicBezTo>
                  <a:pt x="0" y="68"/>
                  <a:pt x="68" y="0"/>
                  <a:pt x="203" y="0"/>
                </a:cubicBezTo>
                <a:lnTo>
                  <a:pt x="30531" y="0"/>
                </a:lnTo>
                <a:close/>
              </a:path>
            </a:pathLst>
          </a:custGeom>
          <a:solidFill>
            <a:srgbClr val="F5F7FA"/>
          </a:solidFill>
          <a:ln w="12600">
            <a:solidFill>
              <a:srgbClr val="E2E7EF"/>
            </a:solidFill>
            <a:round/>
          </a:ln>
        </p:spPr>
        <p:txBody>
          <a:bodyPr lIns="96120" tIns="51120" rIns="96120" bIns="51120" anchor="t">
            <a:noAutofit/>
          </a:bodyPr>
          <a:p>
            <a:endParaRPr lang="en-US" sz="1800" b="0" u="none" strike="noStrike">
              <a:solidFill>
                <a:srgbClr val="000000"/>
              </a:solidFill>
              <a:effectLst/>
              <a:uFillTx/>
              <a:latin typeface="Arial"/>
            </a:endParaRPr>
          </a:p>
        </p:txBody>
      </p:sp>
      <p:sp>
        <p:nvSpPr>
          <p:cNvPr id="50" name=""/>
          <p:cNvSpPr txBox="1"/>
          <p:nvPr/>
        </p:nvSpPr>
        <p:spPr>
          <a:xfrm>
            <a:off x="777240" y="4014360"/>
            <a:ext cx="2514600" cy="914400"/>
          </a:xfrm>
          <a:prstGeom prst="rect">
            <a:avLst/>
          </a:prstGeom>
          <a:noFill/>
          <a:ln w="0">
            <a:noFill/>
          </a:ln>
        </p:spPr>
        <p:txBody>
          <a:bodyPr lIns="90000" tIns="45000" rIns="90000" bIns="45000" anchor="t">
            <a:spAutoFit/>
          </a:bodyPr>
          <a:p>
            <a:pPr>
              <a:lnSpc>
                <a:spcPct val="115000"/>
              </a:lnSpc>
            </a:pPr>
            <a:r>
              <a:rPr lang="en-US" sz="1300" b="1" u="none" strike="noStrike">
                <a:solidFill>
                  <a:srgbClr val="1C375C"/>
                </a:solidFill>
                <a:effectLst/>
                <a:uFillTx/>
                <a:latin typeface="Cambria-Bold"/>
                <a:ea typeface="Cambria-Bold"/>
              </a:rPr>
              <a:t>When it's likely to resolve</a:t>
            </a:r>
            <a:endParaRPr lang="en-US" sz="1300" b="0" u="none" strike="noStrike">
              <a:solidFill>
                <a:srgbClr val="000000"/>
              </a:solidFill>
              <a:effectLst/>
              <a:uFillTx/>
              <a:latin typeface="Arial"/>
            </a:endParaRPr>
          </a:p>
        </p:txBody>
      </p:sp>
      <p:sp>
        <p:nvSpPr>
          <p:cNvPr id="51" name=""/>
          <p:cNvSpPr txBox="1"/>
          <p:nvPr/>
        </p:nvSpPr>
        <p:spPr>
          <a:xfrm>
            <a:off x="3429000" y="4014360"/>
            <a:ext cx="2880360" cy="914400"/>
          </a:xfrm>
          <a:prstGeom prst="rect">
            <a:avLst/>
          </a:prstGeom>
          <a:noFill/>
          <a:ln w="0">
            <a:noFill/>
          </a:ln>
        </p:spPr>
        <p:txBody>
          <a:bodyPr lIns="90000" tIns="45000" rIns="90000" bIns="45000" anchor="t">
            <a:spAutoFit/>
          </a:bodyPr>
          <a:p>
            <a:pPr>
              <a:lnSpc>
                <a:spcPct val="115000"/>
              </a:lnSpc>
            </a:pPr>
            <a:r>
              <a:rPr lang="en-US" sz="1100" b="1" u="none" strike="noStrike">
                <a:solidFill>
                  <a:srgbClr val="279D8F"/>
                </a:solidFill>
                <a:effectLst/>
                <a:uFillTx/>
                <a:latin typeface="Calibri-Bold"/>
                <a:ea typeface="Calibri-Bold"/>
              </a:rPr>
              <a:t>Cox proportional-hazards survival model</a:t>
            </a:r>
            <a:r>
              <a:rPr sz="1200" i="1" b="0">
                <a:solidFill>
                  <a:srgbClr val="289D8F"/>
                </a:solidFill>
              </a:rPr>
              <a:t>, production model</a:t>
            </a:r>
            <a:endParaRPr lang="en-US" sz="1100" b="0" u="none" strike="noStrike">
              <a:solidFill>
                <a:srgbClr val="000000"/>
              </a:solidFill>
              <a:effectLst/>
              <a:uFillTx/>
              <a:latin typeface="Arial"/>
            </a:endParaRPr>
          </a:p>
        </p:txBody>
      </p:sp>
      <p:sp>
        <p:nvSpPr>
          <p:cNvPr id="52" name=""/>
          <p:cNvSpPr txBox="1"/>
          <p:nvPr/>
        </p:nvSpPr>
        <p:spPr>
          <a:xfrm>
            <a:off x="6446520" y="4014360"/>
            <a:ext cx="4983480" cy="914400"/>
          </a:xfrm>
          <a:prstGeom prst="rect">
            <a:avLst/>
          </a:prstGeom>
          <a:noFill/>
          <a:ln w="0">
            <a:noFill/>
          </a:ln>
        </p:spPr>
        <p:txBody>
          <a:bodyPr lIns="90000" tIns="45000" rIns="90000" bIns="45000" anchor="t">
            <a:spAutoFit/>
          </a:bodyPr>
          <a:p>
            <a:pPr>
              <a:lnSpc>
                <a:spcPct val="120000"/>
              </a:lnSpc>
            </a:pPr>
            <a:r>
              <a:rPr lang="en-US" sz="1000" b="0" u="none" strike="noStrike">
                <a:solidFill>
                  <a:srgbClr val="2A3547"/>
                </a:solidFill>
                <a:effectLst/>
                <a:uFillTx/>
                <a:latin typeface="Calibri"/>
                <a:ea typeface="Calibri"/>
              </a:rPr>
              <a:t>A survival model, not a regression, because most VUS never resolve at all. Censoring has to be handled explicitly rather than treated as a missing label</a:t>
            </a:r>
            <a:r>
              <a:rPr lang="en-US" sz="1000" b="0" u="none" strike="noStrike">
                <a:solidFill>
                  <a:srgbClr val="2A3547"/>
                </a:solidFill>
                <a:effectLst/>
                <a:uFillTx/>
                <a:latin typeface="Calibri"/>
                <a:ea typeface="Calibri"/>
              </a:rPr>
              <a:t>.</a:t>
            </a:r>
            <a:endParaRPr lang="en-US" sz="1000" b="0" u="none" strike="noStrike">
              <a:solidFill>
                <a:srgbClr val="000000"/>
              </a:solidFill>
              <a:effectLst/>
              <a:uFillTx/>
              <a:latin typeface="Arial"/>
            </a:endParaRPr>
          </a:p>
        </p:txBody>
      </p:sp>
      <p:sp>
        <p:nvSpPr>
          <p:cNvPr id="53" name=""/>
          <p:cNvSpPr/>
          <p:nvPr/>
        </p:nvSpPr>
        <p:spPr>
          <a:xfrm>
            <a:off x="548640" y="5129640"/>
            <a:ext cx="11064600" cy="1097640"/>
          </a:xfrm>
          <a:custGeom>
            <a:avLst/>
            <a:gdLst/>
            <a:ahLst/>
            <a:rect l="0" t="0" r="r" b="b"/>
            <a:pathLst>
              <a:path w="30735" h="3049">
                <a:moveTo>
                  <a:pt x="30531" y="0"/>
                </a:moveTo>
                <a:cubicBezTo>
                  <a:pt x="30667" y="0"/>
                  <a:pt x="30735" y="68"/>
                  <a:pt x="30735" y="203"/>
                </a:cubicBezTo>
                <a:lnTo>
                  <a:pt x="30735" y="2845"/>
                </a:lnTo>
                <a:cubicBezTo>
                  <a:pt x="30735" y="2981"/>
                  <a:pt x="30667" y="3049"/>
                  <a:pt x="30531" y="3049"/>
                </a:cubicBezTo>
                <a:lnTo>
                  <a:pt x="203" y="3049"/>
                </a:lnTo>
                <a:cubicBezTo>
                  <a:pt x="68" y="3049"/>
                  <a:pt x="0" y="2981"/>
                  <a:pt x="0" y="2845"/>
                </a:cubicBezTo>
                <a:lnTo>
                  <a:pt x="0" y="203"/>
                </a:lnTo>
                <a:cubicBezTo>
                  <a:pt x="0" y="68"/>
                  <a:pt x="68" y="0"/>
                  <a:pt x="203" y="0"/>
                </a:cubicBezTo>
                <a:lnTo>
                  <a:pt x="30531" y="0"/>
                </a:lnTo>
                <a:close/>
              </a:path>
            </a:pathLst>
          </a:custGeom>
          <a:solidFill>
            <a:srgbClr val="F5F7FA"/>
          </a:solidFill>
          <a:ln w="12600">
            <a:solidFill>
              <a:srgbClr val="E2E7EF"/>
            </a:solidFill>
            <a:round/>
          </a:ln>
        </p:spPr>
        <p:txBody>
          <a:bodyPr lIns="96120" tIns="51120" rIns="96120" bIns="51120" anchor="t">
            <a:noAutofit/>
          </a:bodyPr>
          <a:p>
            <a:endParaRPr lang="en-US" sz="1800" b="0" u="none" strike="noStrike">
              <a:solidFill>
                <a:srgbClr val="000000"/>
              </a:solidFill>
              <a:effectLst/>
              <a:uFillTx/>
              <a:latin typeface="Arial"/>
            </a:endParaRPr>
          </a:p>
        </p:txBody>
      </p:sp>
      <p:sp>
        <p:nvSpPr>
          <p:cNvPr id="54" name=""/>
          <p:cNvSpPr txBox="1"/>
          <p:nvPr/>
        </p:nvSpPr>
        <p:spPr>
          <a:xfrm>
            <a:off x="777240" y="5221080"/>
            <a:ext cx="2514600" cy="914400"/>
          </a:xfrm>
          <a:prstGeom prst="rect">
            <a:avLst/>
          </a:prstGeom>
          <a:noFill/>
          <a:ln w="0">
            <a:noFill/>
          </a:ln>
        </p:spPr>
        <p:txBody>
          <a:bodyPr lIns="90000" tIns="45000" rIns="90000" bIns="45000" anchor="t">
            <a:spAutoFit/>
          </a:bodyPr>
          <a:p>
            <a:pPr>
              <a:lnSpc>
                <a:spcPct val="115000"/>
              </a:lnSpc>
            </a:pPr>
            <a:r>
              <a:rPr lang="en-US" sz="1300" b="1" u="none" strike="noStrike">
                <a:solidFill>
                  <a:srgbClr val="1C375C"/>
                </a:solidFill>
                <a:effectLst/>
                <a:uFillTx/>
                <a:latin typeface="Cambria-Bold"/>
                <a:ea typeface="Cambria-Bold"/>
              </a:rPr>
              <a:t>Which way it resolves</a:t>
            </a:r>
            <a:endParaRPr lang="en-US" sz="1300" b="0" u="none" strike="noStrike">
              <a:solidFill>
                <a:srgbClr val="000000"/>
              </a:solidFill>
              <a:effectLst/>
              <a:uFillTx/>
              <a:latin typeface="Arial"/>
            </a:endParaRPr>
          </a:p>
        </p:txBody>
      </p:sp>
      <p:sp>
        <p:nvSpPr>
          <p:cNvPr id="55" name=""/>
          <p:cNvSpPr txBox="1"/>
          <p:nvPr/>
        </p:nvSpPr>
        <p:spPr>
          <a:xfrm>
            <a:off x="3429000" y="5221080"/>
            <a:ext cx="2880360" cy="914400"/>
          </a:xfrm>
          <a:prstGeom prst="rect">
            <a:avLst/>
          </a:prstGeom>
          <a:noFill/>
          <a:ln w="0">
            <a:noFill/>
          </a:ln>
        </p:spPr>
        <p:txBody>
          <a:bodyPr lIns="90000" tIns="45000" rIns="90000" bIns="45000" anchor="t">
            <a:spAutoFit/>
          </a:bodyPr>
          <a:p>
            <a:pPr>
              <a:lnSpc>
                <a:spcPct val="115000"/>
              </a:lnSpc>
            </a:pPr>
            <a:r>
              <a:rPr lang="en-US" sz="1100" b="1" u="none" strike="noStrike">
                <a:solidFill>
                  <a:srgbClr val="279D8F"/>
                </a:solidFill>
                <a:effectLst/>
                <a:uFillTx/>
                <a:latin typeface="Calibri-Bold"/>
                <a:ea typeface="Calibri-Bold"/>
              </a:rPr>
              <a:t>Tree Ensemble of </a:t>
            </a:r>
            <a:r>
              <a:rPr lang="en-US" sz="1100" b="1" u="none" strike="noStrike">
                <a:solidFill>
                  <a:srgbClr val="279D8F"/>
                </a:solidFill>
                <a:effectLst/>
                <a:uFillTx/>
                <a:latin typeface="Calibri-Bold"/>
                <a:ea typeface="Calibri-Bold"/>
              </a:rPr>
              <a:t>LightGBM, XGBoost, and Random Forest</a:t>
            </a:r>
            <a:r>
              <a:rPr sz="1200" i="1" b="0">
                <a:solidFill>
                  <a:srgbClr val="289D8F"/>
                </a:solidFill>
              </a:rPr>
              <a:t>, production model</a:t>
            </a:r>
            <a:endParaRPr lang="en-US" sz="1100" b="0" u="none" strike="noStrike">
              <a:solidFill>
                <a:srgbClr val="000000"/>
              </a:solidFill>
              <a:effectLst/>
              <a:uFillTx/>
              <a:latin typeface="Arial"/>
            </a:endParaRPr>
          </a:p>
        </p:txBody>
      </p:sp>
      <p:sp>
        <p:nvSpPr>
          <p:cNvPr id="56" name=""/>
          <p:cNvSpPr txBox="1"/>
          <p:nvPr/>
        </p:nvSpPr>
        <p:spPr>
          <a:xfrm>
            <a:off x="6446520" y="5221080"/>
            <a:ext cx="4983480" cy="914400"/>
          </a:xfrm>
          <a:prstGeom prst="rect">
            <a:avLst/>
          </a:prstGeom>
          <a:noFill/>
          <a:ln w="0">
            <a:noFill/>
          </a:ln>
        </p:spPr>
        <p:txBody>
          <a:bodyPr lIns="90000" tIns="45000" rIns="90000" bIns="45000" anchor="t">
            <a:spAutoFit/>
          </a:bodyPr>
          <a:p>
            <a:pPr>
              <a:lnSpc>
                <a:spcPct val="120000"/>
              </a:lnSpc>
            </a:pPr>
            <a:r>
              <a:rPr lang="en-US" sz="1000" b="0" u="none" strike="noStrike">
                <a:solidFill>
                  <a:srgbClr val="2A3547"/>
                </a:solidFill>
                <a:effectLst/>
                <a:uFillTx/>
                <a:latin typeface="Calibri"/>
                <a:ea typeface="Calibri"/>
              </a:rPr>
              <a:t>Trained only on the variants that have already resolved: a smaller, cleaner problem than predicting resolution in the first place</a:t>
            </a:r>
            <a:r>
              <a:rPr lang="en-US" sz="1000" b="0" u="none" strike="noStrike">
                <a:solidFill>
                  <a:srgbClr val="2A3547"/>
                </a:solidFill>
                <a:effectLst/>
                <a:uFillTx/>
                <a:latin typeface="Calibri"/>
                <a:ea typeface="Calibri"/>
              </a:rPr>
              <a:t>.</a:t>
            </a:r>
            <a:endParaRPr lang="en-US" sz="1000" b="0" u="none" strike="noStrike">
              <a:solidFill>
                <a:srgbClr val="000000"/>
              </a:solidFill>
              <a:effectLst/>
              <a:uFillTx/>
              <a:latin typeface="Arial"/>
            </a:endParaRPr>
          </a:p>
        </p:txBody>
      </p:sp>
      <p:sp>
        <p:nvSpPr>
          <p:cNvPr id="57" name=""/>
          <p:cNvSpPr txBox="1"/>
          <p:nvPr/>
        </p:nvSpPr>
        <p:spPr>
          <a:xfrm>
            <a:off x="11368840" y="6446520"/>
            <a:ext cx="500000" cy="300000"/>
          </a:xfrm>
          <a:prstGeom prst="rect">
            <a:avLst/>
          </a:prstGeom>
          <a:noFill/>
          <a:ln w="0">
            <a:noFill/>
          </a:ln>
        </p:spPr>
        <p:txBody>
          <a:bodyPr lIns="90000" tIns="45000" rIns="90000" bIns="45000" anchor="t">
            <a:spAutoFit/>
          </a:bodyPr>
          <a:p>
            <a:pPr algn="r"/>
            <a:r>
              <a:rPr lang="en-US" sz="1000" b="0" u="none" strike="noStrike">
                <a:solidFill>
                  <a:srgbClr val="8D99AE"/>
                </a:solidFill>
                <a:effectLst/>
                <a:uFillTx/>
                <a:latin typeface="Calibri"/>
                <a:ea typeface="Calibri"/>
              </a:rPr>
              <a:t>3</a:t>
            </a:r>
            <a:endParaRPr lang="en-US"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8" name=""/>
          <p:cNvSpPr txBox="1"/>
          <p:nvPr/>
        </p:nvSpPr>
        <p:spPr>
          <a:xfrm>
            <a:off x="548640" y="384120"/>
            <a:ext cx="7315200" cy="292680"/>
          </a:xfrm>
          <a:prstGeom prst="rect">
            <a:avLst/>
          </a:prstGeom>
          <a:noFill/>
          <a:ln w="0">
            <a:noFill/>
          </a:ln>
        </p:spPr>
        <p:txBody>
          <a:bodyPr lIns="90000" tIns="45000" rIns="90000" bIns="45000" anchor="t">
            <a:spAutoFit/>
          </a:bodyPr>
          <a:p>
            <a:r>
              <a:rPr lang="en-US" sz="1200" b="1" u="none" spc="201" strike="noStrike">
                <a:solidFill>
                  <a:srgbClr val="E76C4E"/>
                </a:solidFill>
                <a:effectLst/>
                <a:uFillTx/>
                <a:latin typeface="Calibri-Bold"/>
                <a:ea typeface="Calibri-Bold"/>
              </a:rPr>
              <a:t>THE DATA</a:t>
            </a:r>
            <a:endParaRPr lang="en-US" sz="1200" b="0" u="none" strike="noStrike">
              <a:solidFill>
                <a:srgbClr val="000000"/>
              </a:solidFill>
              <a:effectLst/>
              <a:uFillTx/>
              <a:latin typeface="Arial"/>
            </a:endParaRPr>
          </a:p>
        </p:txBody>
      </p:sp>
      <p:sp>
        <p:nvSpPr>
          <p:cNvPr id="59" name=""/>
          <p:cNvSpPr txBox="1"/>
          <p:nvPr/>
        </p:nvSpPr>
        <p:spPr>
          <a:xfrm>
            <a:off x="548640" y="658440"/>
            <a:ext cx="10789920" cy="777240"/>
          </a:xfrm>
          <a:prstGeom prst="rect">
            <a:avLst/>
          </a:prstGeom>
          <a:noFill/>
          <a:ln w="0">
            <a:noFill/>
          </a:ln>
        </p:spPr>
        <p:txBody>
          <a:bodyPr lIns="90000" tIns="45000" rIns="90000" bIns="45000" anchor="t">
            <a:spAutoFit/>
          </a:bodyPr>
          <a:p>
            <a:r>
              <a:rPr lang="en-US" sz="3000" b="1" u="none" strike="noStrike">
                <a:solidFill>
                  <a:srgbClr val="1F242E"/>
                </a:solidFill>
                <a:effectLst/>
                <a:uFillTx/>
                <a:latin typeface="Cambria-Bold"/>
                <a:ea typeface="Cambria-Bold"/>
              </a:rPr>
              <a:t>149</a:t>
            </a:r>
            <a:r>
              <a:rPr lang="en-US" sz="3000" b="1" u="none" strike="noStrike">
                <a:solidFill>
                  <a:srgbClr val="1F242E"/>
                </a:solidFill>
                <a:effectLst/>
                <a:uFillTx/>
                <a:latin typeface="Cambria-Bold"/>
                <a:ea typeface="Cambria-Bold"/>
              </a:rPr>
              <a:t> </a:t>
            </a:r>
            <a:r>
              <a:rPr lang="en-US" sz="3000" b="1" u="none" strike="noStrike">
                <a:solidFill>
                  <a:srgbClr val="1F242E"/>
                </a:solidFill>
                <a:effectLst/>
                <a:uFillTx/>
                <a:latin typeface="Cambria-Bold"/>
                <a:ea typeface="Cambria-Bold"/>
              </a:rPr>
              <a:t>Real Patients, Seven Cancer Types</a:t>
            </a:r>
            <a:endParaRPr lang="en-US" sz="3000" b="0" u="none" strike="noStrike">
              <a:solidFill>
                <a:srgbClr val="000000"/>
              </a:solidFill>
              <a:effectLst/>
              <a:uFillTx/>
              <a:latin typeface="Arial"/>
            </a:endParaRPr>
          </a:p>
        </p:txBody>
      </p:sp>
      <p:sp>
        <p:nvSpPr>
          <p:cNvPr id="60" name=""/>
          <p:cNvSpPr/>
          <p:nvPr/>
        </p:nvSpPr>
        <p:spPr>
          <a:xfrm>
            <a:off x="548640" y="2103120"/>
            <a:ext cx="3456720" cy="1189080"/>
          </a:xfrm>
          <a:custGeom>
            <a:avLst/>
            <a:gdLst/>
            <a:ahLst/>
            <a:rect l="0" t="0" r="r" b="b"/>
            <a:pathLst>
              <a:path w="9602" h="3303">
                <a:moveTo>
                  <a:pt x="9373" y="0"/>
                </a:moveTo>
                <a:cubicBezTo>
                  <a:pt x="9526" y="0"/>
                  <a:pt x="9602" y="76"/>
                  <a:pt x="9602" y="228"/>
                </a:cubicBezTo>
                <a:lnTo>
                  <a:pt x="9602" y="3075"/>
                </a:lnTo>
                <a:cubicBezTo>
                  <a:pt x="9602" y="3227"/>
                  <a:pt x="9526" y="3303"/>
                  <a:pt x="9373" y="3303"/>
                </a:cubicBezTo>
                <a:lnTo>
                  <a:pt x="228" y="3303"/>
                </a:lnTo>
                <a:cubicBezTo>
                  <a:pt x="76" y="3303"/>
                  <a:pt x="0" y="3227"/>
                  <a:pt x="0" y="3075"/>
                </a:cubicBezTo>
                <a:lnTo>
                  <a:pt x="0" y="228"/>
                </a:lnTo>
                <a:cubicBezTo>
                  <a:pt x="0" y="76"/>
                  <a:pt x="76" y="0"/>
                  <a:pt x="228" y="0"/>
                </a:cubicBezTo>
                <a:lnTo>
                  <a:pt x="9373" y="0"/>
                </a:lnTo>
                <a:close/>
              </a:path>
            </a:pathLst>
          </a:custGeom>
          <a:solidFill>
            <a:srgbClr val="F5F7FA"/>
          </a:solidFill>
          <a:ln w="12600">
            <a:solidFill>
              <a:srgbClr val="E2E7EF"/>
            </a:solidFill>
            <a:round/>
          </a:ln>
        </p:spPr>
        <p:txBody>
          <a:bodyPr lIns="96120" tIns="51120" rIns="96120" bIns="51120" anchor="t">
            <a:noAutofit/>
          </a:bodyPr>
          <a:p>
            <a:endParaRPr lang="en-US" sz="1800" b="0" u="none" strike="noStrike">
              <a:solidFill>
                <a:srgbClr val="000000"/>
              </a:solidFill>
              <a:effectLst/>
              <a:uFillTx/>
              <a:latin typeface="Arial"/>
            </a:endParaRPr>
          </a:p>
        </p:txBody>
      </p:sp>
      <p:sp>
        <p:nvSpPr>
          <p:cNvPr id="61" name=""/>
          <p:cNvSpPr txBox="1"/>
          <p:nvPr/>
        </p:nvSpPr>
        <p:spPr>
          <a:xfrm>
            <a:off x="658440" y="2212920"/>
            <a:ext cx="3237120" cy="653760"/>
          </a:xfrm>
          <a:prstGeom prst="rect">
            <a:avLst/>
          </a:prstGeom>
          <a:noFill/>
          <a:ln w="0">
            <a:noFill/>
          </a:ln>
        </p:spPr>
        <p:txBody>
          <a:bodyPr lIns="90000" tIns="45000" rIns="90000" bIns="45000" anchor="t">
            <a:spAutoFit/>
          </a:bodyPr>
          <a:p>
            <a:r>
              <a:rPr lang="en-US" sz="3000" b="1" u="none" strike="noStrike">
                <a:solidFill>
                  <a:srgbClr val="1C375C"/>
                </a:solidFill>
                <a:effectLst/>
                <a:uFillTx/>
                <a:latin typeface="Cambria-Bold"/>
                <a:ea typeface="Cambria-Bold"/>
              </a:rPr>
              <a:t>149</a:t>
            </a:r>
            <a:endParaRPr lang="en-US" sz="3000" b="0" u="none" strike="noStrike">
              <a:solidFill>
                <a:srgbClr val="000000"/>
              </a:solidFill>
              <a:effectLst/>
              <a:uFillTx/>
              <a:latin typeface="Arial"/>
            </a:endParaRPr>
          </a:p>
        </p:txBody>
      </p:sp>
      <p:sp>
        <p:nvSpPr>
          <p:cNvPr id="62" name=""/>
          <p:cNvSpPr txBox="1"/>
          <p:nvPr/>
        </p:nvSpPr>
        <p:spPr>
          <a:xfrm>
            <a:off x="658440" y="2816280"/>
            <a:ext cx="3237120" cy="451800"/>
          </a:xfrm>
          <a:prstGeom prst="rect">
            <a:avLst/>
          </a:prstGeom>
          <a:noFill/>
          <a:ln w="0">
            <a:noFill/>
          </a:ln>
        </p:spPr>
        <p:txBody>
          <a:bodyPr lIns="90000" tIns="45000" rIns="90000" bIns="45000" anchor="t">
            <a:spAutoFit/>
          </a:bodyPr>
          <a:p>
            <a:r>
              <a:rPr lang="en-US" sz="1100" b="0" u="none" strike="noStrike">
                <a:solidFill>
                  <a:srgbClr val="475265"/>
                </a:solidFill>
                <a:effectLst/>
                <a:uFillTx/>
                <a:latin typeface="Calibri"/>
                <a:ea typeface="Calibri"/>
              </a:rPr>
              <a:t>real patients</a:t>
            </a:r>
            <a:endParaRPr lang="en-US" sz="1100" b="0" u="none" strike="noStrike">
              <a:solidFill>
                <a:srgbClr val="000000"/>
              </a:solidFill>
              <a:effectLst/>
              <a:uFillTx/>
              <a:latin typeface="Arial"/>
            </a:endParaRPr>
          </a:p>
        </p:txBody>
      </p:sp>
      <p:sp>
        <p:nvSpPr>
          <p:cNvPr id="63" name=""/>
          <p:cNvSpPr/>
          <p:nvPr/>
        </p:nvSpPr>
        <p:spPr>
          <a:xfrm>
            <a:off x="4187880" y="2103120"/>
            <a:ext cx="3456720" cy="1189080"/>
          </a:xfrm>
          <a:custGeom>
            <a:avLst/>
            <a:gdLst/>
            <a:ahLst/>
            <a:rect l="0" t="0" r="r" b="b"/>
            <a:pathLst>
              <a:path w="9602" h="3303">
                <a:moveTo>
                  <a:pt x="9373" y="0"/>
                </a:moveTo>
                <a:cubicBezTo>
                  <a:pt x="9526" y="0"/>
                  <a:pt x="9602" y="76"/>
                  <a:pt x="9602" y="228"/>
                </a:cubicBezTo>
                <a:lnTo>
                  <a:pt x="9602" y="3075"/>
                </a:lnTo>
                <a:cubicBezTo>
                  <a:pt x="9602" y="3227"/>
                  <a:pt x="9526" y="3303"/>
                  <a:pt x="9373" y="3303"/>
                </a:cubicBezTo>
                <a:lnTo>
                  <a:pt x="228" y="3303"/>
                </a:lnTo>
                <a:cubicBezTo>
                  <a:pt x="76" y="3303"/>
                  <a:pt x="0" y="3227"/>
                  <a:pt x="0" y="3075"/>
                </a:cubicBezTo>
                <a:lnTo>
                  <a:pt x="0" y="228"/>
                </a:lnTo>
                <a:cubicBezTo>
                  <a:pt x="0" y="76"/>
                  <a:pt x="76" y="0"/>
                  <a:pt x="228" y="0"/>
                </a:cubicBezTo>
                <a:lnTo>
                  <a:pt x="9373" y="0"/>
                </a:lnTo>
                <a:close/>
              </a:path>
            </a:pathLst>
          </a:custGeom>
          <a:solidFill>
            <a:srgbClr val="F5F7FA"/>
          </a:solidFill>
          <a:ln w="12600">
            <a:solidFill>
              <a:srgbClr val="E2E7EF"/>
            </a:solidFill>
            <a:round/>
          </a:ln>
        </p:spPr>
        <p:txBody>
          <a:bodyPr lIns="96120" tIns="51120" rIns="96120" bIns="51120" anchor="t">
            <a:noAutofit/>
          </a:bodyPr>
          <a:p>
            <a:endParaRPr lang="en-US" sz="1800" b="0" u="none" strike="noStrike">
              <a:solidFill>
                <a:srgbClr val="000000"/>
              </a:solidFill>
              <a:effectLst/>
              <a:uFillTx/>
              <a:latin typeface="Arial"/>
            </a:endParaRPr>
          </a:p>
        </p:txBody>
      </p:sp>
      <p:sp>
        <p:nvSpPr>
          <p:cNvPr id="64" name=""/>
          <p:cNvSpPr txBox="1"/>
          <p:nvPr/>
        </p:nvSpPr>
        <p:spPr>
          <a:xfrm>
            <a:off x="4297680" y="2212920"/>
            <a:ext cx="3237120" cy="653760"/>
          </a:xfrm>
          <a:prstGeom prst="rect">
            <a:avLst/>
          </a:prstGeom>
          <a:noFill/>
          <a:ln w="0">
            <a:noFill/>
          </a:ln>
        </p:spPr>
        <p:txBody>
          <a:bodyPr lIns="90000" tIns="45000" rIns="90000" bIns="45000" anchor="t">
            <a:spAutoFit/>
          </a:bodyPr>
          <a:p>
            <a:r>
              <a:rPr lang="en-US" sz="3000" b="1" u="none" strike="noStrike">
                <a:solidFill>
                  <a:srgbClr val="1C375C"/>
                </a:solidFill>
                <a:effectLst/>
                <a:uFillTx/>
                <a:latin typeface="Cambria-Bold"/>
                <a:ea typeface="Cambria-Bold"/>
              </a:rPr>
              <a:t>7</a:t>
            </a:r>
            <a:endParaRPr lang="en-US" sz="3000" b="0" u="none" strike="noStrike">
              <a:solidFill>
                <a:srgbClr val="000000"/>
              </a:solidFill>
              <a:effectLst/>
              <a:uFillTx/>
              <a:latin typeface="Arial"/>
            </a:endParaRPr>
          </a:p>
        </p:txBody>
      </p:sp>
      <p:sp>
        <p:nvSpPr>
          <p:cNvPr id="65" name=""/>
          <p:cNvSpPr txBox="1"/>
          <p:nvPr/>
        </p:nvSpPr>
        <p:spPr>
          <a:xfrm>
            <a:off x="4297680" y="2816280"/>
            <a:ext cx="3237120" cy="451800"/>
          </a:xfrm>
          <a:prstGeom prst="rect">
            <a:avLst/>
          </a:prstGeom>
          <a:noFill/>
          <a:ln w="0">
            <a:noFill/>
          </a:ln>
        </p:spPr>
        <p:txBody>
          <a:bodyPr lIns="90000" tIns="45000" rIns="90000" bIns="45000" anchor="t">
            <a:spAutoFit/>
          </a:bodyPr>
          <a:p>
            <a:r>
              <a:rPr lang="en-US" sz="1100" b="0" u="none" strike="noStrike">
                <a:solidFill>
                  <a:srgbClr val="475265"/>
                </a:solidFill>
                <a:effectLst/>
                <a:uFillTx/>
                <a:latin typeface="Calibri"/>
                <a:ea typeface="Calibri"/>
              </a:rPr>
              <a:t>cancer types</a:t>
            </a:r>
            <a:endParaRPr lang="en-US" sz="1100" b="0" u="none" strike="noStrike">
              <a:solidFill>
                <a:srgbClr val="000000"/>
              </a:solidFill>
              <a:effectLst/>
              <a:uFillTx/>
              <a:latin typeface="Arial"/>
            </a:endParaRPr>
          </a:p>
        </p:txBody>
      </p:sp>
      <p:sp>
        <p:nvSpPr>
          <p:cNvPr id="66" name=""/>
          <p:cNvSpPr/>
          <p:nvPr/>
        </p:nvSpPr>
        <p:spPr>
          <a:xfrm>
            <a:off x="7827120" y="2103120"/>
            <a:ext cx="3456720" cy="1189080"/>
          </a:xfrm>
          <a:custGeom>
            <a:avLst/>
            <a:gdLst/>
            <a:ahLst/>
            <a:rect l="0" t="0" r="r" b="b"/>
            <a:pathLst>
              <a:path w="9602" h="3303">
                <a:moveTo>
                  <a:pt x="9373" y="0"/>
                </a:moveTo>
                <a:cubicBezTo>
                  <a:pt x="9526" y="0"/>
                  <a:pt x="9602" y="76"/>
                  <a:pt x="9602" y="228"/>
                </a:cubicBezTo>
                <a:lnTo>
                  <a:pt x="9602" y="3075"/>
                </a:lnTo>
                <a:cubicBezTo>
                  <a:pt x="9602" y="3227"/>
                  <a:pt x="9526" y="3303"/>
                  <a:pt x="9373" y="3303"/>
                </a:cubicBezTo>
                <a:lnTo>
                  <a:pt x="228" y="3303"/>
                </a:lnTo>
                <a:cubicBezTo>
                  <a:pt x="76" y="3303"/>
                  <a:pt x="0" y="3227"/>
                  <a:pt x="0" y="3075"/>
                </a:cubicBezTo>
                <a:lnTo>
                  <a:pt x="0" y="228"/>
                </a:lnTo>
                <a:cubicBezTo>
                  <a:pt x="0" y="76"/>
                  <a:pt x="76" y="0"/>
                  <a:pt x="228" y="0"/>
                </a:cubicBezTo>
                <a:lnTo>
                  <a:pt x="9373" y="0"/>
                </a:lnTo>
                <a:close/>
              </a:path>
            </a:pathLst>
          </a:custGeom>
          <a:solidFill>
            <a:srgbClr val="F5F7FA"/>
          </a:solidFill>
          <a:ln w="12600">
            <a:solidFill>
              <a:srgbClr val="E2E7EF"/>
            </a:solidFill>
            <a:round/>
          </a:ln>
        </p:spPr>
        <p:txBody>
          <a:bodyPr lIns="96120" tIns="51120" rIns="96120" bIns="51120" anchor="t">
            <a:noAutofit/>
          </a:bodyPr>
          <a:p>
            <a:endParaRPr lang="en-US" sz="1800" b="0" u="none" strike="noStrike">
              <a:solidFill>
                <a:srgbClr val="000000"/>
              </a:solidFill>
              <a:effectLst/>
              <a:uFillTx/>
              <a:latin typeface="Arial"/>
            </a:endParaRPr>
          </a:p>
        </p:txBody>
      </p:sp>
      <p:sp>
        <p:nvSpPr>
          <p:cNvPr id="67" name=""/>
          <p:cNvSpPr txBox="1"/>
          <p:nvPr/>
        </p:nvSpPr>
        <p:spPr>
          <a:xfrm>
            <a:off x="7936920" y="2212920"/>
            <a:ext cx="3237120" cy="653760"/>
          </a:xfrm>
          <a:prstGeom prst="rect">
            <a:avLst/>
          </a:prstGeom>
          <a:noFill/>
          <a:ln w="0">
            <a:noFill/>
          </a:ln>
        </p:spPr>
        <p:txBody>
          <a:bodyPr lIns="90000" tIns="45000" rIns="90000" bIns="45000" anchor="t">
            <a:spAutoFit/>
          </a:bodyPr>
          <a:p>
            <a:r>
              <a:rPr lang="en-US" sz="3000" b="1" u="none" strike="noStrike">
                <a:solidFill>
                  <a:srgbClr val="1C375C"/>
                </a:solidFill>
                <a:effectLst/>
                <a:uFillTx/>
                <a:latin typeface="Cambria-Bold"/>
                <a:ea typeface="Cambria-Bold"/>
              </a:rPr>
              <a:t>45,706</a:t>
            </a:r>
            <a:endParaRPr lang="en-US" sz="3000" b="0" u="none" strike="noStrike">
              <a:solidFill>
                <a:srgbClr val="000000"/>
              </a:solidFill>
              <a:effectLst/>
              <a:uFillTx/>
              <a:latin typeface="Arial"/>
            </a:endParaRPr>
          </a:p>
        </p:txBody>
      </p:sp>
      <p:sp>
        <p:nvSpPr>
          <p:cNvPr id="68" name=""/>
          <p:cNvSpPr txBox="1"/>
          <p:nvPr/>
        </p:nvSpPr>
        <p:spPr>
          <a:xfrm>
            <a:off x="7936920" y="2816280"/>
            <a:ext cx="3237120" cy="451800"/>
          </a:xfrm>
          <a:prstGeom prst="rect">
            <a:avLst/>
          </a:prstGeom>
          <a:noFill/>
          <a:ln w="0">
            <a:noFill/>
          </a:ln>
        </p:spPr>
        <p:txBody>
          <a:bodyPr lIns="90000" tIns="45000" rIns="90000" bIns="45000" anchor="t">
            <a:spAutoFit/>
          </a:bodyPr>
          <a:p>
            <a:r>
              <a:rPr lang="en-US" sz="1100" b="0" u="none" strike="noStrike">
                <a:solidFill>
                  <a:srgbClr val="475265"/>
                </a:solidFill>
                <a:effectLst/>
                <a:uFillTx/>
                <a:latin typeface="Calibri"/>
                <a:ea typeface="Calibri"/>
              </a:rPr>
              <a:t>training variants</a:t>
            </a:r>
            <a:endParaRPr lang="en-US" sz="1100" b="0" u="none" strike="noStrike">
              <a:solidFill>
                <a:srgbClr val="000000"/>
              </a:solidFill>
              <a:effectLst/>
              <a:uFillTx/>
              <a:latin typeface="Arial"/>
            </a:endParaRPr>
          </a:p>
        </p:txBody>
      </p:sp>
      <p:sp>
        <p:nvSpPr>
          <p:cNvPr id="69" name=""/>
          <p:cNvSpPr/>
          <p:nvPr/>
        </p:nvSpPr>
        <p:spPr>
          <a:xfrm>
            <a:off x="548640" y="3520440"/>
            <a:ext cx="3456720" cy="1189080"/>
          </a:xfrm>
          <a:custGeom>
            <a:avLst/>
            <a:gdLst/>
            <a:ahLst/>
            <a:rect l="0" t="0" r="r" b="b"/>
            <a:pathLst>
              <a:path w="9602" h="3303">
                <a:moveTo>
                  <a:pt x="9373" y="0"/>
                </a:moveTo>
                <a:cubicBezTo>
                  <a:pt x="9526" y="0"/>
                  <a:pt x="9602" y="76"/>
                  <a:pt x="9602" y="228"/>
                </a:cubicBezTo>
                <a:lnTo>
                  <a:pt x="9602" y="3075"/>
                </a:lnTo>
                <a:cubicBezTo>
                  <a:pt x="9602" y="3227"/>
                  <a:pt x="9526" y="3303"/>
                  <a:pt x="9373" y="3303"/>
                </a:cubicBezTo>
                <a:lnTo>
                  <a:pt x="228" y="3303"/>
                </a:lnTo>
                <a:cubicBezTo>
                  <a:pt x="76" y="3303"/>
                  <a:pt x="0" y="3227"/>
                  <a:pt x="0" y="3075"/>
                </a:cubicBezTo>
                <a:lnTo>
                  <a:pt x="0" y="228"/>
                </a:lnTo>
                <a:cubicBezTo>
                  <a:pt x="0" y="76"/>
                  <a:pt x="76" y="0"/>
                  <a:pt x="228" y="0"/>
                </a:cubicBezTo>
                <a:lnTo>
                  <a:pt x="9373" y="0"/>
                </a:lnTo>
                <a:close/>
              </a:path>
            </a:pathLst>
          </a:custGeom>
          <a:solidFill>
            <a:srgbClr val="F5F7FA"/>
          </a:solidFill>
          <a:ln w="12600">
            <a:solidFill>
              <a:srgbClr val="E2E7EF"/>
            </a:solidFill>
            <a:round/>
          </a:ln>
        </p:spPr>
        <p:txBody>
          <a:bodyPr lIns="96120" tIns="51120" rIns="96120" bIns="51120" anchor="t">
            <a:noAutofit/>
          </a:bodyPr>
          <a:p>
            <a:endParaRPr lang="en-US" sz="1800" b="0" u="none" strike="noStrike">
              <a:solidFill>
                <a:srgbClr val="000000"/>
              </a:solidFill>
              <a:effectLst/>
              <a:uFillTx/>
              <a:latin typeface="Arial"/>
            </a:endParaRPr>
          </a:p>
        </p:txBody>
      </p:sp>
      <p:sp>
        <p:nvSpPr>
          <p:cNvPr id="70" name=""/>
          <p:cNvSpPr txBox="1"/>
          <p:nvPr/>
        </p:nvSpPr>
        <p:spPr>
          <a:xfrm>
            <a:off x="658440" y="3630240"/>
            <a:ext cx="3237120" cy="653760"/>
          </a:xfrm>
          <a:prstGeom prst="rect">
            <a:avLst/>
          </a:prstGeom>
          <a:noFill/>
          <a:ln w="0">
            <a:noFill/>
          </a:ln>
        </p:spPr>
        <p:txBody>
          <a:bodyPr lIns="90000" tIns="45000" rIns="90000" bIns="45000" anchor="t">
            <a:spAutoFit/>
          </a:bodyPr>
          <a:p>
            <a:r>
              <a:rPr lang="en-US" sz="3000" b="1" u="none" strike="noStrike">
                <a:solidFill>
                  <a:srgbClr val="1C375C"/>
                </a:solidFill>
                <a:effectLst/>
                <a:uFillTx/>
                <a:latin typeface="Cambria-Bold"/>
                <a:ea typeface="Cambria-Bold"/>
              </a:rPr>
              <a:t>34,853</a:t>
            </a:r>
            <a:endParaRPr lang="en-US" sz="3000" b="0" u="none" strike="noStrike">
              <a:solidFill>
                <a:srgbClr val="000000"/>
              </a:solidFill>
              <a:effectLst/>
              <a:uFillTx/>
              <a:latin typeface="Arial"/>
            </a:endParaRPr>
          </a:p>
        </p:txBody>
      </p:sp>
      <p:sp>
        <p:nvSpPr>
          <p:cNvPr id="71" name=""/>
          <p:cNvSpPr txBox="1"/>
          <p:nvPr/>
        </p:nvSpPr>
        <p:spPr>
          <a:xfrm>
            <a:off x="658440" y="4233600"/>
            <a:ext cx="3237120" cy="451800"/>
          </a:xfrm>
          <a:prstGeom prst="rect">
            <a:avLst/>
          </a:prstGeom>
          <a:noFill/>
          <a:ln w="0">
            <a:noFill/>
          </a:ln>
        </p:spPr>
        <p:txBody>
          <a:bodyPr lIns="90000" tIns="45000" rIns="90000" bIns="45000" anchor="t">
            <a:spAutoFit/>
          </a:bodyPr>
          <a:p>
            <a:r>
              <a:rPr lang="en-US" sz="1100" b="0" u="none" strike="noStrike">
                <a:solidFill>
                  <a:srgbClr val="475265"/>
                </a:solidFill>
                <a:effectLst/>
                <a:uFillTx/>
                <a:latin typeface="Calibri"/>
                <a:ea typeface="Calibri"/>
              </a:rPr>
              <a:t>somatic calls</a:t>
            </a:r>
            <a:endParaRPr lang="en-US" sz="1100" b="0" u="none" strike="noStrike">
              <a:solidFill>
                <a:srgbClr val="000000"/>
              </a:solidFill>
              <a:effectLst/>
              <a:uFillTx/>
              <a:latin typeface="Arial"/>
            </a:endParaRPr>
          </a:p>
        </p:txBody>
      </p:sp>
      <p:sp>
        <p:nvSpPr>
          <p:cNvPr id="72" name=""/>
          <p:cNvSpPr/>
          <p:nvPr/>
        </p:nvSpPr>
        <p:spPr>
          <a:xfrm>
            <a:off x="4187880" y="3520440"/>
            <a:ext cx="3456720" cy="1189080"/>
          </a:xfrm>
          <a:custGeom>
            <a:avLst/>
            <a:gdLst/>
            <a:ahLst/>
            <a:rect l="0" t="0" r="r" b="b"/>
            <a:pathLst>
              <a:path w="9602" h="3303">
                <a:moveTo>
                  <a:pt x="9373" y="0"/>
                </a:moveTo>
                <a:cubicBezTo>
                  <a:pt x="9526" y="0"/>
                  <a:pt x="9602" y="76"/>
                  <a:pt x="9602" y="228"/>
                </a:cubicBezTo>
                <a:lnTo>
                  <a:pt x="9602" y="3075"/>
                </a:lnTo>
                <a:cubicBezTo>
                  <a:pt x="9602" y="3227"/>
                  <a:pt x="9526" y="3303"/>
                  <a:pt x="9373" y="3303"/>
                </a:cubicBezTo>
                <a:lnTo>
                  <a:pt x="228" y="3303"/>
                </a:lnTo>
                <a:cubicBezTo>
                  <a:pt x="76" y="3303"/>
                  <a:pt x="0" y="3227"/>
                  <a:pt x="0" y="3075"/>
                </a:cubicBezTo>
                <a:lnTo>
                  <a:pt x="0" y="228"/>
                </a:lnTo>
                <a:cubicBezTo>
                  <a:pt x="0" y="76"/>
                  <a:pt x="76" y="0"/>
                  <a:pt x="228" y="0"/>
                </a:cubicBezTo>
                <a:lnTo>
                  <a:pt x="9373" y="0"/>
                </a:lnTo>
                <a:close/>
              </a:path>
            </a:pathLst>
          </a:custGeom>
          <a:solidFill>
            <a:srgbClr val="F5F7FA"/>
          </a:solidFill>
          <a:ln w="12600">
            <a:solidFill>
              <a:srgbClr val="E2E7EF"/>
            </a:solidFill>
            <a:round/>
          </a:ln>
        </p:spPr>
        <p:txBody>
          <a:bodyPr lIns="96120" tIns="51120" rIns="96120" bIns="51120" anchor="t">
            <a:noAutofit/>
          </a:bodyPr>
          <a:p>
            <a:endParaRPr lang="en-US" sz="1800" b="0" u="none" strike="noStrike">
              <a:solidFill>
                <a:srgbClr val="000000"/>
              </a:solidFill>
              <a:effectLst/>
              <a:uFillTx/>
              <a:latin typeface="Arial"/>
            </a:endParaRPr>
          </a:p>
        </p:txBody>
      </p:sp>
      <p:sp>
        <p:nvSpPr>
          <p:cNvPr id="73" name=""/>
          <p:cNvSpPr txBox="1"/>
          <p:nvPr/>
        </p:nvSpPr>
        <p:spPr>
          <a:xfrm>
            <a:off x="4297680" y="3630240"/>
            <a:ext cx="3237120" cy="653760"/>
          </a:xfrm>
          <a:prstGeom prst="rect">
            <a:avLst/>
          </a:prstGeom>
          <a:noFill/>
          <a:ln w="0">
            <a:noFill/>
          </a:ln>
        </p:spPr>
        <p:txBody>
          <a:bodyPr lIns="90000" tIns="45000" rIns="90000" bIns="45000" anchor="t">
            <a:spAutoFit/>
          </a:bodyPr>
          <a:p>
            <a:r>
              <a:rPr lang="en-US" sz="3000" b="1" u="none" strike="noStrike">
                <a:solidFill>
                  <a:srgbClr val="1C375C"/>
                </a:solidFill>
                <a:effectLst/>
                <a:uFillTx/>
                <a:latin typeface="Cambria-Bold"/>
                <a:ea typeface="Cambria-Bold"/>
              </a:rPr>
              <a:t>10,853</a:t>
            </a:r>
            <a:endParaRPr lang="en-US" sz="3000" b="0" u="none" strike="noStrike">
              <a:solidFill>
                <a:srgbClr val="000000"/>
              </a:solidFill>
              <a:effectLst/>
              <a:uFillTx/>
              <a:latin typeface="Arial"/>
            </a:endParaRPr>
          </a:p>
        </p:txBody>
      </p:sp>
      <p:sp>
        <p:nvSpPr>
          <p:cNvPr id="74" name=""/>
          <p:cNvSpPr txBox="1"/>
          <p:nvPr/>
        </p:nvSpPr>
        <p:spPr>
          <a:xfrm>
            <a:off x="4297680" y="4233600"/>
            <a:ext cx="3237120" cy="451800"/>
          </a:xfrm>
          <a:prstGeom prst="rect">
            <a:avLst/>
          </a:prstGeom>
          <a:noFill/>
          <a:ln w="0">
            <a:noFill/>
          </a:ln>
        </p:spPr>
        <p:txBody>
          <a:bodyPr lIns="90000" tIns="45000" rIns="90000" bIns="45000" anchor="t">
            <a:spAutoFit/>
          </a:bodyPr>
          <a:p>
            <a:r>
              <a:rPr lang="en-US" sz="1100" b="0" u="none" strike="noStrike">
                <a:solidFill>
                  <a:srgbClr val="475265"/>
                </a:solidFill>
                <a:effectLst/>
                <a:uFillTx/>
                <a:latin typeface="Calibri"/>
                <a:ea typeface="Calibri"/>
              </a:rPr>
              <a:t>germline calls</a:t>
            </a:r>
            <a:endParaRPr lang="en-US" sz="1100" b="0" u="none" strike="noStrike">
              <a:solidFill>
                <a:srgbClr val="000000"/>
              </a:solidFill>
              <a:effectLst/>
              <a:uFillTx/>
              <a:latin typeface="Arial"/>
            </a:endParaRPr>
          </a:p>
        </p:txBody>
      </p:sp>
      <p:sp>
        <p:nvSpPr>
          <p:cNvPr id="75" name=""/>
          <p:cNvSpPr/>
          <p:nvPr/>
        </p:nvSpPr>
        <p:spPr>
          <a:xfrm>
            <a:off x="7827120" y="3520440"/>
            <a:ext cx="3456720" cy="1189080"/>
          </a:xfrm>
          <a:custGeom>
            <a:avLst/>
            <a:gdLst/>
            <a:ahLst/>
            <a:rect l="0" t="0" r="r" b="b"/>
            <a:pathLst>
              <a:path w="9602" h="3303">
                <a:moveTo>
                  <a:pt x="9373" y="0"/>
                </a:moveTo>
                <a:cubicBezTo>
                  <a:pt x="9526" y="0"/>
                  <a:pt x="9602" y="76"/>
                  <a:pt x="9602" y="228"/>
                </a:cubicBezTo>
                <a:lnTo>
                  <a:pt x="9602" y="3075"/>
                </a:lnTo>
                <a:cubicBezTo>
                  <a:pt x="9602" y="3227"/>
                  <a:pt x="9526" y="3303"/>
                  <a:pt x="9373" y="3303"/>
                </a:cubicBezTo>
                <a:lnTo>
                  <a:pt x="228" y="3303"/>
                </a:lnTo>
                <a:cubicBezTo>
                  <a:pt x="76" y="3303"/>
                  <a:pt x="0" y="3227"/>
                  <a:pt x="0" y="3075"/>
                </a:cubicBezTo>
                <a:lnTo>
                  <a:pt x="0" y="228"/>
                </a:lnTo>
                <a:cubicBezTo>
                  <a:pt x="0" y="76"/>
                  <a:pt x="76" y="0"/>
                  <a:pt x="228" y="0"/>
                </a:cubicBezTo>
                <a:lnTo>
                  <a:pt x="9373" y="0"/>
                </a:lnTo>
                <a:close/>
              </a:path>
            </a:pathLst>
          </a:custGeom>
          <a:solidFill>
            <a:srgbClr val="F5F7FA"/>
          </a:solidFill>
          <a:ln w="12600">
            <a:solidFill>
              <a:srgbClr val="E2E7EF"/>
            </a:solidFill>
            <a:round/>
          </a:ln>
        </p:spPr>
        <p:txBody>
          <a:bodyPr lIns="96120" tIns="51120" rIns="96120" bIns="51120" anchor="t">
            <a:noAutofit/>
          </a:bodyPr>
          <a:p>
            <a:endParaRPr lang="en-US" sz="1800" b="0" u="none" strike="noStrike">
              <a:solidFill>
                <a:srgbClr val="000000"/>
              </a:solidFill>
              <a:effectLst/>
              <a:uFillTx/>
              <a:latin typeface="Arial"/>
            </a:endParaRPr>
          </a:p>
        </p:txBody>
      </p:sp>
      <p:sp>
        <p:nvSpPr>
          <p:cNvPr id="76" name=""/>
          <p:cNvSpPr txBox="1"/>
          <p:nvPr/>
        </p:nvSpPr>
        <p:spPr>
          <a:xfrm>
            <a:off x="7936920" y="3630240"/>
            <a:ext cx="3237120" cy="653760"/>
          </a:xfrm>
          <a:prstGeom prst="rect">
            <a:avLst/>
          </a:prstGeom>
          <a:noFill/>
          <a:ln w="0">
            <a:noFill/>
          </a:ln>
        </p:spPr>
        <p:txBody>
          <a:bodyPr lIns="90000" tIns="45000" rIns="90000" bIns="45000" anchor="t">
            <a:spAutoFit/>
          </a:bodyPr>
          <a:p>
            <a:r>
              <a:rPr lang="en-US" sz="3000" b="1" u="none" strike="noStrike">
                <a:solidFill>
                  <a:srgbClr val="1C375C"/>
                </a:solidFill>
                <a:effectLst/>
                <a:uFillTx/>
                <a:latin typeface="Cambria-Bold"/>
                <a:ea typeface="Cambria-Bold"/>
              </a:rPr>
              <a:t>212,782</a:t>
            </a:r>
            <a:endParaRPr lang="en-US" sz="3000" b="0" u="none" strike="noStrike">
              <a:solidFill>
                <a:srgbClr val="000000"/>
              </a:solidFill>
              <a:effectLst/>
              <a:uFillTx/>
              <a:latin typeface="Arial"/>
            </a:endParaRPr>
          </a:p>
        </p:txBody>
      </p:sp>
      <p:sp>
        <p:nvSpPr>
          <p:cNvPr id="77" name=""/>
          <p:cNvSpPr txBox="1"/>
          <p:nvPr/>
        </p:nvSpPr>
        <p:spPr>
          <a:xfrm>
            <a:off x="7936920" y="4233600"/>
            <a:ext cx="3237120" cy="451800"/>
          </a:xfrm>
          <a:prstGeom prst="rect">
            <a:avLst/>
          </a:prstGeom>
          <a:noFill/>
          <a:ln w="0">
            <a:noFill/>
          </a:ln>
        </p:spPr>
        <p:txBody>
          <a:bodyPr lIns="90000" tIns="45000" rIns="90000" bIns="45000" anchor="t">
            <a:spAutoFit/>
          </a:bodyPr>
          <a:p>
            <a:r>
              <a:rPr lang="en-US" sz="1100" b="0" u="none" strike="noStrike">
                <a:solidFill>
                  <a:srgbClr val="475265"/>
                </a:solidFill>
                <a:effectLst/>
                <a:uFillTx/>
                <a:latin typeface="Calibri"/>
                <a:ea typeface="Calibri"/>
              </a:rPr>
              <a:t>VUS tracked in ClinVar</a:t>
            </a:r>
            <a:r>
              <a:rPr lang="en-US" sz="1100" b="0" u="none" strike="noStrike">
                <a:solidFill>
                  <a:srgbClr val="475265"/>
                </a:solidFill>
                <a:effectLst/>
                <a:uFillTx/>
                <a:latin typeface="Calibri"/>
                <a:ea typeface="Calibri"/>
              </a:rPr>
              <a:t>(for Stage II)</a:t>
            </a:r>
            <a:endParaRPr lang="en-US" sz="1100" b="0" u="none" strike="noStrike">
              <a:solidFill>
                <a:srgbClr val="000000"/>
              </a:solidFill>
              <a:effectLst/>
              <a:uFillTx/>
              <a:latin typeface="Arial"/>
            </a:endParaRPr>
          </a:p>
        </p:txBody>
      </p:sp>
      <p:sp>
        <p:nvSpPr>
          <p:cNvPr id="78" name=""/>
          <p:cNvSpPr txBox="1"/>
          <p:nvPr/>
        </p:nvSpPr>
        <p:spPr>
          <a:xfrm>
            <a:off x="11368840" y="6446520"/>
            <a:ext cx="500000" cy="300000"/>
          </a:xfrm>
          <a:prstGeom prst="rect">
            <a:avLst/>
          </a:prstGeom>
          <a:noFill/>
          <a:ln w="0">
            <a:noFill/>
          </a:ln>
        </p:spPr>
        <p:txBody>
          <a:bodyPr lIns="90000" tIns="45000" rIns="90000" bIns="45000" anchor="t">
            <a:spAutoFit/>
          </a:bodyPr>
          <a:p>
            <a:pPr algn="r"/>
            <a:r>
              <a:rPr lang="en-US" sz="1000" b="0" u="none" strike="noStrike">
                <a:solidFill>
                  <a:srgbClr val="8D99AE"/>
                </a:solidFill>
                <a:effectLst/>
                <a:uFillTx/>
                <a:latin typeface="Calibri"/>
                <a:ea typeface="Calibri"/>
              </a:rPr>
              <a:t>4</a:t>
            </a:r>
            <a:endParaRPr lang="en-US"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9" name=""/>
          <p:cNvSpPr txBox="1"/>
          <p:nvPr/>
        </p:nvSpPr>
        <p:spPr>
          <a:xfrm>
            <a:off x="548640" y="384120"/>
            <a:ext cx="7315200" cy="292680"/>
          </a:xfrm>
          <a:prstGeom prst="rect">
            <a:avLst/>
          </a:prstGeom>
          <a:noFill/>
          <a:ln w="0">
            <a:noFill/>
          </a:ln>
        </p:spPr>
        <p:txBody>
          <a:bodyPr lIns="90000" tIns="45000" rIns="90000" bIns="45000" anchor="t">
            <a:spAutoFit/>
          </a:bodyPr>
          <a:p>
            <a:r>
              <a:rPr lang="en-US" sz="1200" b="1" u="none" spc="201" strike="noStrike">
                <a:solidFill>
                  <a:srgbClr val="E76C4E"/>
                </a:solidFill>
                <a:effectLst/>
                <a:uFillTx/>
                <a:latin typeface="Calibri-Bold"/>
                <a:ea typeface="Calibri-Bold"/>
              </a:rPr>
              <a:t>THE DATA</a:t>
            </a:r>
            <a:endParaRPr lang="en-US" sz="1200" b="0" u="none" strike="noStrike">
              <a:solidFill>
                <a:srgbClr val="000000"/>
              </a:solidFill>
              <a:effectLst/>
              <a:uFillTx/>
              <a:latin typeface="Arial"/>
            </a:endParaRPr>
          </a:p>
        </p:txBody>
      </p:sp>
      <p:sp>
        <p:nvSpPr>
          <p:cNvPr id="80" name=""/>
          <p:cNvSpPr txBox="1"/>
          <p:nvPr/>
        </p:nvSpPr>
        <p:spPr>
          <a:xfrm>
            <a:off x="548640" y="658440"/>
            <a:ext cx="10789920" cy="777240"/>
          </a:xfrm>
          <a:prstGeom prst="rect">
            <a:avLst/>
          </a:prstGeom>
          <a:noFill/>
          <a:ln w="0">
            <a:noFill/>
          </a:ln>
        </p:spPr>
        <p:txBody>
          <a:bodyPr lIns="90000" tIns="45000" rIns="90000" bIns="45000" anchor="t">
            <a:spAutoFit/>
          </a:bodyPr>
          <a:p>
            <a:r>
              <a:rPr lang="en-US" sz="3000" b="1" u="none" strike="noStrike">
                <a:solidFill>
                  <a:srgbClr val="1F242E"/>
                </a:solidFill>
                <a:effectLst/>
                <a:uFillTx/>
                <a:latin typeface="Cambria-Bold"/>
                <a:ea typeface="Cambria-Bold"/>
              </a:rPr>
              <a:t>Somatic Variant Load, By Cancer Type</a:t>
            </a:r>
            <a:endParaRPr lang="en-US" sz="3000" b="0" u="none" strike="noStrike">
              <a:solidFill>
                <a:srgbClr val="000000"/>
              </a:solidFill>
              <a:effectLst/>
              <a:uFillTx/>
              <a:latin typeface="Arial"/>
            </a:endParaRPr>
          </a:p>
        </p:txBody>
      </p:sp>
      <p:pic>
        <p:nvPicPr>
          <p:cNvPr id="81" name=""/>
          <p:cNvPicPr/>
          <p:nvPr/>
        </p:nvPicPr>
        <p:blipFill>
          <a:blip r:embed="rId1"/>
          <a:stretch/>
        </p:blipFill>
        <p:spPr>
          <a:xfrm>
            <a:off x="2087704" y="1463040"/>
            <a:ext cx="7986111" cy="3750000"/>
          </a:xfrm>
          <a:prstGeom prst="rect">
            <a:avLst/>
          </a:prstGeom>
          <a:noFill/>
          <a:ln w="0">
            <a:noFill/>
          </a:ln>
        </p:spPr>
      </p:pic>
      <p:sp>
        <p:nvSpPr>
          <p:cNvPr id="82" name=""/>
          <p:cNvSpPr txBox="1"/>
          <p:nvPr/>
        </p:nvSpPr>
        <p:spPr>
          <a:xfrm>
            <a:off x="11368840" y="6446520"/>
            <a:ext cx="500000" cy="300000"/>
          </a:xfrm>
          <a:prstGeom prst="rect">
            <a:avLst/>
          </a:prstGeom>
          <a:noFill/>
          <a:ln w="0">
            <a:noFill/>
          </a:ln>
        </p:spPr>
        <p:txBody>
          <a:bodyPr lIns="90000" tIns="45000" rIns="90000" bIns="45000" anchor="t">
            <a:spAutoFit/>
          </a:bodyPr>
          <a:p>
            <a:pPr algn="r"/>
            <a:r>
              <a:rPr lang="en-US" sz="1000" b="0" u="none" strike="noStrike">
                <a:solidFill>
                  <a:srgbClr val="8D99AE"/>
                </a:solidFill>
                <a:effectLst/>
                <a:uFillTx/>
                <a:latin typeface="Calibri"/>
                <a:ea typeface="Calibri"/>
              </a:rPr>
              <a:t>5</a:t>
            </a:r>
            <a:endParaRPr lang="en-US" sz="1000" b="0" u="none" strike="noStrike">
              <a:solidFill>
                <a:srgbClr val="000000"/>
              </a:solidFill>
              <a:effectLst/>
              <a:uFillTx/>
              <a:latin typeface="Arial"/>
            </a:endParaRPr>
          </a:p>
        </p:txBody>
      </p:sp>
      <p:sp>
        <p:nvSpPr>
          <p:cNvPr id="83" name="TextBox 82"/>
          <p:cNvSpPr txBox="1"/>
          <p:nvPr/>
        </p:nvSpPr>
        <p:spPr>
          <a:xfrm>
            <a:off x="822960" y="5333040"/>
            <a:ext cx="10515600" cy="950000"/>
          </a:xfrm>
          <a:prstGeom prst="rect">
            <a:avLst/>
          </a:prstGeom>
          <a:noFill/>
        </p:spPr>
        <p:txBody>
          <a:bodyPr wrap="square">
            <a:spAutoFit/>
          </a:bodyPr>
          <a:lstStyle/>
          <a:p>
            <a:r>
              <a:rPr sz="1100" i="0">
                <a:solidFill>
                  <a:srgbClr val="485366"/>
                </a:solidFill>
                <a:latin typeface="Calibri"/>
              </a:rPr>
              <a:t>SKCM carries by far the heaviest somatic load of any cohort here, and that is a real, expected biological signal rather than a data quality problem: melanoma has one of the highest tumor mutational burdens of any common cancer because UV radiation drives a distinctive, high-volume mutational signature. This is exactly why Stage 1's training set spans seven cancer types instead of one, since a model trained only on a low-burden cohort like PRAD would badly underestimate variant counts elsewhere. The gap between SKCM and PRAD here (roughly 20x) sets the real scale this project's features had to generalize across.</a:t>
            </a: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3" name=""/>
          <p:cNvSpPr txBox="1"/>
          <p:nvPr/>
        </p:nvSpPr>
        <p:spPr>
          <a:xfrm>
            <a:off x="548640" y="384120"/>
            <a:ext cx="7315200" cy="292680"/>
          </a:xfrm>
          <a:prstGeom prst="rect">
            <a:avLst/>
          </a:prstGeom>
          <a:noFill/>
          <a:ln w="0">
            <a:noFill/>
          </a:ln>
        </p:spPr>
        <p:txBody>
          <a:bodyPr lIns="90000" tIns="45000" rIns="90000" bIns="45000" anchor="t">
            <a:spAutoFit/>
          </a:bodyPr>
          <a:p>
            <a:r>
              <a:rPr lang="en-US" sz="1200" b="1" u="none" spc="201" strike="noStrike">
                <a:solidFill>
                  <a:srgbClr val="E76C4E"/>
                </a:solidFill>
                <a:effectLst/>
                <a:uFillTx/>
                <a:latin typeface="Calibri-Bold"/>
                <a:ea typeface="Calibri-Bold"/>
              </a:rPr>
              <a:t>THE DATA</a:t>
            </a:r>
            <a:endParaRPr lang="en-US" sz="1200" b="0" u="none" strike="noStrike">
              <a:solidFill>
                <a:srgbClr val="000000"/>
              </a:solidFill>
              <a:effectLst/>
              <a:uFillTx/>
              <a:latin typeface="Arial"/>
            </a:endParaRPr>
          </a:p>
        </p:txBody>
      </p:sp>
      <p:sp>
        <p:nvSpPr>
          <p:cNvPr id="84" name=""/>
          <p:cNvSpPr txBox="1"/>
          <p:nvPr/>
        </p:nvSpPr>
        <p:spPr>
          <a:xfrm>
            <a:off x="548640" y="658440"/>
            <a:ext cx="10789920" cy="777240"/>
          </a:xfrm>
          <a:prstGeom prst="rect">
            <a:avLst/>
          </a:prstGeom>
          <a:noFill/>
          <a:ln w="0">
            <a:noFill/>
          </a:ln>
        </p:spPr>
        <p:txBody>
          <a:bodyPr lIns="90000" tIns="45000" rIns="90000" bIns="45000" anchor="t">
            <a:spAutoFit/>
          </a:bodyPr>
          <a:p>
            <a:r>
              <a:rPr lang="en-US" sz="3000" b="1" u="none" strike="noStrike">
                <a:solidFill>
                  <a:srgbClr val="1F242E"/>
                </a:solidFill>
                <a:effectLst/>
                <a:uFillTx/>
                <a:latin typeface="Cambria-Bold"/>
                <a:ea typeface="Cambria-Bold"/>
              </a:rPr>
              <a:t>Mutation Burden Varies Sharply By Tumor Type</a:t>
            </a:r>
            <a:endParaRPr lang="en-US" sz="3000" b="0" u="none" strike="noStrike">
              <a:solidFill>
                <a:srgbClr val="000000"/>
              </a:solidFill>
              <a:effectLst/>
              <a:uFillTx/>
              <a:latin typeface="Arial"/>
            </a:endParaRPr>
          </a:p>
        </p:txBody>
      </p:sp>
      <p:pic>
        <p:nvPicPr>
          <p:cNvPr id="85" name=""/>
          <p:cNvPicPr/>
          <p:nvPr/>
        </p:nvPicPr>
        <p:blipFill>
          <a:blip r:embed="rId1"/>
          <a:stretch/>
        </p:blipFill>
        <p:spPr>
          <a:xfrm>
            <a:off x="2087704" y="1417320"/>
            <a:ext cx="7986111" cy="3750000"/>
          </a:xfrm>
          <a:prstGeom prst="rect">
            <a:avLst/>
          </a:prstGeom>
          <a:noFill/>
          <a:ln w="0">
            <a:noFill/>
          </a:ln>
        </p:spPr>
      </p:pic>
      <p:sp>
        <p:nvSpPr>
          <p:cNvPr id="86" name=""/>
          <p:cNvSpPr txBox="1"/>
          <p:nvPr/>
        </p:nvSpPr>
        <p:spPr>
          <a:xfrm>
            <a:off x="11368840" y="6446520"/>
            <a:ext cx="500000" cy="300000"/>
          </a:xfrm>
          <a:prstGeom prst="rect">
            <a:avLst/>
          </a:prstGeom>
          <a:noFill/>
          <a:ln w="0">
            <a:noFill/>
          </a:ln>
        </p:spPr>
        <p:txBody>
          <a:bodyPr lIns="90000" tIns="45000" rIns="90000" bIns="45000" anchor="t">
            <a:spAutoFit/>
          </a:bodyPr>
          <a:p>
            <a:pPr algn="r"/>
            <a:r>
              <a:rPr lang="en-US" sz="1000" b="0" u="none" strike="noStrike">
                <a:solidFill>
                  <a:srgbClr val="8D99AE"/>
                </a:solidFill>
                <a:effectLst/>
                <a:uFillTx/>
                <a:latin typeface="Calibri"/>
                <a:ea typeface="Calibri"/>
              </a:rPr>
              <a:t>6</a:t>
            </a:r>
            <a:endParaRPr lang="en-US" sz="1000" b="0" u="none" strike="noStrike">
              <a:solidFill>
                <a:srgbClr val="000000"/>
              </a:solidFill>
              <a:effectLst/>
              <a:uFillTx/>
              <a:latin typeface="Arial"/>
            </a:endParaRPr>
          </a:p>
        </p:txBody>
      </p:sp>
      <p:sp>
        <p:nvSpPr>
          <p:cNvPr id="87" name="TextBox 86"/>
          <p:cNvSpPr txBox="1"/>
          <p:nvPr/>
        </p:nvSpPr>
        <p:spPr>
          <a:xfrm>
            <a:off x="822960" y="5287320"/>
            <a:ext cx="10515600" cy="950000"/>
          </a:xfrm>
          <a:prstGeom prst="rect">
            <a:avLst/>
          </a:prstGeom>
          <a:noFill/>
        </p:spPr>
        <p:txBody>
          <a:bodyPr wrap="square">
            <a:spAutoFit/>
          </a:bodyPr>
          <a:lstStyle/>
          <a:p>
            <a:r>
              <a:rPr sz="1100" i="0">
                <a:solidFill>
                  <a:srgbClr val="485366"/>
                </a:solidFill>
                <a:latin typeface="Calibri"/>
              </a:rPr>
              <a:t>Burden varies within a cohort almost as much as it varies across cohorts, which is the real reason a single population-wide threshold for what counts as a heavily mutated tumor would be misleading. That spread is exactly what motivates checking for hypermutator outliers directly rather than assuming cancer type alone explains mutation count, which is covered on the next slide with a real patient case. It also means gene-level mutation counts later in this deck need to be read in the context of which cohort they came from, not compared blindly across cancer types.</a:t>
            </a: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7" name=""/>
          <p:cNvSpPr txBox="1"/>
          <p:nvPr/>
        </p:nvSpPr>
        <p:spPr>
          <a:xfrm>
            <a:off x="548640" y="384120"/>
            <a:ext cx="7315200" cy="292680"/>
          </a:xfrm>
          <a:prstGeom prst="rect">
            <a:avLst/>
          </a:prstGeom>
          <a:noFill/>
          <a:ln w="0">
            <a:noFill/>
          </a:ln>
        </p:spPr>
        <p:txBody>
          <a:bodyPr lIns="90000" tIns="45000" rIns="90000" bIns="45000" anchor="t">
            <a:spAutoFit/>
          </a:bodyPr>
          <a:p>
            <a:r>
              <a:rPr lang="en-US" sz="1200" b="1" u="none" spc="201" strike="noStrike">
                <a:solidFill>
                  <a:srgbClr val="E76C4E"/>
                </a:solidFill>
                <a:effectLst/>
                <a:uFillTx/>
                <a:latin typeface="Calibri-Bold"/>
                <a:ea typeface="Calibri-Bold"/>
              </a:rPr>
              <a:t>THE DATA</a:t>
            </a:r>
            <a:endParaRPr lang="en-US" sz="1200" b="0" u="none" strike="noStrike">
              <a:solidFill>
                <a:srgbClr val="000000"/>
              </a:solidFill>
              <a:effectLst/>
              <a:uFillTx/>
              <a:latin typeface="Arial"/>
            </a:endParaRPr>
          </a:p>
        </p:txBody>
      </p:sp>
      <p:sp>
        <p:nvSpPr>
          <p:cNvPr id="88" name=""/>
          <p:cNvSpPr txBox="1"/>
          <p:nvPr/>
        </p:nvSpPr>
        <p:spPr>
          <a:xfrm>
            <a:off x="548640" y="658440"/>
            <a:ext cx="10789920" cy="977400"/>
          </a:xfrm>
          <a:prstGeom prst="rect">
            <a:avLst/>
          </a:prstGeom>
          <a:noFill/>
          <a:ln w="0">
            <a:noFill/>
          </a:ln>
        </p:spPr>
        <p:txBody>
          <a:bodyPr lIns="90000" tIns="45000" rIns="90000" bIns="45000" anchor="t">
            <a:spAutoFit/>
          </a:bodyPr>
          <a:p>
            <a:r>
              <a:rPr lang="en-US" sz="3000" b="1" u="none" strike="noStrike">
                <a:solidFill>
                  <a:srgbClr val="1F242E"/>
                </a:solidFill>
                <a:effectLst/>
                <a:uFillTx/>
                <a:latin typeface="Cambria-Bold"/>
                <a:ea typeface="Cambria-Bold"/>
              </a:rPr>
              <a:t>The Most Frequently Mutated Genes In This Cohort</a:t>
            </a:r>
            <a:endParaRPr lang="en-US" sz="3000" b="0" u="none" strike="noStrike">
              <a:solidFill>
                <a:srgbClr val="000000"/>
              </a:solidFill>
              <a:effectLst/>
              <a:uFillTx/>
              <a:latin typeface="Arial"/>
            </a:endParaRPr>
          </a:p>
        </p:txBody>
      </p:sp>
      <p:pic>
        <p:nvPicPr>
          <p:cNvPr id="89" name=""/>
          <p:cNvPicPr/>
          <p:nvPr/>
        </p:nvPicPr>
        <p:blipFill>
          <a:blip r:embed="rId1"/>
          <a:stretch/>
        </p:blipFill>
        <p:spPr>
          <a:xfrm>
            <a:off x="2288596" y="1750000"/>
            <a:ext cx="7401447" cy="3550000"/>
          </a:xfrm>
          <a:prstGeom prst="rect">
            <a:avLst/>
          </a:prstGeom>
          <a:noFill/>
          <a:ln w="0">
            <a:noFill/>
          </a:ln>
        </p:spPr>
      </p:pic>
      <p:sp>
        <p:nvSpPr>
          <p:cNvPr id="90" name=""/>
          <p:cNvSpPr txBox="1"/>
          <p:nvPr/>
        </p:nvSpPr>
        <p:spPr>
          <a:xfrm>
            <a:off x="11368840" y="6446520"/>
            <a:ext cx="500000" cy="300000"/>
          </a:xfrm>
          <a:prstGeom prst="rect">
            <a:avLst/>
          </a:prstGeom>
          <a:noFill/>
          <a:ln w="0">
            <a:noFill/>
          </a:ln>
        </p:spPr>
        <p:txBody>
          <a:bodyPr lIns="90000" tIns="45000" rIns="90000" bIns="45000" anchor="t">
            <a:spAutoFit/>
          </a:bodyPr>
          <a:p>
            <a:pPr algn="r"/>
            <a:r>
              <a:rPr lang="en-US" sz="1000" b="0" u="none" strike="noStrike">
                <a:solidFill>
                  <a:srgbClr val="8D99AE"/>
                </a:solidFill>
                <a:effectLst/>
                <a:uFillTx/>
                <a:latin typeface="Calibri"/>
                <a:ea typeface="Calibri"/>
              </a:rPr>
              <a:t>7</a:t>
            </a:r>
            <a:endParaRPr lang="en-US" sz="1000" b="0" u="none" strike="noStrike">
              <a:solidFill>
                <a:srgbClr val="000000"/>
              </a:solidFill>
              <a:effectLst/>
              <a:uFillTx/>
              <a:latin typeface="Arial"/>
            </a:endParaRPr>
          </a:p>
        </p:txBody>
      </p:sp>
      <p:sp>
        <p:nvSpPr>
          <p:cNvPr id="91" name="TextBox 90"/>
          <p:cNvSpPr txBox="1"/>
          <p:nvPr/>
        </p:nvSpPr>
        <p:spPr>
          <a:xfrm>
            <a:off x="822960" y="5420000"/>
            <a:ext cx="10515600" cy="950000"/>
          </a:xfrm>
          <a:prstGeom prst="rect">
            <a:avLst/>
          </a:prstGeom>
          <a:noFill/>
        </p:spPr>
        <p:txBody>
          <a:bodyPr wrap="square">
            <a:spAutoFit/>
          </a:bodyPr>
          <a:lstStyle/>
          <a:p>
            <a:r>
              <a:rPr sz="1100" i="0">
                <a:solidFill>
                  <a:srgbClr val="485366"/>
                </a:solidFill>
                <a:latin typeface="Calibri"/>
              </a:rPr>
              <a:t>BRCA1 and BRCA2 are not in this top 10, and that is not a withholding decision on this project's part: by raw somatic mutation count they rank 2,055th and 876th in this cohort, with only 4 and 6 mutations respectively across the whole dataset. Large genes like TTN and MUC16 dominate this list because they are simply bigger genomic targets for passenger mutations to land on, not because they carry more clinical significance. This is a well known confound in cancer genomics, and it is the reason Stage 2's models use gene-level historical resolution rate rather than raw mutation frequency as a feature, since frequency alone would systematically overweight large, clinically uninteresting genes.</a:t>
            </a: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91" name=""/>
          <p:cNvSpPr txBox="1"/>
          <p:nvPr/>
        </p:nvSpPr>
        <p:spPr>
          <a:xfrm>
            <a:off x="548640" y="384120"/>
            <a:ext cx="7315200" cy="292680"/>
          </a:xfrm>
          <a:prstGeom prst="rect">
            <a:avLst/>
          </a:prstGeom>
          <a:noFill/>
          <a:ln w="0">
            <a:noFill/>
          </a:ln>
        </p:spPr>
        <p:txBody>
          <a:bodyPr lIns="90000" tIns="45000" rIns="90000" bIns="45000" anchor="t">
            <a:spAutoFit/>
          </a:bodyPr>
          <a:p>
            <a:r>
              <a:rPr lang="en-US" sz="1200" b="1" u="none" spc="201" strike="noStrike">
                <a:solidFill>
                  <a:srgbClr val="E76C4E"/>
                </a:solidFill>
                <a:effectLst/>
                <a:uFillTx/>
                <a:latin typeface="Calibri-Bold"/>
                <a:ea typeface="Calibri-Bold"/>
              </a:rPr>
              <a:t>THE DATA</a:t>
            </a:r>
            <a:endParaRPr lang="en-US" sz="1200" b="0" u="none" strike="noStrike">
              <a:solidFill>
                <a:srgbClr val="000000"/>
              </a:solidFill>
              <a:effectLst/>
              <a:uFillTx/>
              <a:latin typeface="Arial"/>
            </a:endParaRPr>
          </a:p>
        </p:txBody>
      </p:sp>
      <p:sp>
        <p:nvSpPr>
          <p:cNvPr id="92" name=""/>
          <p:cNvSpPr txBox="1"/>
          <p:nvPr/>
        </p:nvSpPr>
        <p:spPr>
          <a:xfrm>
            <a:off x="548640" y="658440"/>
            <a:ext cx="10789920" cy="777240"/>
          </a:xfrm>
          <a:prstGeom prst="rect">
            <a:avLst/>
          </a:prstGeom>
          <a:noFill/>
          <a:ln w="0">
            <a:noFill/>
          </a:ln>
        </p:spPr>
        <p:txBody>
          <a:bodyPr lIns="90000" tIns="45000" rIns="90000" bIns="45000" anchor="t">
            <a:spAutoFit/>
          </a:bodyPr>
          <a:p>
            <a:r>
              <a:rPr lang="en-US" sz="3000" b="1" u="none" strike="noStrike">
                <a:solidFill>
                  <a:srgbClr val="1F242E"/>
                </a:solidFill>
                <a:effectLst/>
                <a:uFillTx/>
                <a:latin typeface="Cambria-Bold"/>
                <a:ea typeface="Cambria-Bold"/>
              </a:rPr>
              <a:t>What Kind of Mutations These Are</a:t>
            </a:r>
            <a:endParaRPr lang="en-US" sz="3000" b="0" u="none" strike="noStrike">
              <a:solidFill>
                <a:srgbClr val="000000"/>
              </a:solidFill>
              <a:effectLst/>
              <a:uFillTx/>
              <a:latin typeface="Arial"/>
            </a:endParaRPr>
          </a:p>
        </p:txBody>
      </p:sp>
      <p:sp>
        <p:nvSpPr>
          <p:cNvPr id="94" name=""/>
          <p:cNvSpPr txBox="1"/>
          <p:nvPr/>
        </p:nvSpPr>
        <p:spPr>
          <a:xfrm>
            <a:off x="11368840" y="6446520"/>
            <a:ext cx="500000" cy="300000"/>
          </a:xfrm>
          <a:prstGeom prst="rect">
            <a:avLst/>
          </a:prstGeom>
          <a:noFill/>
          <a:ln w="0">
            <a:noFill/>
          </a:ln>
        </p:spPr>
        <p:txBody>
          <a:bodyPr lIns="90000" tIns="45000" rIns="90000" bIns="45000" anchor="t">
            <a:spAutoFit/>
          </a:bodyPr>
          <a:p>
            <a:pPr algn="r"/>
            <a:r>
              <a:rPr lang="en-US" sz="1000" b="0" u="none" strike="noStrike">
                <a:solidFill>
                  <a:srgbClr val="8D99AE"/>
                </a:solidFill>
                <a:effectLst/>
                <a:uFillTx/>
                <a:latin typeface="Calibri"/>
                <a:ea typeface="Calibri"/>
              </a:rPr>
              <a:t>8</a:t>
            </a:r>
            <a:endParaRPr lang="en-US" sz="1000" b="0" u="none" strike="noStrike">
              <a:solidFill>
                <a:srgbClr val="000000"/>
              </a:solidFill>
              <a:effectLst/>
              <a:uFillTx/>
              <a:latin typeface="Arial"/>
            </a:endParaRPr>
          </a:p>
        </p:txBody>
      </p:sp>
      <p:pic>
        <p:nvPicPr>
          <p:cNvPr id="95" name="Picture 94" descr="mutation_type_breakdown_7cohort.png"/>
          <p:cNvPicPr>
            <a:picLocks noChangeAspect="1"/>
          </p:cNvPicPr>
          <p:nvPr/>
        </p:nvPicPr>
        <p:blipFill>
          <a:blip r:embed="rId3"/>
          <a:stretch>
            <a:fillRect/>
          </a:stretch>
        </p:blipFill>
        <p:spPr>
          <a:xfrm>
            <a:off x="2224877" y="1713693"/>
            <a:ext cx="7620326" cy="3550000"/>
          </a:xfrm>
          <a:prstGeom prst="rect">
            <a:avLst/>
          </a:prstGeom>
        </p:spPr>
      </p:pic>
      <p:sp>
        <p:nvSpPr>
          <p:cNvPr id="96" name="TextBox 95"/>
          <p:cNvSpPr txBox="1"/>
          <p:nvPr/>
        </p:nvSpPr>
        <p:spPr>
          <a:xfrm>
            <a:off x="822960" y="5383693"/>
            <a:ext cx="10515600" cy="950000"/>
          </a:xfrm>
          <a:prstGeom prst="rect">
            <a:avLst/>
          </a:prstGeom>
          <a:noFill/>
        </p:spPr>
        <p:txBody>
          <a:bodyPr wrap="square">
            <a:spAutoFit/>
          </a:bodyPr>
          <a:lstStyle/>
          <a:p>
            <a:r>
              <a:rPr sz="1100" i="0">
                <a:solidFill>
                  <a:srgbClr val="485366"/>
                </a:solidFill>
                <a:latin typeface="Calibri"/>
              </a:rPr>
              <a:t>Nonsynonymous SNVs dominate every one of the seven cohorts, which confirms the training labels reflect real coding-altering mutations rather than annotation noise or a pipeline bug that let synonymous variants leak through. The relative mix does shift by cohort: COAD and STAD show a noticeably higher frameshift-deletion share than BRCA or SKCM, consistent with the mismatch-repair-driven indel signatures known in colorectal and gastric cancers. The consistently small stopgain and startloss counts across cohorts also line up with the real biological expectation that most truncating events are individually rare compared to missense substitutions.</a:t>
            </a: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C375C"/>
        </a:solidFill>
      </p:bgPr>
    </p:bg>
    <p:spTree>
      <p:nvGrpSpPr>
        <p:cNvPr id="1" name=""/>
        <p:cNvGrpSpPr/>
        <p:nvPr/>
      </p:nvGrpSpPr>
      <p:grpSpPr>
        <a:xfrm>
          <a:off x="0" y="0"/>
          <a:ext cx="0" cy="0"/>
          <a:chOff x="0" y="0"/>
          <a:chExt cx="0" cy="0"/>
        </a:xfrm>
      </p:grpSpPr>
      <p:sp>
        <p:nvSpPr>
          <p:cNvPr id="95" name=""/>
          <p:cNvSpPr txBox="1"/>
          <p:nvPr/>
        </p:nvSpPr>
        <p:spPr>
          <a:xfrm>
            <a:off x="548640" y="384120"/>
            <a:ext cx="7315200" cy="292680"/>
          </a:xfrm>
          <a:prstGeom prst="rect">
            <a:avLst/>
          </a:prstGeom>
          <a:noFill/>
          <a:ln w="0">
            <a:noFill/>
          </a:ln>
        </p:spPr>
        <p:txBody>
          <a:bodyPr lIns="90000" tIns="45000" rIns="90000" bIns="45000" anchor="t">
            <a:spAutoFit/>
          </a:bodyPr>
          <a:p>
            <a:r>
              <a:rPr lang="en-US" sz="1200" b="1" u="none" spc="201" strike="noStrike">
                <a:solidFill>
                  <a:srgbClr val="E9C467"/>
                </a:solidFill>
                <a:effectLst/>
                <a:uFillTx/>
                <a:latin typeface="Calibri-Bold"/>
                <a:ea typeface="Calibri-Bold"/>
              </a:rPr>
              <a:t>Hymermutated tumor outlier</a:t>
            </a:r>
            <a:endParaRPr lang="en-US" sz="1200" b="0" u="none" strike="noStrike">
              <a:solidFill>
                <a:srgbClr val="FFFFFF"/>
              </a:solidFill>
              <a:effectLst/>
              <a:uFillTx/>
              <a:latin typeface="Arial"/>
            </a:endParaRPr>
          </a:p>
        </p:txBody>
      </p:sp>
      <p:sp>
        <p:nvSpPr>
          <p:cNvPr id="96" name=""/>
          <p:cNvSpPr txBox="1"/>
          <p:nvPr/>
        </p:nvSpPr>
        <p:spPr>
          <a:xfrm>
            <a:off x="548640" y="685800"/>
            <a:ext cx="10972800" cy="777240"/>
          </a:xfrm>
          <a:prstGeom prst="rect">
            <a:avLst/>
          </a:prstGeom>
          <a:noFill/>
          <a:ln w="0">
            <a:noFill/>
          </a:ln>
        </p:spPr>
        <p:txBody>
          <a:bodyPr lIns="90000" tIns="45000" rIns="90000" bIns="45000" anchor="t">
            <a:spAutoFit/>
          </a:bodyPr>
          <a:p>
            <a:r>
              <a:rPr lang="en-US" sz="2800" b="1" u="none" strike="noStrike">
                <a:solidFill>
                  <a:srgbClr val="FFFFFF"/>
                </a:solidFill>
                <a:effectLst/>
                <a:uFillTx/>
                <a:latin typeface="Cambria-Bold"/>
                <a:ea typeface="Cambria-Bold"/>
              </a:rPr>
              <a:t>One Tumor Had 96× the Normal Mutation Load</a:t>
            </a:r>
            <a:endParaRPr lang="en-US" sz="2800" b="0" u="none" strike="noStrike">
              <a:solidFill>
                <a:srgbClr val="FFFFFF"/>
              </a:solidFill>
              <a:effectLst/>
              <a:uFillTx/>
              <a:latin typeface="Arial"/>
            </a:endParaRPr>
          </a:p>
        </p:txBody>
      </p:sp>
      <p:sp>
        <p:nvSpPr>
          <p:cNvPr id="97" name=""/>
          <p:cNvSpPr/>
          <p:nvPr/>
        </p:nvSpPr>
        <p:spPr>
          <a:xfrm>
            <a:off x="548640" y="1707840"/>
            <a:ext cx="2652120" cy="1051920"/>
          </a:xfrm>
          <a:custGeom>
            <a:avLst/>
            <a:gdLst/>
            <a:ahLst/>
            <a:rect l="0" t="0" r="r" b="b"/>
            <a:pathLst>
              <a:path w="7367" h="2922">
                <a:moveTo>
                  <a:pt x="7138" y="0"/>
                </a:moveTo>
                <a:cubicBezTo>
                  <a:pt x="7291" y="0"/>
                  <a:pt x="7367" y="76"/>
                  <a:pt x="7367" y="228"/>
                </a:cubicBezTo>
                <a:lnTo>
                  <a:pt x="7367" y="2693"/>
                </a:lnTo>
                <a:cubicBezTo>
                  <a:pt x="7367" y="2846"/>
                  <a:pt x="7291" y="2922"/>
                  <a:pt x="7138" y="2922"/>
                </a:cubicBezTo>
                <a:lnTo>
                  <a:pt x="228" y="2922"/>
                </a:lnTo>
                <a:cubicBezTo>
                  <a:pt x="76" y="2922"/>
                  <a:pt x="0" y="2846"/>
                  <a:pt x="0" y="2693"/>
                </a:cubicBezTo>
                <a:lnTo>
                  <a:pt x="0" y="228"/>
                </a:lnTo>
                <a:cubicBezTo>
                  <a:pt x="0" y="76"/>
                  <a:pt x="76" y="0"/>
                  <a:pt x="228" y="0"/>
                </a:cubicBezTo>
                <a:lnTo>
                  <a:pt x="7138" y="0"/>
                </a:lnTo>
                <a:close/>
              </a:path>
            </a:pathLst>
          </a:custGeom>
          <a:solidFill>
            <a:srgbClr val="23456E"/>
          </a:solidFill>
          <a:ln w="12600">
            <a:solidFill>
              <a:srgbClr val="345A85"/>
            </a:solidFill>
            <a:round/>
          </a:ln>
        </p:spPr>
        <p:txBody>
          <a:bodyPr lIns="96120" tIns="51120" rIns="96120" bIns="51120" anchor="t">
            <a:noAutofit/>
          </a:bodyPr>
          <a:p>
            <a:endParaRPr lang="en-US" sz="1800" b="0" u="none" strike="noStrike">
              <a:solidFill>
                <a:srgbClr val="FFFFFF"/>
              </a:solidFill>
              <a:effectLst/>
              <a:uFillTx/>
              <a:latin typeface="Arial"/>
            </a:endParaRPr>
          </a:p>
        </p:txBody>
      </p:sp>
      <p:sp>
        <p:nvSpPr>
          <p:cNvPr id="98" name=""/>
          <p:cNvSpPr txBox="1"/>
          <p:nvPr/>
        </p:nvSpPr>
        <p:spPr>
          <a:xfrm>
            <a:off x="658440" y="1850040"/>
            <a:ext cx="2432160" cy="385920"/>
          </a:xfrm>
          <a:prstGeom prst="rect">
            <a:avLst/>
          </a:prstGeom>
          <a:noFill/>
          <a:ln w="0">
            <a:noFill/>
          </a:ln>
        </p:spPr>
        <p:txBody>
          <a:bodyPr lIns="90000" tIns="45000" rIns="90000" bIns="45000" anchor="t">
            <a:spAutoFit/>
          </a:bodyPr>
          <a:p>
            <a:r>
              <a:rPr lang="en-US" sz="2000" b="1" u="none" strike="noStrike">
                <a:solidFill>
                  <a:srgbClr val="E9C467"/>
                </a:solidFill>
                <a:effectLst/>
                <a:uFillTx/>
                <a:latin typeface="Cambria-Bold"/>
                <a:ea typeface="Cambria-Bold"/>
              </a:rPr>
              <a:t>TCGA-AN-A046</a:t>
            </a:r>
            <a:endParaRPr lang="en-US" sz="2000" b="0" u="none" strike="noStrike">
              <a:solidFill>
                <a:srgbClr val="FFFFFF"/>
              </a:solidFill>
              <a:effectLst/>
              <a:uFillTx/>
              <a:latin typeface="Arial"/>
            </a:endParaRPr>
          </a:p>
        </p:txBody>
      </p:sp>
      <p:sp>
        <p:nvSpPr>
          <p:cNvPr id="99" name=""/>
          <p:cNvSpPr txBox="1"/>
          <p:nvPr/>
        </p:nvSpPr>
        <p:spPr>
          <a:xfrm>
            <a:off x="658440" y="2322720"/>
            <a:ext cx="2432160" cy="399600"/>
          </a:xfrm>
          <a:prstGeom prst="rect">
            <a:avLst/>
          </a:prstGeom>
          <a:noFill/>
          <a:ln w="0">
            <a:noFill/>
          </a:ln>
        </p:spPr>
        <p:txBody>
          <a:bodyPr lIns="90000" tIns="45000" rIns="90000" bIns="45000" anchor="t">
            <a:spAutoFit/>
          </a:bodyPr>
          <a:p>
            <a:r>
              <a:rPr lang="en-US" sz="1100" b="0" u="none" strike="noStrike">
                <a:solidFill>
                  <a:srgbClr val="C7D2E3"/>
                </a:solidFill>
                <a:effectLst/>
                <a:uFillTx/>
                <a:latin typeface="Calibri"/>
                <a:ea typeface="Calibri"/>
              </a:rPr>
              <a:t>patient ID</a:t>
            </a:r>
            <a:endParaRPr lang="en-US" sz="1100" b="0" u="none" strike="noStrike">
              <a:solidFill>
                <a:srgbClr val="FFFFFF"/>
              </a:solidFill>
              <a:effectLst/>
              <a:uFillTx/>
              <a:latin typeface="Arial"/>
            </a:endParaRPr>
          </a:p>
        </p:txBody>
      </p:sp>
      <p:sp>
        <p:nvSpPr>
          <p:cNvPr id="100" name=""/>
          <p:cNvSpPr/>
          <p:nvPr/>
        </p:nvSpPr>
        <p:spPr>
          <a:xfrm>
            <a:off x="3364920" y="1691640"/>
            <a:ext cx="2652120" cy="1051920"/>
          </a:xfrm>
          <a:custGeom>
            <a:avLst/>
            <a:gdLst/>
            <a:ahLst/>
            <a:rect l="0" t="0" r="r" b="b"/>
            <a:pathLst>
              <a:path w="7367" h="2922">
                <a:moveTo>
                  <a:pt x="7138" y="0"/>
                </a:moveTo>
                <a:cubicBezTo>
                  <a:pt x="7291" y="0"/>
                  <a:pt x="7367" y="76"/>
                  <a:pt x="7367" y="228"/>
                </a:cubicBezTo>
                <a:lnTo>
                  <a:pt x="7367" y="2693"/>
                </a:lnTo>
                <a:cubicBezTo>
                  <a:pt x="7367" y="2846"/>
                  <a:pt x="7291" y="2922"/>
                  <a:pt x="7138" y="2922"/>
                </a:cubicBezTo>
                <a:lnTo>
                  <a:pt x="228" y="2922"/>
                </a:lnTo>
                <a:cubicBezTo>
                  <a:pt x="76" y="2922"/>
                  <a:pt x="0" y="2846"/>
                  <a:pt x="0" y="2693"/>
                </a:cubicBezTo>
                <a:lnTo>
                  <a:pt x="0" y="228"/>
                </a:lnTo>
                <a:cubicBezTo>
                  <a:pt x="0" y="76"/>
                  <a:pt x="76" y="0"/>
                  <a:pt x="228" y="0"/>
                </a:cubicBezTo>
                <a:lnTo>
                  <a:pt x="7138" y="0"/>
                </a:lnTo>
                <a:close/>
              </a:path>
            </a:pathLst>
          </a:custGeom>
          <a:solidFill>
            <a:srgbClr val="23456E"/>
          </a:solidFill>
          <a:ln w="12600">
            <a:solidFill>
              <a:srgbClr val="345A85"/>
            </a:solidFill>
            <a:round/>
          </a:ln>
        </p:spPr>
        <p:txBody>
          <a:bodyPr lIns="96120" tIns="51120" rIns="96120" bIns="51120" anchor="t">
            <a:noAutofit/>
          </a:bodyPr>
          <a:p>
            <a:endParaRPr lang="en-US" sz="1800" b="0" u="none" strike="noStrike">
              <a:solidFill>
                <a:srgbClr val="FFFFFF"/>
              </a:solidFill>
              <a:effectLst/>
              <a:uFillTx/>
              <a:latin typeface="Arial"/>
            </a:endParaRPr>
          </a:p>
        </p:txBody>
      </p:sp>
      <p:sp>
        <p:nvSpPr>
          <p:cNvPr id="101" name=""/>
          <p:cNvSpPr txBox="1"/>
          <p:nvPr/>
        </p:nvSpPr>
        <p:spPr>
          <a:xfrm>
            <a:off x="3474720" y="1850040"/>
            <a:ext cx="2432160" cy="681480"/>
          </a:xfrm>
          <a:prstGeom prst="rect">
            <a:avLst/>
          </a:prstGeom>
          <a:noFill/>
          <a:ln w="0">
            <a:noFill/>
          </a:ln>
        </p:spPr>
        <p:txBody>
          <a:bodyPr lIns="90000" tIns="45000" rIns="90000" bIns="45000" anchor="t">
            <a:spAutoFit/>
          </a:bodyPr>
          <a:p>
            <a:r>
              <a:rPr lang="en-US" sz="2000" b="1" u="none" strike="noStrike">
                <a:solidFill>
                  <a:srgbClr val="E9C467"/>
                </a:solidFill>
                <a:effectLst/>
                <a:uFillTx/>
                <a:latin typeface="Cambria-Bold"/>
                <a:ea typeface="Cambria-Bold"/>
              </a:rPr>
              <a:t>BRCA · Stage IIA</a:t>
            </a:r>
            <a:endParaRPr lang="en-US" sz="2000" b="0" u="none" strike="noStrike">
              <a:solidFill>
                <a:srgbClr val="FFFFFF"/>
              </a:solidFill>
              <a:effectLst/>
              <a:uFillTx/>
              <a:latin typeface="Arial"/>
            </a:endParaRPr>
          </a:p>
        </p:txBody>
      </p:sp>
      <p:sp>
        <p:nvSpPr>
          <p:cNvPr id="102" name=""/>
          <p:cNvSpPr txBox="1"/>
          <p:nvPr/>
        </p:nvSpPr>
        <p:spPr>
          <a:xfrm>
            <a:off x="3474720" y="2322720"/>
            <a:ext cx="2432160" cy="399600"/>
          </a:xfrm>
          <a:prstGeom prst="rect">
            <a:avLst/>
          </a:prstGeom>
          <a:noFill/>
          <a:ln w="0">
            <a:noFill/>
          </a:ln>
        </p:spPr>
        <p:txBody>
          <a:bodyPr lIns="90000" tIns="45000" rIns="90000" bIns="45000" anchor="t">
            <a:spAutoFit/>
          </a:bodyPr>
          <a:p>
            <a:r>
              <a:rPr lang="en-US" sz="1100" b="0" u="none" strike="noStrike">
                <a:solidFill>
                  <a:srgbClr val="C7D2E3"/>
                </a:solidFill>
                <a:effectLst/>
                <a:uFillTx/>
                <a:latin typeface="Calibri"/>
                <a:ea typeface="Calibri"/>
              </a:rPr>
              <a:t>diagnosis</a:t>
            </a:r>
            <a:endParaRPr lang="en-US" sz="1100" b="0" u="none" strike="noStrike">
              <a:solidFill>
                <a:srgbClr val="FFFFFF"/>
              </a:solidFill>
              <a:effectLst/>
              <a:uFillTx/>
              <a:latin typeface="Arial"/>
            </a:endParaRPr>
          </a:p>
        </p:txBody>
      </p:sp>
      <p:sp>
        <p:nvSpPr>
          <p:cNvPr id="103" name=""/>
          <p:cNvSpPr/>
          <p:nvPr/>
        </p:nvSpPr>
        <p:spPr>
          <a:xfrm>
            <a:off x="6181200" y="1691640"/>
            <a:ext cx="2652120" cy="1051920"/>
          </a:xfrm>
          <a:custGeom>
            <a:avLst/>
            <a:gdLst/>
            <a:ahLst/>
            <a:rect l="0" t="0" r="r" b="b"/>
            <a:pathLst>
              <a:path w="7367" h="2922">
                <a:moveTo>
                  <a:pt x="7138" y="0"/>
                </a:moveTo>
                <a:cubicBezTo>
                  <a:pt x="7291" y="0"/>
                  <a:pt x="7367" y="76"/>
                  <a:pt x="7367" y="228"/>
                </a:cubicBezTo>
                <a:lnTo>
                  <a:pt x="7367" y="2693"/>
                </a:lnTo>
                <a:cubicBezTo>
                  <a:pt x="7367" y="2846"/>
                  <a:pt x="7291" y="2922"/>
                  <a:pt x="7138" y="2922"/>
                </a:cubicBezTo>
                <a:lnTo>
                  <a:pt x="228" y="2922"/>
                </a:lnTo>
                <a:cubicBezTo>
                  <a:pt x="76" y="2922"/>
                  <a:pt x="0" y="2846"/>
                  <a:pt x="0" y="2693"/>
                </a:cubicBezTo>
                <a:lnTo>
                  <a:pt x="0" y="228"/>
                </a:lnTo>
                <a:cubicBezTo>
                  <a:pt x="0" y="76"/>
                  <a:pt x="76" y="0"/>
                  <a:pt x="228" y="0"/>
                </a:cubicBezTo>
                <a:lnTo>
                  <a:pt x="7138" y="0"/>
                </a:lnTo>
                <a:close/>
              </a:path>
            </a:pathLst>
          </a:custGeom>
          <a:solidFill>
            <a:srgbClr val="23456E"/>
          </a:solidFill>
          <a:ln w="12600">
            <a:solidFill>
              <a:srgbClr val="345A85"/>
            </a:solidFill>
            <a:round/>
          </a:ln>
        </p:spPr>
        <p:txBody>
          <a:bodyPr lIns="96120" tIns="51120" rIns="96120" bIns="51120" anchor="t">
            <a:noAutofit/>
          </a:bodyPr>
          <a:p>
            <a:endParaRPr lang="en-US" sz="1800" b="0" u="none" strike="noStrike">
              <a:solidFill>
                <a:srgbClr val="FFFFFF"/>
              </a:solidFill>
              <a:effectLst/>
              <a:uFillTx/>
              <a:latin typeface="Arial"/>
            </a:endParaRPr>
          </a:p>
        </p:txBody>
      </p:sp>
      <p:sp>
        <p:nvSpPr>
          <p:cNvPr id="104" name=""/>
          <p:cNvSpPr txBox="1"/>
          <p:nvPr/>
        </p:nvSpPr>
        <p:spPr>
          <a:xfrm>
            <a:off x="6291000" y="1850040"/>
            <a:ext cx="2432160" cy="385920"/>
          </a:xfrm>
          <a:prstGeom prst="rect">
            <a:avLst/>
          </a:prstGeom>
          <a:noFill/>
          <a:ln w="0">
            <a:noFill/>
          </a:ln>
        </p:spPr>
        <p:txBody>
          <a:bodyPr lIns="90000" tIns="45000" rIns="90000" bIns="45000" anchor="t">
            <a:spAutoFit/>
          </a:bodyPr>
          <a:p>
            <a:r>
              <a:rPr lang="en-US" sz="2000" b="1" u="none" strike="noStrike">
                <a:solidFill>
                  <a:srgbClr val="E9C467"/>
                </a:solidFill>
                <a:effectLst/>
                <a:uFillTx/>
                <a:latin typeface="Cambria-Bold"/>
                <a:ea typeface="Cambria-Bold"/>
              </a:rPr>
              <a:t>68F · Alive</a:t>
            </a:r>
            <a:endParaRPr lang="en-US" sz="2000" b="0" u="none" strike="noStrike">
              <a:solidFill>
                <a:srgbClr val="FFFFFF"/>
              </a:solidFill>
              <a:effectLst/>
              <a:uFillTx/>
              <a:latin typeface="Arial"/>
            </a:endParaRPr>
          </a:p>
        </p:txBody>
      </p:sp>
      <p:sp>
        <p:nvSpPr>
          <p:cNvPr id="105" name=""/>
          <p:cNvSpPr txBox="1"/>
          <p:nvPr/>
        </p:nvSpPr>
        <p:spPr>
          <a:xfrm>
            <a:off x="6291000" y="2322720"/>
            <a:ext cx="2432160" cy="399600"/>
          </a:xfrm>
          <a:prstGeom prst="rect">
            <a:avLst/>
          </a:prstGeom>
          <a:noFill/>
          <a:ln w="0">
            <a:noFill/>
          </a:ln>
        </p:spPr>
        <p:txBody>
          <a:bodyPr lIns="90000" tIns="45000" rIns="90000" bIns="45000" anchor="t">
            <a:spAutoFit/>
          </a:bodyPr>
          <a:p>
            <a:r>
              <a:rPr lang="en-US" sz="1100" b="0" u="none" strike="noStrike">
                <a:solidFill>
                  <a:srgbClr val="C7D2E3"/>
                </a:solidFill>
                <a:effectLst/>
                <a:uFillTx/>
                <a:latin typeface="Calibri"/>
                <a:ea typeface="Calibri"/>
              </a:rPr>
              <a:t>clinical status</a:t>
            </a:r>
            <a:endParaRPr lang="en-US" sz="1100" b="0" u="none" strike="noStrike">
              <a:solidFill>
                <a:srgbClr val="FFFFFF"/>
              </a:solidFill>
              <a:effectLst/>
              <a:uFillTx/>
              <a:latin typeface="Arial"/>
            </a:endParaRPr>
          </a:p>
        </p:txBody>
      </p:sp>
      <p:sp>
        <p:nvSpPr>
          <p:cNvPr id="106" name=""/>
          <p:cNvSpPr/>
          <p:nvPr/>
        </p:nvSpPr>
        <p:spPr>
          <a:xfrm>
            <a:off x="8997840" y="1691640"/>
            <a:ext cx="2652120" cy="1051920"/>
          </a:xfrm>
          <a:custGeom>
            <a:avLst/>
            <a:gdLst/>
            <a:ahLst/>
            <a:rect l="0" t="0" r="r" b="b"/>
            <a:pathLst>
              <a:path w="7367" h="2922">
                <a:moveTo>
                  <a:pt x="7138" y="0"/>
                </a:moveTo>
                <a:cubicBezTo>
                  <a:pt x="7291" y="0"/>
                  <a:pt x="7367" y="76"/>
                  <a:pt x="7367" y="228"/>
                </a:cubicBezTo>
                <a:lnTo>
                  <a:pt x="7367" y="2693"/>
                </a:lnTo>
                <a:cubicBezTo>
                  <a:pt x="7367" y="2846"/>
                  <a:pt x="7291" y="2922"/>
                  <a:pt x="7138" y="2922"/>
                </a:cubicBezTo>
                <a:lnTo>
                  <a:pt x="228" y="2922"/>
                </a:lnTo>
                <a:cubicBezTo>
                  <a:pt x="76" y="2922"/>
                  <a:pt x="0" y="2846"/>
                  <a:pt x="0" y="2693"/>
                </a:cubicBezTo>
                <a:lnTo>
                  <a:pt x="0" y="228"/>
                </a:lnTo>
                <a:cubicBezTo>
                  <a:pt x="0" y="76"/>
                  <a:pt x="76" y="0"/>
                  <a:pt x="228" y="0"/>
                </a:cubicBezTo>
                <a:lnTo>
                  <a:pt x="7138" y="0"/>
                </a:lnTo>
                <a:close/>
              </a:path>
            </a:pathLst>
          </a:custGeom>
          <a:solidFill>
            <a:srgbClr val="23456E"/>
          </a:solidFill>
          <a:ln w="12600">
            <a:solidFill>
              <a:srgbClr val="345A85"/>
            </a:solidFill>
            <a:round/>
          </a:ln>
        </p:spPr>
        <p:txBody>
          <a:bodyPr lIns="96120" tIns="51120" rIns="96120" bIns="51120" anchor="t">
            <a:noAutofit/>
          </a:bodyPr>
          <a:p>
            <a:endParaRPr lang="en-US" sz="1800" b="0" u="none" strike="noStrike">
              <a:solidFill>
                <a:srgbClr val="FFFFFF"/>
              </a:solidFill>
              <a:effectLst/>
              <a:uFillTx/>
              <a:latin typeface="Arial"/>
            </a:endParaRPr>
          </a:p>
        </p:txBody>
      </p:sp>
      <p:sp>
        <p:nvSpPr>
          <p:cNvPr id="107" name=""/>
          <p:cNvSpPr txBox="1"/>
          <p:nvPr/>
        </p:nvSpPr>
        <p:spPr>
          <a:xfrm>
            <a:off x="9107280" y="1850040"/>
            <a:ext cx="2432160" cy="385920"/>
          </a:xfrm>
          <a:prstGeom prst="rect">
            <a:avLst/>
          </a:prstGeom>
          <a:noFill/>
          <a:ln w="0">
            <a:noFill/>
          </a:ln>
        </p:spPr>
        <p:txBody>
          <a:bodyPr lIns="90000" tIns="45000" rIns="90000" bIns="45000" anchor="t">
            <a:spAutoFit/>
          </a:bodyPr>
          <a:p>
            <a:r>
              <a:rPr lang="en-US" sz="2000" b="1" u="none" strike="noStrike">
                <a:solidFill>
                  <a:srgbClr val="E9C467"/>
                </a:solidFill>
                <a:effectLst/>
                <a:uFillTx/>
                <a:latin typeface="Cambria-Bold"/>
                <a:ea typeface="Cambria-Bold"/>
              </a:rPr>
              <a:t>5,978</a:t>
            </a:r>
            <a:endParaRPr lang="en-US" sz="2000" b="0" u="none" strike="noStrike">
              <a:solidFill>
                <a:srgbClr val="FFFFFF"/>
              </a:solidFill>
              <a:effectLst/>
              <a:uFillTx/>
              <a:latin typeface="Arial"/>
            </a:endParaRPr>
          </a:p>
        </p:txBody>
      </p:sp>
      <p:sp>
        <p:nvSpPr>
          <p:cNvPr id="108" name=""/>
          <p:cNvSpPr txBox="1"/>
          <p:nvPr/>
        </p:nvSpPr>
        <p:spPr>
          <a:xfrm>
            <a:off x="9107280" y="2322720"/>
            <a:ext cx="2432160" cy="399600"/>
          </a:xfrm>
          <a:prstGeom prst="rect">
            <a:avLst/>
          </a:prstGeom>
          <a:noFill/>
          <a:ln w="0">
            <a:noFill/>
          </a:ln>
        </p:spPr>
        <p:txBody>
          <a:bodyPr lIns="90000" tIns="45000" rIns="90000" bIns="45000" anchor="t">
            <a:spAutoFit/>
          </a:bodyPr>
          <a:p>
            <a:r>
              <a:rPr lang="en-US" sz="1100" b="0" u="none" strike="noStrike">
                <a:solidFill>
                  <a:srgbClr val="C7D2E3"/>
                </a:solidFill>
                <a:effectLst/>
                <a:uFillTx/>
                <a:latin typeface="Calibri"/>
                <a:ea typeface="Calibri"/>
              </a:rPr>
              <a:t>somatic variants (cohort median: 62)</a:t>
            </a:r>
            <a:endParaRPr lang="en-US" sz="1100" b="0" u="none" strike="noStrike">
              <a:solidFill>
                <a:srgbClr val="FFFFFF"/>
              </a:solidFill>
              <a:effectLst/>
              <a:uFillTx/>
              <a:latin typeface="Arial"/>
            </a:endParaRPr>
          </a:p>
        </p:txBody>
      </p:sp>
      <p:sp>
        <p:nvSpPr>
          <p:cNvPr id="109" name=""/>
          <p:cNvSpPr txBox="1"/>
          <p:nvPr/>
        </p:nvSpPr>
        <p:spPr>
          <a:xfrm>
            <a:off x="548640" y="3063240"/>
            <a:ext cx="3657600" cy="274320"/>
          </a:xfrm>
          <a:prstGeom prst="rect">
            <a:avLst/>
          </a:prstGeom>
          <a:noFill/>
          <a:ln w="0">
            <a:noFill/>
          </a:ln>
        </p:spPr>
        <p:txBody>
          <a:bodyPr lIns="90000" tIns="45000" rIns="90000" bIns="45000" anchor="t">
            <a:spAutoFit/>
          </a:bodyPr>
          <a:p>
            <a:r>
              <a:rPr lang="en-US" sz="1100" b="1" u="none" spc="150" strike="noStrike">
                <a:solidFill>
                  <a:srgbClr val="E9C467"/>
                </a:solidFill>
                <a:effectLst/>
                <a:uFillTx/>
                <a:latin typeface="Calibri-Bold"/>
                <a:ea typeface="Calibri-Bold"/>
              </a:rPr>
              <a:t>WHY</a:t>
            </a:r>
            <a:endParaRPr lang="en-US" sz="1100" b="0" u="none" strike="noStrike">
              <a:solidFill>
                <a:srgbClr val="FFFFFF"/>
              </a:solidFill>
              <a:effectLst/>
              <a:uFillTx/>
              <a:latin typeface="Arial"/>
            </a:endParaRPr>
          </a:p>
        </p:txBody>
      </p:sp>
      <p:sp>
        <p:nvSpPr>
          <p:cNvPr id="110" name=""/>
          <p:cNvSpPr txBox="1"/>
          <p:nvPr/>
        </p:nvSpPr>
        <p:spPr>
          <a:xfrm>
            <a:off x="548640" y="3383280"/>
            <a:ext cx="10789920" cy="1554480"/>
          </a:xfrm>
          <a:prstGeom prst="rect">
            <a:avLst/>
          </a:prstGeom>
          <a:noFill/>
          <a:ln w="0">
            <a:noFill/>
          </a:ln>
        </p:spPr>
        <p:txBody>
          <a:bodyPr lIns="90000" tIns="45000" rIns="90000" bIns="45000" anchor="t">
            <a:spAutoFit/>
          </a:bodyPr>
          <a:p>
            <a:pPr>
              <a:lnSpc>
                <a:spcPct val="125000"/>
              </a:lnSpc>
            </a:pPr>
            <a:r>
              <a:rPr lang="en-US" sz="1300" b="0" u="none" strike="noStrike">
                <a:solidFill>
                  <a:srgbClr val="D6DEEC"/>
                </a:solidFill>
                <a:effectLst/>
                <a:uFillTx/>
                <a:latin typeface="Calibri"/>
                <a:ea typeface="Calibri"/>
              </a:rPr>
              <a:t>This tumor carries mutations in POLE (2), MSH6 (1), MLH1 (1), and PMS2 (1): the genes that proofread and repair DNA during replication. Damage one of them and every subsequent cell division adds mutations no repair pathway catches. That is a hypermutator phenotype, a</a:t>
            </a:r>
            <a:r>
              <a:rPr lang="en-US" sz="1300" b="0" u="none" strike="noStrike">
                <a:solidFill>
                  <a:srgbClr val="D6DEEC"/>
                </a:solidFill>
                <a:effectLst/>
                <a:uFillTx/>
                <a:latin typeface="Calibri"/>
                <a:ea typeface="Calibri"/>
              </a:rPr>
              <a:t>nd this is exactly why this tumor had so many more variations as compared to the median</a:t>
            </a:r>
            <a:r>
              <a:rPr lang="en-US" sz="1300" b="0" u="none" strike="noStrike">
                <a:solidFill>
                  <a:srgbClr val="D6DEEC"/>
                </a:solidFill>
                <a:effectLst/>
                <a:uFillTx/>
                <a:latin typeface="Calibri"/>
                <a:ea typeface="Calibri"/>
              </a:rPr>
              <a:t>.</a:t>
            </a:r>
            <a:endParaRPr lang="en-US" sz="1300" b="0" u="none" strike="noStrike">
              <a:solidFill>
                <a:srgbClr val="FFFFFF"/>
              </a:solidFill>
              <a:effectLst/>
              <a:uFillTx/>
              <a:latin typeface="Arial"/>
            </a:endParaRPr>
          </a:p>
        </p:txBody>
      </p:sp>
      <p:sp>
        <p:nvSpPr>
          <p:cNvPr id="111" name=""/>
          <p:cNvSpPr txBox="1"/>
          <p:nvPr/>
        </p:nvSpPr>
        <p:spPr>
          <a:xfrm>
            <a:off x="548640" y="5074920"/>
            <a:ext cx="10789920" cy="731520"/>
          </a:xfrm>
          <a:prstGeom prst="rect">
            <a:avLst/>
          </a:prstGeom>
          <a:noFill/>
          <a:ln w="0">
            <a:noFill/>
          </a:ln>
        </p:spPr>
        <p:txBody>
          <a:bodyPr lIns="90000" tIns="45000" rIns="90000" bIns="45000" anchor="t">
            <a:spAutoFit/>
          </a:bodyPr>
          <a:p>
            <a:pPr>
              <a:lnSpc>
                <a:spcPct val="125000"/>
              </a:lnSpc>
            </a:pPr>
            <a:r>
              <a:rPr lang="en-US" sz="1200" b="0" u="none" strike="noStrike">
                <a:solidFill>
                  <a:srgbClr val="9FB0CE"/>
                </a:solidFill>
                <a:effectLst/>
                <a:uFillTx/>
                <a:latin typeface="Calibri"/>
                <a:ea typeface="Calibri"/>
              </a:rPr>
              <a:t>Most mutated genes overall in this tumor: TTN (38), DST (17), SYNE1 (11), RYR2 (10). These are large genes that pick up passenger mutations at a rate proportional to how hypermutated the tumor already is</a:t>
            </a:r>
            <a:r>
              <a:rPr lang="en-US" sz="1200" b="0" u="none" strike="noStrike">
                <a:solidFill>
                  <a:srgbClr val="9FB0CE"/>
                </a:solidFill>
                <a:effectLst/>
                <a:uFillTx/>
                <a:latin typeface="Calibri"/>
                <a:ea typeface="Calibri"/>
              </a:rPr>
              <a:t>.</a:t>
            </a:r>
            <a:endParaRPr lang="en-US" sz="1200" b="0" u="none" strike="noStrike">
              <a:solidFill>
                <a:srgbClr val="FFFFFF"/>
              </a:solidFill>
              <a:effectLst/>
              <a:uFillTx/>
              <a:latin typeface="Arial"/>
            </a:endParaRPr>
          </a:p>
        </p:txBody>
      </p:sp>
      <p:sp>
        <p:nvSpPr>
          <p:cNvPr id="112" name=""/>
          <p:cNvSpPr txBox="1"/>
          <p:nvPr/>
        </p:nvSpPr>
        <p:spPr>
          <a:xfrm>
            <a:off x="11368840" y="6446520"/>
            <a:ext cx="500000" cy="300000"/>
          </a:xfrm>
          <a:prstGeom prst="rect">
            <a:avLst/>
          </a:prstGeom>
          <a:noFill/>
          <a:ln w="0">
            <a:noFill/>
          </a:ln>
        </p:spPr>
        <p:txBody>
          <a:bodyPr lIns="90000" tIns="45000" rIns="90000" bIns="45000" anchor="t">
            <a:spAutoFit/>
          </a:bodyPr>
          <a:p>
            <a:pPr algn="r"/>
            <a:r>
              <a:rPr lang="en-US" sz="1000" b="0" u="none" strike="noStrike">
                <a:solidFill>
                  <a:srgbClr val="7B8AA5"/>
                </a:solidFill>
                <a:effectLst/>
                <a:uFillTx/>
                <a:latin typeface="Calibri"/>
                <a:ea typeface="Calibri"/>
              </a:rPr>
              <a:t>9</a:t>
            </a:r>
            <a:endParaRPr lang="en-US" sz="10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13" name=""/>
          <p:cNvSpPr txBox="1"/>
          <p:nvPr/>
        </p:nvSpPr>
        <p:spPr>
          <a:xfrm>
            <a:off x="548640" y="384120"/>
            <a:ext cx="7315200" cy="292680"/>
          </a:xfrm>
          <a:prstGeom prst="rect">
            <a:avLst/>
          </a:prstGeom>
          <a:noFill/>
          <a:ln w="0">
            <a:noFill/>
          </a:ln>
        </p:spPr>
        <p:txBody>
          <a:bodyPr lIns="90000" tIns="45000" rIns="90000" bIns="45000" anchor="t">
            <a:spAutoFit/>
          </a:bodyPr>
          <a:p>
            <a:r>
              <a:rPr lang="en-US" sz="1200" b="1" u="none" spc="201" strike="noStrike">
                <a:solidFill>
                  <a:srgbClr val="E76C4E"/>
                </a:solidFill>
                <a:effectLst/>
                <a:uFillTx/>
                <a:latin typeface="Calibri-Bold"/>
                <a:ea typeface="Calibri-Bold"/>
              </a:rPr>
              <a:t>MODEL BEHAVIOR</a:t>
            </a:r>
            <a:endParaRPr lang="en-US" sz="1200" b="0" u="none" strike="noStrike">
              <a:solidFill>
                <a:srgbClr val="000000"/>
              </a:solidFill>
              <a:effectLst/>
              <a:uFillTx/>
              <a:latin typeface="Arial"/>
            </a:endParaRPr>
          </a:p>
        </p:txBody>
      </p:sp>
      <p:sp>
        <p:nvSpPr>
          <p:cNvPr id="114" name=""/>
          <p:cNvSpPr txBox="1"/>
          <p:nvPr/>
        </p:nvSpPr>
        <p:spPr>
          <a:xfrm>
            <a:off x="548640" y="658440"/>
            <a:ext cx="10789920" cy="777240"/>
          </a:xfrm>
          <a:prstGeom prst="rect">
            <a:avLst/>
          </a:prstGeom>
          <a:noFill/>
          <a:ln w="0">
            <a:noFill/>
          </a:ln>
        </p:spPr>
        <p:txBody>
          <a:bodyPr lIns="90000" tIns="45000" rIns="90000" bIns="45000" anchor="t">
            <a:spAutoFit/>
          </a:bodyPr>
          <a:p>
            <a:r>
              <a:rPr lang="en-US" sz="3000" b="1" u="none" strike="noStrike">
                <a:solidFill>
                  <a:srgbClr val="1F242E"/>
                </a:solidFill>
                <a:effectLst/>
                <a:uFillTx/>
                <a:latin typeface="Cambria-Bold"/>
                <a:ea typeface="Cambria-Bold"/>
              </a:rPr>
              <a:t>What the Model Gets Right, and What It Doesn't</a:t>
            </a:r>
            <a:endParaRPr lang="en-US" sz="3000" b="0" u="none" strike="noStrike">
              <a:solidFill>
                <a:srgbClr val="000000"/>
              </a:solidFill>
              <a:effectLst/>
              <a:uFillTx/>
              <a:latin typeface="Arial"/>
            </a:endParaRPr>
          </a:p>
        </p:txBody>
      </p:sp>
      <p:pic>
        <p:nvPicPr>
          <p:cNvPr id="115" name=""/>
          <p:cNvPicPr/>
          <p:nvPr/>
        </p:nvPicPr>
        <p:blipFill>
          <a:blip r:embed="rId1"/>
          <a:stretch/>
        </p:blipFill>
        <p:spPr>
          <a:xfrm>
            <a:off x="745200" y="2377440"/>
            <a:ext cx="10698480" cy="3291840"/>
          </a:xfrm>
          <a:prstGeom prst="rect">
            <a:avLst/>
          </a:prstGeom>
          <a:noFill/>
          <a:ln w="0">
            <a:noFill/>
          </a:ln>
        </p:spPr>
      </p:pic>
      <p:sp>
        <p:nvSpPr>
          <p:cNvPr id="116" name=""/>
          <p:cNvSpPr txBox="1"/>
          <p:nvPr/>
        </p:nvSpPr>
        <p:spPr>
          <a:xfrm>
            <a:off x="11368840" y="6446520"/>
            <a:ext cx="500000" cy="300000"/>
          </a:xfrm>
          <a:prstGeom prst="rect">
            <a:avLst/>
          </a:prstGeom>
          <a:noFill/>
          <a:ln w="0">
            <a:noFill/>
          </a:ln>
        </p:spPr>
        <p:txBody>
          <a:bodyPr lIns="90000" tIns="45000" rIns="90000" bIns="45000" anchor="t">
            <a:spAutoFit/>
          </a:bodyPr>
          <a:p>
            <a:pPr algn="r"/>
            <a:r>
              <a:rPr lang="en-US" sz="1000" b="0" u="none" strike="noStrike">
                <a:solidFill>
                  <a:srgbClr val="8D99AE"/>
                </a:solidFill>
                <a:effectLst/>
                <a:uFillTx/>
                <a:latin typeface="Calibri"/>
                <a:ea typeface="Calibri"/>
              </a:rPr>
              <a:t>10</a:t>
            </a:r>
            <a:endParaRPr lang="en-US"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17" name=""/>
          <p:cNvSpPr txBox="1"/>
          <p:nvPr/>
        </p:nvSpPr>
        <p:spPr>
          <a:xfrm>
            <a:off x="548640" y="384120"/>
            <a:ext cx="7315200" cy="292680"/>
          </a:xfrm>
          <a:prstGeom prst="rect">
            <a:avLst/>
          </a:prstGeom>
          <a:noFill/>
          <a:ln w="0">
            <a:noFill/>
          </a:ln>
        </p:spPr>
        <p:txBody>
          <a:bodyPr lIns="90000" tIns="45000" rIns="90000" bIns="45000" anchor="t">
            <a:spAutoFit/>
          </a:bodyPr>
          <a:p>
            <a:r>
              <a:rPr lang="en-US" sz="1200" b="1" u="none" spc="201" strike="noStrike">
                <a:solidFill>
                  <a:srgbClr val="E76C4E"/>
                </a:solidFill>
                <a:effectLst/>
                <a:uFillTx/>
                <a:latin typeface="Calibri-Bold"/>
                <a:ea typeface="Calibri-Bold"/>
              </a:rPr>
              <a:t>THE RECLASSIFICATION MODEL</a:t>
            </a:r>
            <a:endParaRPr lang="en-US" sz="1200" b="0" u="none" strike="noStrike">
              <a:solidFill>
                <a:srgbClr val="000000"/>
              </a:solidFill>
              <a:effectLst/>
              <a:uFillTx/>
              <a:latin typeface="Arial"/>
            </a:endParaRPr>
          </a:p>
        </p:txBody>
      </p:sp>
      <p:sp>
        <p:nvSpPr>
          <p:cNvPr id="118" name=""/>
          <p:cNvSpPr txBox="1"/>
          <p:nvPr/>
        </p:nvSpPr>
        <p:spPr>
          <a:xfrm>
            <a:off x="548640" y="658440"/>
            <a:ext cx="10789920" cy="977400"/>
          </a:xfrm>
          <a:prstGeom prst="rect">
            <a:avLst/>
          </a:prstGeom>
          <a:noFill/>
          <a:ln w="0">
            <a:noFill/>
          </a:ln>
        </p:spPr>
        <p:txBody>
          <a:bodyPr lIns="90000" tIns="45000" rIns="90000" bIns="45000" anchor="t">
            <a:spAutoFit/>
          </a:bodyPr>
          <a:p>
            <a:r>
              <a:rPr lang="en-US" sz="3000" b="1" u="none" strike="noStrike">
                <a:solidFill>
                  <a:srgbClr val="1F242E"/>
                </a:solidFill>
                <a:effectLst/>
                <a:uFillTx/>
                <a:latin typeface="Cambria-Bold"/>
                <a:ea typeface="Cambria-Bold"/>
              </a:rPr>
              <a:t>How the Model Learns What 'Likely to Resolve' Means</a:t>
            </a:r>
            <a:endParaRPr lang="en-US" sz="3000" b="0" u="none" strike="noStrike">
              <a:solidFill>
                <a:srgbClr val="000000"/>
              </a:solidFill>
              <a:effectLst/>
              <a:uFillTx/>
              <a:latin typeface="Arial"/>
            </a:endParaRPr>
          </a:p>
        </p:txBody>
      </p:sp>
      <p:sp>
        <p:nvSpPr>
          <p:cNvPr id="119" name=""/>
          <p:cNvSpPr txBox="1"/>
          <p:nvPr/>
        </p:nvSpPr>
        <p:spPr>
          <a:xfrm>
            <a:off x="548640" y="1417320"/>
            <a:ext cx="10789920" cy="548640"/>
          </a:xfrm>
          <a:prstGeom prst="rect">
            <a:avLst/>
          </a:prstGeom>
          <a:noFill/>
          <a:ln w="0">
            <a:noFill/>
          </a:ln>
        </p:spPr>
        <p:txBody>
          <a:bodyPr lIns="90000" tIns="45000" rIns="90000" bIns="45000" anchor="t">
            <a:spAutoFit/>
          </a:bodyPr>
          <a:p>
            <a:pPr>
              <a:lnSpc>
                <a:spcPct val="125000"/>
              </a:lnSpc>
            </a:pPr>
            <a:r>
              <a:rPr lang="en-US" sz="1300" b="0" u="none" strike="noStrike">
                <a:solidFill>
                  <a:srgbClr val="475265"/>
                </a:solidFill>
                <a:effectLst/>
                <a:uFillTx/>
                <a:latin typeface="Calibri"/>
                <a:ea typeface="Calibri"/>
              </a:rPr>
              <a:t>Ground truth comes from comparing two ClinVar snapshots: everything that was a VUS in 2019, checked against what it became by 2026</a:t>
            </a:r>
            <a:r>
              <a:rPr lang="en-US" sz="1300" b="0" u="none" strike="noStrike">
                <a:solidFill>
                  <a:srgbClr val="475265"/>
                </a:solidFill>
                <a:effectLst/>
                <a:uFillTx/>
                <a:latin typeface="Calibri"/>
                <a:ea typeface="Calibri"/>
              </a:rPr>
              <a:t>:</a:t>
            </a:r>
            <a:endParaRPr lang="en-US" sz="1300" b="0" u="none" strike="noStrike">
              <a:solidFill>
                <a:srgbClr val="000000"/>
              </a:solidFill>
              <a:effectLst/>
              <a:uFillTx/>
              <a:latin typeface="Arial"/>
            </a:endParaRPr>
          </a:p>
        </p:txBody>
      </p:sp>
      <p:sp>
        <p:nvSpPr>
          <p:cNvPr id="120" name=""/>
          <p:cNvSpPr/>
          <p:nvPr/>
        </p:nvSpPr>
        <p:spPr>
          <a:xfrm>
            <a:off x="548640" y="2286000"/>
            <a:ext cx="3456720" cy="1371960"/>
          </a:xfrm>
          <a:custGeom>
            <a:avLst/>
            <a:gdLst/>
            <a:ahLst/>
            <a:rect l="0" t="0" r="r" b="b"/>
            <a:pathLst>
              <a:path w="9602" h="3811">
                <a:moveTo>
                  <a:pt x="9373" y="0"/>
                </a:moveTo>
                <a:cubicBezTo>
                  <a:pt x="9526" y="0"/>
                  <a:pt x="9602" y="76"/>
                  <a:pt x="9602" y="228"/>
                </a:cubicBezTo>
                <a:lnTo>
                  <a:pt x="9602" y="3582"/>
                </a:lnTo>
                <a:cubicBezTo>
                  <a:pt x="9602" y="3735"/>
                  <a:pt x="9526" y="3811"/>
                  <a:pt x="9373" y="3811"/>
                </a:cubicBezTo>
                <a:lnTo>
                  <a:pt x="228" y="3811"/>
                </a:lnTo>
                <a:cubicBezTo>
                  <a:pt x="76" y="3811"/>
                  <a:pt x="0" y="3735"/>
                  <a:pt x="0" y="3582"/>
                </a:cubicBezTo>
                <a:lnTo>
                  <a:pt x="0" y="228"/>
                </a:lnTo>
                <a:cubicBezTo>
                  <a:pt x="0" y="76"/>
                  <a:pt x="76" y="0"/>
                  <a:pt x="228" y="0"/>
                </a:cubicBezTo>
                <a:lnTo>
                  <a:pt x="9373" y="0"/>
                </a:lnTo>
                <a:close/>
              </a:path>
            </a:pathLst>
          </a:custGeom>
          <a:solidFill>
            <a:srgbClr val="F5F7FA"/>
          </a:solidFill>
          <a:ln w="12600">
            <a:solidFill>
              <a:srgbClr val="E2E7EF"/>
            </a:solidFill>
            <a:round/>
          </a:ln>
        </p:spPr>
        <p:txBody>
          <a:bodyPr lIns="96120" tIns="51120" rIns="96120" bIns="51120" anchor="t">
            <a:noAutofit/>
          </a:bodyPr>
          <a:p>
            <a:endParaRPr lang="en-US" sz="1800" b="0" u="none" strike="noStrike">
              <a:solidFill>
                <a:srgbClr val="000000"/>
              </a:solidFill>
              <a:effectLst/>
              <a:uFillTx/>
              <a:latin typeface="Arial"/>
            </a:endParaRPr>
          </a:p>
        </p:txBody>
      </p:sp>
      <p:sp>
        <p:nvSpPr>
          <p:cNvPr id="121" name=""/>
          <p:cNvSpPr txBox="1"/>
          <p:nvPr/>
        </p:nvSpPr>
        <p:spPr>
          <a:xfrm>
            <a:off x="658440" y="2395800"/>
            <a:ext cx="3237120" cy="754560"/>
          </a:xfrm>
          <a:prstGeom prst="rect">
            <a:avLst/>
          </a:prstGeom>
          <a:noFill/>
          <a:ln w="0">
            <a:noFill/>
          </a:ln>
        </p:spPr>
        <p:txBody>
          <a:bodyPr lIns="90000" tIns="45000" rIns="90000" bIns="45000" anchor="t">
            <a:spAutoFit/>
          </a:bodyPr>
          <a:p>
            <a:r>
              <a:rPr lang="en-US" sz="3000" b="1" u="none" strike="noStrike">
                <a:solidFill>
                  <a:srgbClr val="1C375C"/>
                </a:solidFill>
                <a:effectLst/>
                <a:uFillTx/>
                <a:latin typeface="Cambria-Bold"/>
                <a:ea typeface="Cambria-Bold"/>
              </a:rPr>
              <a:t>212,782</a:t>
            </a:r>
            <a:endParaRPr lang="en-US" sz="3000" b="0" u="none" strike="noStrike">
              <a:solidFill>
                <a:srgbClr val="000000"/>
              </a:solidFill>
              <a:effectLst/>
              <a:uFillTx/>
              <a:latin typeface="Arial"/>
            </a:endParaRPr>
          </a:p>
        </p:txBody>
      </p:sp>
      <p:sp>
        <p:nvSpPr>
          <p:cNvPr id="122" name=""/>
          <p:cNvSpPr txBox="1"/>
          <p:nvPr/>
        </p:nvSpPr>
        <p:spPr>
          <a:xfrm>
            <a:off x="658440" y="3108960"/>
            <a:ext cx="3237120" cy="521280"/>
          </a:xfrm>
          <a:prstGeom prst="rect">
            <a:avLst/>
          </a:prstGeom>
          <a:noFill/>
          <a:ln w="0">
            <a:noFill/>
          </a:ln>
        </p:spPr>
        <p:txBody>
          <a:bodyPr lIns="90000" tIns="45000" rIns="90000" bIns="45000" anchor="t">
            <a:spAutoFit/>
          </a:bodyPr>
          <a:p>
            <a:r>
              <a:rPr lang="en-US" sz="1100" b="0" u="none" strike="noStrike">
                <a:solidFill>
                  <a:srgbClr val="475265"/>
                </a:solidFill>
                <a:effectLst/>
                <a:uFillTx/>
                <a:latin typeface="Calibri"/>
                <a:ea typeface="Calibri"/>
              </a:rPr>
              <a:t>VUS tracked across both snapshots</a:t>
            </a:r>
            <a:endParaRPr lang="en-US" sz="1100" b="0" u="none" strike="noStrike">
              <a:solidFill>
                <a:srgbClr val="000000"/>
              </a:solidFill>
              <a:effectLst/>
              <a:uFillTx/>
              <a:latin typeface="Arial"/>
            </a:endParaRPr>
          </a:p>
        </p:txBody>
      </p:sp>
      <p:sp>
        <p:nvSpPr>
          <p:cNvPr id="123" name=""/>
          <p:cNvSpPr/>
          <p:nvPr/>
        </p:nvSpPr>
        <p:spPr>
          <a:xfrm>
            <a:off x="4187880" y="2286000"/>
            <a:ext cx="3456720" cy="1371960"/>
          </a:xfrm>
          <a:custGeom>
            <a:avLst/>
            <a:gdLst/>
            <a:ahLst/>
            <a:rect l="0" t="0" r="r" b="b"/>
            <a:pathLst>
              <a:path w="9602" h="3811">
                <a:moveTo>
                  <a:pt x="9373" y="0"/>
                </a:moveTo>
                <a:cubicBezTo>
                  <a:pt x="9526" y="0"/>
                  <a:pt x="9602" y="76"/>
                  <a:pt x="9602" y="228"/>
                </a:cubicBezTo>
                <a:lnTo>
                  <a:pt x="9602" y="3582"/>
                </a:lnTo>
                <a:cubicBezTo>
                  <a:pt x="9602" y="3735"/>
                  <a:pt x="9526" y="3811"/>
                  <a:pt x="9373" y="3811"/>
                </a:cubicBezTo>
                <a:lnTo>
                  <a:pt x="228" y="3811"/>
                </a:lnTo>
                <a:cubicBezTo>
                  <a:pt x="76" y="3811"/>
                  <a:pt x="0" y="3735"/>
                  <a:pt x="0" y="3582"/>
                </a:cubicBezTo>
                <a:lnTo>
                  <a:pt x="0" y="228"/>
                </a:lnTo>
                <a:cubicBezTo>
                  <a:pt x="0" y="76"/>
                  <a:pt x="76" y="0"/>
                  <a:pt x="228" y="0"/>
                </a:cubicBezTo>
                <a:lnTo>
                  <a:pt x="9373" y="0"/>
                </a:lnTo>
                <a:close/>
              </a:path>
            </a:pathLst>
          </a:custGeom>
          <a:solidFill>
            <a:srgbClr val="F5F7FA"/>
          </a:solidFill>
          <a:ln w="12600">
            <a:solidFill>
              <a:srgbClr val="E2E7EF"/>
            </a:solidFill>
            <a:round/>
          </a:ln>
        </p:spPr>
        <p:txBody>
          <a:bodyPr lIns="96120" tIns="51120" rIns="96120" bIns="51120" anchor="t">
            <a:noAutofit/>
          </a:bodyPr>
          <a:p>
            <a:endParaRPr lang="en-US" sz="1800" b="0" u="none" strike="noStrike">
              <a:solidFill>
                <a:srgbClr val="000000"/>
              </a:solidFill>
              <a:effectLst/>
              <a:uFillTx/>
              <a:latin typeface="Arial"/>
            </a:endParaRPr>
          </a:p>
        </p:txBody>
      </p:sp>
      <p:sp>
        <p:nvSpPr>
          <p:cNvPr id="124" name=""/>
          <p:cNvSpPr txBox="1"/>
          <p:nvPr/>
        </p:nvSpPr>
        <p:spPr>
          <a:xfrm>
            <a:off x="4297680" y="2395800"/>
            <a:ext cx="3237120" cy="754560"/>
          </a:xfrm>
          <a:prstGeom prst="rect">
            <a:avLst/>
          </a:prstGeom>
          <a:noFill/>
          <a:ln w="0">
            <a:noFill/>
          </a:ln>
        </p:spPr>
        <p:txBody>
          <a:bodyPr lIns="90000" tIns="45000" rIns="90000" bIns="45000" anchor="t">
            <a:spAutoFit/>
          </a:bodyPr>
          <a:p>
            <a:r>
              <a:rPr lang="en-US" sz="3000" b="1" u="none" strike="noStrike">
                <a:solidFill>
                  <a:srgbClr val="1C375C"/>
                </a:solidFill>
                <a:effectLst/>
                <a:uFillTx/>
                <a:latin typeface="Cambria-Bold"/>
                <a:ea typeface="Cambria-Bold"/>
              </a:rPr>
              <a:t>7.02%</a:t>
            </a:r>
            <a:endParaRPr lang="en-US" sz="3000" b="0" u="none" strike="noStrike">
              <a:solidFill>
                <a:srgbClr val="000000"/>
              </a:solidFill>
              <a:effectLst/>
              <a:uFillTx/>
              <a:latin typeface="Arial"/>
            </a:endParaRPr>
          </a:p>
        </p:txBody>
      </p:sp>
      <p:sp>
        <p:nvSpPr>
          <p:cNvPr id="125" name=""/>
          <p:cNvSpPr txBox="1"/>
          <p:nvPr/>
        </p:nvSpPr>
        <p:spPr>
          <a:xfrm>
            <a:off x="4297680" y="3108960"/>
            <a:ext cx="3237120" cy="521280"/>
          </a:xfrm>
          <a:prstGeom prst="rect">
            <a:avLst/>
          </a:prstGeom>
          <a:noFill/>
          <a:ln w="0">
            <a:noFill/>
          </a:ln>
        </p:spPr>
        <p:txBody>
          <a:bodyPr lIns="90000" tIns="45000" rIns="90000" bIns="45000" anchor="t">
            <a:spAutoFit/>
          </a:bodyPr>
          <a:p>
            <a:r>
              <a:rPr lang="en-US" sz="1100" b="0" u="none" strike="noStrike">
                <a:solidFill>
                  <a:srgbClr val="475265"/>
                </a:solidFill>
                <a:effectLst/>
                <a:uFillTx/>
                <a:latin typeface="Calibri"/>
                <a:ea typeface="Calibri"/>
              </a:rPr>
              <a:t>were reclassified within that window</a:t>
            </a:r>
            <a:endParaRPr lang="en-US" sz="1100" b="0" u="none" strike="noStrike">
              <a:solidFill>
                <a:srgbClr val="000000"/>
              </a:solidFill>
              <a:effectLst/>
              <a:uFillTx/>
              <a:latin typeface="Arial"/>
            </a:endParaRPr>
          </a:p>
        </p:txBody>
      </p:sp>
      <p:sp>
        <p:nvSpPr>
          <p:cNvPr id="126" name=""/>
          <p:cNvSpPr/>
          <p:nvPr/>
        </p:nvSpPr>
        <p:spPr>
          <a:xfrm>
            <a:off x="7827120" y="2286000"/>
            <a:ext cx="3456720" cy="1371960"/>
          </a:xfrm>
          <a:custGeom>
            <a:avLst/>
            <a:gdLst/>
            <a:ahLst/>
            <a:rect l="0" t="0" r="r" b="b"/>
            <a:pathLst>
              <a:path w="9602" h="3811">
                <a:moveTo>
                  <a:pt x="9373" y="0"/>
                </a:moveTo>
                <a:cubicBezTo>
                  <a:pt x="9526" y="0"/>
                  <a:pt x="9602" y="76"/>
                  <a:pt x="9602" y="228"/>
                </a:cubicBezTo>
                <a:lnTo>
                  <a:pt x="9602" y="3582"/>
                </a:lnTo>
                <a:cubicBezTo>
                  <a:pt x="9602" y="3735"/>
                  <a:pt x="9526" y="3811"/>
                  <a:pt x="9373" y="3811"/>
                </a:cubicBezTo>
                <a:lnTo>
                  <a:pt x="228" y="3811"/>
                </a:lnTo>
                <a:cubicBezTo>
                  <a:pt x="76" y="3811"/>
                  <a:pt x="0" y="3735"/>
                  <a:pt x="0" y="3582"/>
                </a:cubicBezTo>
                <a:lnTo>
                  <a:pt x="0" y="228"/>
                </a:lnTo>
                <a:cubicBezTo>
                  <a:pt x="0" y="76"/>
                  <a:pt x="76" y="0"/>
                  <a:pt x="228" y="0"/>
                </a:cubicBezTo>
                <a:lnTo>
                  <a:pt x="9373" y="0"/>
                </a:lnTo>
                <a:close/>
              </a:path>
            </a:pathLst>
          </a:custGeom>
          <a:solidFill>
            <a:srgbClr val="F5F7FA"/>
          </a:solidFill>
          <a:ln w="12600">
            <a:solidFill>
              <a:srgbClr val="E2E7EF"/>
            </a:solidFill>
            <a:round/>
          </a:ln>
        </p:spPr>
        <p:txBody>
          <a:bodyPr lIns="96120" tIns="51120" rIns="96120" bIns="51120" anchor="t">
            <a:noAutofit/>
          </a:bodyPr>
          <a:p>
            <a:endParaRPr lang="en-US" sz="1800" b="0" u="none" strike="noStrike">
              <a:solidFill>
                <a:srgbClr val="000000"/>
              </a:solidFill>
              <a:effectLst/>
              <a:uFillTx/>
              <a:latin typeface="Arial"/>
            </a:endParaRPr>
          </a:p>
        </p:txBody>
      </p:sp>
      <p:sp>
        <p:nvSpPr>
          <p:cNvPr id="127" name=""/>
          <p:cNvSpPr txBox="1"/>
          <p:nvPr/>
        </p:nvSpPr>
        <p:spPr>
          <a:xfrm>
            <a:off x="7936920" y="2395800"/>
            <a:ext cx="3237120" cy="754560"/>
          </a:xfrm>
          <a:prstGeom prst="rect">
            <a:avLst/>
          </a:prstGeom>
          <a:noFill/>
          <a:ln w="0">
            <a:noFill/>
          </a:ln>
        </p:spPr>
        <p:txBody>
          <a:bodyPr lIns="90000" tIns="45000" rIns="90000" bIns="45000" anchor="t">
            <a:spAutoFit/>
          </a:bodyPr>
          <a:p>
            <a:r>
              <a:rPr lang="en-US" sz="3000" b="1" u="none" strike="noStrike">
                <a:solidFill>
                  <a:srgbClr val="1C375C"/>
                </a:solidFill>
                <a:effectLst/>
                <a:uFillTx/>
                <a:latin typeface="Cambria-Bold"/>
                <a:ea typeface="Cambria-Bold"/>
              </a:rPr>
              <a:t>195,127</a:t>
            </a:r>
            <a:endParaRPr lang="en-US" sz="3000" b="0" u="none" strike="noStrike">
              <a:solidFill>
                <a:srgbClr val="000000"/>
              </a:solidFill>
              <a:effectLst/>
              <a:uFillTx/>
              <a:latin typeface="Arial"/>
            </a:endParaRPr>
          </a:p>
        </p:txBody>
      </p:sp>
      <p:sp>
        <p:nvSpPr>
          <p:cNvPr id="128" name=""/>
          <p:cNvSpPr txBox="1"/>
          <p:nvPr/>
        </p:nvSpPr>
        <p:spPr>
          <a:xfrm>
            <a:off x="7936920" y="3108960"/>
            <a:ext cx="3237120" cy="521280"/>
          </a:xfrm>
          <a:prstGeom prst="rect">
            <a:avLst/>
          </a:prstGeom>
          <a:noFill/>
          <a:ln w="0">
            <a:noFill/>
          </a:ln>
        </p:spPr>
        <p:txBody>
          <a:bodyPr lIns="90000" tIns="45000" rIns="90000" bIns="45000" anchor="t">
            <a:spAutoFit/>
          </a:bodyPr>
          <a:p>
            <a:r>
              <a:rPr lang="en-US" sz="1100" b="0" u="none" strike="noStrike">
                <a:solidFill>
                  <a:srgbClr val="475265"/>
                </a:solidFill>
                <a:effectLst/>
                <a:uFillTx/>
                <a:latin typeface="Calibri"/>
                <a:ea typeface="Calibri"/>
              </a:rPr>
              <a:t>kept usable GRCh38 coordinates for training</a:t>
            </a:r>
            <a:endParaRPr lang="en-US" sz="1100" b="0" u="none" strike="noStrike">
              <a:solidFill>
                <a:srgbClr val="000000"/>
              </a:solidFill>
              <a:effectLst/>
              <a:uFillTx/>
              <a:latin typeface="Arial"/>
            </a:endParaRPr>
          </a:p>
        </p:txBody>
      </p:sp>
      <p:sp>
        <p:nvSpPr>
          <p:cNvPr id="129" name=""/>
          <p:cNvSpPr txBox="1"/>
          <p:nvPr/>
        </p:nvSpPr>
        <p:spPr>
          <a:xfrm>
            <a:off x="548640" y="4114800"/>
            <a:ext cx="10789920" cy="822960"/>
          </a:xfrm>
          <a:prstGeom prst="rect">
            <a:avLst/>
          </a:prstGeom>
          <a:noFill/>
          <a:ln w="0">
            <a:noFill/>
          </a:ln>
        </p:spPr>
        <p:txBody>
          <a:bodyPr lIns="90000" tIns="45000" rIns="90000" bIns="45000" anchor="t">
            <a:spAutoFit/>
          </a:bodyPr>
          <a:p>
            <a:pPr>
              <a:lnSpc>
                <a:spcPct val="125000"/>
              </a:lnSpc>
            </a:pPr>
            <a:r>
              <a:rPr lang="en-US" sz="1300" b="0" u="none" strike="noStrike">
                <a:solidFill>
                  <a:srgbClr val="475265"/>
                </a:solidFill>
                <a:effectLst/>
                <a:uFillTx/>
                <a:latin typeface="Calibri"/>
                <a:ea typeface="Calibri"/>
              </a:rPr>
              <a:t>This is a historical, population-wide comparison. It is not a simulation, and it is not tied to any single patient's variant list. The model is trained once, on this label set, and then applied to score any VUS in ClinVar</a:t>
            </a:r>
            <a:r>
              <a:rPr lang="en-US" sz="1300" b="0" u="none" strike="noStrike">
                <a:solidFill>
                  <a:srgbClr val="475265"/>
                </a:solidFill>
                <a:effectLst/>
                <a:uFillTx/>
                <a:latin typeface="Calibri"/>
                <a:ea typeface="Calibri"/>
              </a:rPr>
              <a:t>.</a:t>
            </a:r>
            <a:endParaRPr lang="en-US" sz="1300" b="0" u="none" strike="noStrike">
              <a:solidFill>
                <a:srgbClr val="000000"/>
              </a:solidFill>
              <a:effectLst/>
              <a:uFillTx/>
              <a:latin typeface="Arial"/>
            </a:endParaRPr>
          </a:p>
        </p:txBody>
      </p:sp>
      <p:sp>
        <p:nvSpPr>
          <p:cNvPr id="130" name=""/>
          <p:cNvSpPr txBox="1"/>
          <p:nvPr/>
        </p:nvSpPr>
        <p:spPr>
          <a:xfrm>
            <a:off x="11368840" y="6446520"/>
            <a:ext cx="500000" cy="300000"/>
          </a:xfrm>
          <a:prstGeom prst="rect">
            <a:avLst/>
          </a:prstGeom>
          <a:noFill/>
          <a:ln w="0">
            <a:noFill/>
          </a:ln>
        </p:spPr>
        <p:txBody>
          <a:bodyPr lIns="90000" tIns="45000" rIns="90000" bIns="45000" anchor="t">
            <a:spAutoFit/>
          </a:bodyPr>
          <a:p>
            <a:pPr algn="r"/>
            <a:r>
              <a:rPr lang="en-US" sz="1000" b="0" u="none" strike="noStrike">
                <a:solidFill>
                  <a:srgbClr val="8D99AE"/>
                </a:solidFill>
                <a:effectLst/>
                <a:uFillTx/>
                <a:latin typeface="Calibri"/>
                <a:ea typeface="Calibri"/>
              </a:rPr>
              <a:t>1</a:t>
            </a:r>
            <a:r>
              <a:rPr lang="en-US" sz="1000" b="0" u="none" strike="noStrike">
                <a:solidFill>
                  <a:srgbClr val="8D99AE"/>
                </a:solidFill>
                <a:effectLst/>
                <a:uFillTx/>
                <a:latin typeface="Calibri"/>
                <a:ea typeface="Calibri"/>
              </a:rPr>
              <a:t>1</a:t>
            </a:r>
            <a:endParaRPr lang="en-US"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31" name=""/>
          <p:cNvSpPr txBox="1"/>
          <p:nvPr/>
        </p:nvSpPr>
        <p:spPr>
          <a:xfrm>
            <a:off x="548640" y="384120"/>
            <a:ext cx="7315200" cy="292680"/>
          </a:xfrm>
          <a:prstGeom prst="rect">
            <a:avLst/>
          </a:prstGeom>
          <a:noFill/>
          <a:ln w="0">
            <a:noFill/>
          </a:ln>
        </p:spPr>
        <p:txBody>
          <a:bodyPr lIns="90000" tIns="45000" rIns="90000" bIns="45000" anchor="t">
            <a:spAutoFit/>
          </a:bodyPr>
          <a:p>
            <a:r>
              <a:rPr lang="en-US" sz="1200" b="1" u="none" spc="201" strike="noStrike">
                <a:solidFill>
                  <a:srgbClr val="E76C4E"/>
                </a:solidFill>
                <a:effectLst/>
                <a:uFillTx/>
                <a:latin typeface="Calibri-Bold"/>
                <a:ea typeface="Calibri-Bold"/>
              </a:rPr>
              <a:t>THE RECLASSIFICATION MODEL</a:t>
            </a:r>
            <a:endParaRPr lang="en-US" sz="1200" b="0" u="none" strike="noStrike">
              <a:solidFill>
                <a:srgbClr val="000000"/>
              </a:solidFill>
              <a:effectLst/>
              <a:uFillTx/>
              <a:latin typeface="Arial"/>
            </a:endParaRPr>
          </a:p>
        </p:txBody>
      </p:sp>
      <p:sp>
        <p:nvSpPr>
          <p:cNvPr id="132" name=""/>
          <p:cNvSpPr txBox="1"/>
          <p:nvPr/>
        </p:nvSpPr>
        <p:spPr>
          <a:xfrm>
            <a:off x="548640" y="658440"/>
            <a:ext cx="10789920" cy="777240"/>
          </a:xfrm>
          <a:prstGeom prst="rect">
            <a:avLst/>
          </a:prstGeom>
          <a:noFill/>
          <a:ln w="0">
            <a:noFill/>
          </a:ln>
        </p:spPr>
        <p:txBody>
          <a:bodyPr lIns="90000" tIns="45000" rIns="90000" bIns="45000" anchor="t">
            <a:spAutoFit/>
          </a:bodyPr>
          <a:p>
            <a:r>
              <a:rPr lang="en-US" sz="3000" b="1" u="none" strike="noStrike">
                <a:solidFill>
                  <a:srgbClr val="1F242E"/>
                </a:solidFill>
                <a:effectLst/>
                <a:uFillTx/>
                <a:latin typeface="Cambria-Bold"/>
                <a:ea typeface="Cambria-Bold"/>
              </a:rPr>
              <a:t>What Actually Moved the Model, Step By Step</a:t>
            </a:r>
            <a:endParaRPr lang="en-US" sz="3000" b="0" u="none" strike="noStrike">
              <a:solidFill>
                <a:srgbClr val="000000"/>
              </a:solidFill>
              <a:effectLst/>
              <a:uFillTx/>
              <a:latin typeface="Arial"/>
            </a:endParaRPr>
          </a:p>
        </p:txBody>
      </p:sp>
      <p:pic>
        <p:nvPicPr>
          <p:cNvPr id="133" name=""/>
          <p:cNvPicPr/>
          <p:nvPr/>
        </p:nvPicPr>
        <p:blipFill>
          <a:blip r:embed="rId1"/>
          <a:stretch/>
        </p:blipFill>
        <p:spPr>
          <a:xfrm>
            <a:off x="914400" y="1417320"/>
            <a:ext cx="10332720" cy="4572000"/>
          </a:xfrm>
          <a:prstGeom prst="rect">
            <a:avLst/>
          </a:prstGeom>
          <a:noFill/>
          <a:ln w="0">
            <a:noFill/>
          </a:ln>
        </p:spPr>
      </p:pic>
      <p:sp>
        <p:nvSpPr>
          <p:cNvPr id="134" name=""/>
          <p:cNvSpPr txBox="1"/>
          <p:nvPr/>
        </p:nvSpPr>
        <p:spPr>
          <a:xfrm>
            <a:off x="548640" y="6080760"/>
            <a:ext cx="10972800" cy="457200"/>
          </a:xfrm>
          <a:prstGeom prst="rect">
            <a:avLst/>
          </a:prstGeom>
          <a:noFill/>
          <a:ln w="0">
            <a:noFill/>
          </a:ln>
        </p:spPr>
        <p:txBody>
          <a:bodyPr lIns="90000" tIns="45000" rIns="90000" bIns="45000" anchor="t">
            <a:spAutoFit/>
          </a:bodyPr>
          <a:p>
            <a:pPr>
              <a:lnSpc>
                <a:spcPct val="125000"/>
              </a:lnSpc>
            </a:pPr>
            <a:r>
              <a:rPr lang="en-US" sz="1100" b="0" u="none" strike="noStrike">
                <a:solidFill>
                  <a:srgbClr val="475265"/>
                </a:solidFill>
                <a:effectLst/>
                <a:uFillTx/>
                <a:latin typeface="Calibri"/>
                <a:ea typeface="Calibri"/>
              </a:rPr>
              <a:t>The last jump came from switching to a model that handles gene identity natively instead of hand-encoding it. That recovered signal the earlier approach was leaving on the table; it wasn't a bigger dataset</a:t>
            </a:r>
            <a:r>
              <a:rPr lang="en-US" sz="1100" b="0" u="none" strike="noStrike">
                <a:solidFill>
                  <a:srgbClr val="475265"/>
                </a:solidFill>
                <a:effectLst/>
                <a:uFillTx/>
                <a:latin typeface="Calibri"/>
                <a:ea typeface="Calibri"/>
              </a:rPr>
              <a:t>.</a:t>
            </a:r>
            <a:endParaRPr lang="en-US" sz="1100" b="0" u="none" strike="noStrike">
              <a:solidFill>
                <a:srgbClr val="000000"/>
              </a:solidFill>
              <a:effectLst/>
              <a:uFillTx/>
              <a:latin typeface="Arial"/>
            </a:endParaRPr>
          </a:p>
        </p:txBody>
      </p:sp>
      <p:sp>
        <p:nvSpPr>
          <p:cNvPr id="135" name=""/>
          <p:cNvSpPr txBox="1"/>
          <p:nvPr/>
        </p:nvSpPr>
        <p:spPr>
          <a:xfrm>
            <a:off x="11368840" y="6446520"/>
            <a:ext cx="500000" cy="300000"/>
          </a:xfrm>
          <a:prstGeom prst="rect">
            <a:avLst/>
          </a:prstGeom>
          <a:noFill/>
          <a:ln w="0">
            <a:noFill/>
          </a:ln>
        </p:spPr>
        <p:txBody>
          <a:bodyPr lIns="90000" tIns="45000" rIns="90000" bIns="45000" anchor="t">
            <a:spAutoFit/>
          </a:bodyPr>
          <a:p>
            <a:pPr algn="r"/>
            <a:r>
              <a:rPr lang="en-US" sz="1000" b="0" u="none" strike="noStrike">
                <a:solidFill>
                  <a:srgbClr val="8D99AE"/>
                </a:solidFill>
                <a:effectLst/>
                <a:uFillTx/>
                <a:latin typeface="Calibri"/>
                <a:ea typeface="Calibri"/>
              </a:rPr>
              <a:t>1</a:t>
            </a:r>
            <a:r>
              <a:rPr lang="en-US" sz="1000" b="0" u="none" strike="noStrike">
                <a:solidFill>
                  <a:srgbClr val="8D99AE"/>
                </a:solidFill>
                <a:effectLst/>
                <a:uFillTx/>
                <a:latin typeface="Calibri"/>
                <a:ea typeface="Calibri"/>
              </a:rPr>
              <a:t>2</a:t>
            </a:r>
            <a:endParaRPr lang="en-US"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36" name=""/>
          <p:cNvSpPr txBox="1"/>
          <p:nvPr/>
        </p:nvSpPr>
        <p:spPr>
          <a:xfrm>
            <a:off x="548640" y="384120"/>
            <a:ext cx="7315200" cy="292680"/>
          </a:xfrm>
          <a:prstGeom prst="rect">
            <a:avLst/>
          </a:prstGeom>
          <a:noFill/>
          <a:ln w="0">
            <a:noFill/>
          </a:ln>
        </p:spPr>
        <p:txBody>
          <a:bodyPr lIns="90000" tIns="45000" rIns="90000" bIns="45000" anchor="t">
            <a:spAutoFit/>
          </a:bodyPr>
          <a:p>
            <a:r>
              <a:rPr lang="en-US" sz="1200" b="1" u="none" spc="201" strike="noStrike">
                <a:solidFill>
                  <a:srgbClr val="E76C4E"/>
                </a:solidFill>
                <a:effectLst/>
                <a:uFillTx/>
                <a:latin typeface="Calibri-Bold"/>
                <a:ea typeface="Calibri-Bold"/>
              </a:rPr>
              <a:t>THE RECLASSIFICATION MODEL</a:t>
            </a:r>
            <a:endParaRPr lang="en-US" sz="1200" b="0" u="none" strike="noStrike">
              <a:solidFill>
                <a:srgbClr val="000000"/>
              </a:solidFill>
              <a:effectLst/>
              <a:uFillTx/>
              <a:latin typeface="Arial"/>
            </a:endParaRPr>
          </a:p>
        </p:txBody>
      </p:sp>
      <p:sp>
        <p:nvSpPr>
          <p:cNvPr id="137" name=""/>
          <p:cNvSpPr txBox="1"/>
          <p:nvPr/>
        </p:nvSpPr>
        <p:spPr>
          <a:xfrm>
            <a:off x="548640" y="658440"/>
            <a:ext cx="10789920" cy="977400"/>
          </a:xfrm>
          <a:prstGeom prst="rect">
            <a:avLst/>
          </a:prstGeom>
          <a:noFill/>
          <a:ln w="0">
            <a:noFill/>
          </a:ln>
        </p:spPr>
        <p:txBody>
          <a:bodyPr lIns="90000" tIns="45000" rIns="90000" bIns="45000" anchor="t">
            <a:spAutoFit/>
          </a:bodyPr>
          <a:p>
            <a:r>
              <a:rPr lang="en-US" sz="3000" b="1" u="none" strike="noStrike">
                <a:solidFill>
                  <a:srgbClr val="1F242E"/>
                </a:solidFill>
                <a:effectLst/>
                <a:uFillTx/>
                <a:latin typeface="Cambria-Bold"/>
                <a:ea typeface="Cambria-Bold"/>
              </a:rPr>
              <a:t>How Scores Are Actually Distributed Across ClinVar</a:t>
            </a:r>
            <a:endParaRPr lang="en-US" sz="3000" b="0" u="none" strike="noStrike">
              <a:solidFill>
                <a:srgbClr val="000000"/>
              </a:solidFill>
              <a:effectLst/>
              <a:uFillTx/>
              <a:latin typeface="Arial"/>
            </a:endParaRPr>
          </a:p>
        </p:txBody>
      </p:sp>
      <p:sp>
        <p:nvSpPr>
          <p:cNvPr id="139" name=""/>
          <p:cNvSpPr txBox="1"/>
          <p:nvPr/>
        </p:nvSpPr>
        <p:spPr>
          <a:xfrm>
            <a:off x="548640" y="6080760"/>
            <a:ext cx="10972800" cy="457200"/>
          </a:xfrm>
          <a:prstGeom prst="rect">
            <a:avLst/>
          </a:prstGeom>
          <a:noFill/>
          <a:ln w="0">
            <a:noFill/>
          </a:ln>
        </p:spPr>
        <p:txBody>
          <a:bodyPr lIns="90000" tIns="45000" rIns="90000" bIns="45000" anchor="t">
            <a:spAutoFit/>
          </a:bodyPr>
          <a:p>
            <a:pPr>
              <a:lnSpc>
                <a:spcPct val="125000"/>
              </a:lnSpc>
            </a:pPr>
            <a:r>
              <a:rPr lang="en-US" sz="1100" b="0" u="none" strike="noStrike">
                <a:solidFill>
                  <a:srgbClr val="475265"/>
                </a:solidFill>
                <a:effectLst/>
                <a:uFillTx/>
                <a:latin typeface="Calibri"/>
                <a:ea typeface="Calibri"/>
              </a:rPr>
              <a:t>Most VUS cluster near the model's low-evidence baseline, now measured across the full 2,330,308-variant current ClinVar pool. The right-hand tail past 0.70 is the 1.6% high-priority pool covered later in this deck.</a:t>
            </a:r>
            <a:endParaRPr lang="en-US" sz="1100" b="0" u="none" strike="noStrike">
              <a:solidFill>
                <a:srgbClr val="000000"/>
              </a:solidFill>
              <a:effectLst/>
              <a:uFillTx/>
              <a:latin typeface="Arial"/>
            </a:endParaRPr>
          </a:p>
        </p:txBody>
      </p:sp>
      <p:sp>
        <p:nvSpPr>
          <p:cNvPr id="140" name=""/>
          <p:cNvSpPr txBox="1"/>
          <p:nvPr/>
        </p:nvSpPr>
        <p:spPr>
          <a:xfrm>
            <a:off x="11368840" y="6446520"/>
            <a:ext cx="500000" cy="300000"/>
          </a:xfrm>
          <a:prstGeom prst="rect">
            <a:avLst/>
          </a:prstGeom>
          <a:noFill/>
          <a:ln w="0">
            <a:noFill/>
          </a:ln>
        </p:spPr>
        <p:txBody>
          <a:bodyPr lIns="90000" tIns="45000" rIns="90000" bIns="45000" anchor="t">
            <a:spAutoFit/>
          </a:bodyPr>
          <a:p>
            <a:pPr algn="r"/>
            <a:r>
              <a:rPr lang="en-US" sz="1000" b="0" u="none" strike="noStrike">
                <a:solidFill>
                  <a:srgbClr val="8D99AE"/>
                </a:solidFill>
                <a:effectLst/>
                <a:uFillTx/>
                <a:latin typeface="Calibri"/>
                <a:ea typeface="Calibri"/>
              </a:rPr>
              <a:t>1</a:t>
            </a:r>
            <a:r>
              <a:rPr lang="en-US" sz="1000" b="0" u="none" strike="noStrike">
                <a:solidFill>
                  <a:srgbClr val="8D99AE"/>
                </a:solidFill>
                <a:effectLst/>
                <a:uFillTx/>
                <a:latin typeface="Calibri"/>
                <a:ea typeface="Calibri"/>
              </a:rPr>
              <a:t>3</a:t>
            </a:r>
            <a:endParaRPr lang="en-US" sz="1000" b="0" u="none" strike="noStrike">
              <a:solidFill>
                <a:srgbClr val="000000"/>
              </a:solidFill>
              <a:effectLst/>
              <a:uFillTx/>
              <a:latin typeface="Arial"/>
            </a:endParaRPr>
          </a:p>
        </p:txBody>
      </p:sp>
      <p:pic>
        <p:nvPicPr>
          <p:cNvPr id="141" name="Picture 140" descr="score_distribution_full.png"/>
          <p:cNvPicPr>
            <a:picLocks noChangeAspect="1"/>
          </p:cNvPicPr>
          <p:nvPr/>
        </p:nvPicPr>
        <p:blipFill>
          <a:blip r:embed="rId3"/>
          <a:stretch>
            <a:fillRect/>
          </a:stretch>
        </p:blipFill>
        <p:spPr>
          <a:xfrm>
            <a:off x="1171636" y="1750000"/>
            <a:ext cx="9818248" cy="4239320"/>
          </a:xfrm>
          <a:prstGeom prst="rect">
            <a:avLst/>
          </a:prstGeom>
        </p:spPr>
      </p:pic>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41" name=""/>
          <p:cNvSpPr txBox="1"/>
          <p:nvPr/>
        </p:nvSpPr>
        <p:spPr>
          <a:xfrm>
            <a:off x="548640" y="384120"/>
            <a:ext cx="7315200" cy="292680"/>
          </a:xfrm>
          <a:prstGeom prst="rect">
            <a:avLst/>
          </a:prstGeom>
          <a:noFill/>
          <a:ln w="0">
            <a:noFill/>
          </a:ln>
        </p:spPr>
        <p:txBody>
          <a:bodyPr lIns="90000" tIns="45000" rIns="90000" bIns="45000" anchor="t">
            <a:spAutoFit/>
          </a:bodyPr>
          <a:p>
            <a:r>
              <a:rPr lang="en-US" sz="1200" b="1" u="none" spc="201" strike="noStrike">
                <a:solidFill>
                  <a:srgbClr val="E76C4E"/>
                </a:solidFill>
                <a:effectLst/>
                <a:uFillTx/>
                <a:latin typeface="Calibri-Bold"/>
                <a:ea typeface="Calibri-Bold"/>
              </a:rPr>
              <a:t>THE RECLASSIFICATION MODEL</a:t>
            </a:r>
            <a:endParaRPr lang="en-US" sz="1200" b="0" u="none" strike="noStrike">
              <a:solidFill>
                <a:srgbClr val="000000"/>
              </a:solidFill>
              <a:effectLst/>
              <a:uFillTx/>
              <a:latin typeface="Arial"/>
            </a:endParaRPr>
          </a:p>
        </p:txBody>
      </p:sp>
      <p:sp>
        <p:nvSpPr>
          <p:cNvPr id="142" name=""/>
          <p:cNvSpPr txBox="1"/>
          <p:nvPr/>
        </p:nvSpPr>
        <p:spPr>
          <a:xfrm>
            <a:off x="548640" y="658440"/>
            <a:ext cx="10789920" cy="777240"/>
          </a:xfrm>
          <a:prstGeom prst="rect">
            <a:avLst/>
          </a:prstGeom>
          <a:noFill/>
          <a:ln w="0">
            <a:noFill/>
          </a:ln>
        </p:spPr>
        <p:txBody>
          <a:bodyPr lIns="90000" tIns="45000" rIns="90000" bIns="45000" anchor="t">
            <a:spAutoFit/>
          </a:bodyPr>
          <a:p>
            <a:r>
              <a:rPr lang="en-US" sz="3000" b="1" u="none" strike="noStrike">
                <a:solidFill>
                  <a:srgbClr val="1F242E"/>
                </a:solidFill>
                <a:effectLst/>
                <a:uFillTx/>
                <a:latin typeface="Cambria-Bold"/>
                <a:ea typeface="Cambria-Bold"/>
              </a:rPr>
              <a:t>The Evidence Landscape Behind Every VUS</a:t>
            </a:r>
            <a:endParaRPr lang="en-US" sz="3000" b="0" u="none" strike="noStrike">
              <a:solidFill>
                <a:srgbClr val="000000"/>
              </a:solidFill>
              <a:effectLst/>
              <a:uFillTx/>
              <a:latin typeface="Arial"/>
            </a:endParaRPr>
          </a:p>
        </p:txBody>
      </p:sp>
      <p:sp>
        <p:nvSpPr>
          <p:cNvPr id="144" name=""/>
          <p:cNvSpPr txBox="1"/>
          <p:nvPr/>
        </p:nvSpPr>
        <p:spPr>
          <a:xfrm>
            <a:off x="548640" y="4577320"/>
            <a:ext cx="10972800" cy="320000"/>
          </a:xfrm>
          <a:prstGeom prst="rect">
            <a:avLst/>
          </a:prstGeom>
          <a:noFill/>
          <a:ln w="0">
            <a:noFill/>
          </a:ln>
        </p:spPr>
        <p:txBody>
          <a:bodyPr lIns="90000" tIns="45000" rIns="90000" bIns="45000" anchor="t">
            <a:spAutoFit/>
          </a:bodyPr>
          <a:p>
            <a:pPr algn="ctr">
              <a:lnSpc>
                <a:spcPct val="125000"/>
              </a:lnSpc>
            </a:pPr>
            <a:r>
              <a:rPr lang="en-US" sz="1100" b="0" u="none" strike="noStrike">
                <a:solidFill>
                  <a:srgbClr val="475265"/>
                </a:solidFill>
                <a:effectLst/>
                <a:uFillTx/>
                <a:latin typeface="Calibri"/>
                <a:ea typeface="Calibri"/>
              </a:rPr>
              <a:t>87% of the watchlist sits at a single ClinVar star (one submitter, no conflicts).</a:t>
            </a:r>
            <a:endParaRPr lang="en-US" sz="1100" b="0" u="none" strike="noStrike">
              <a:solidFill>
                <a:srgbClr val="000000"/>
              </a:solidFill>
              <a:effectLst/>
              <a:uFillTx/>
              <a:latin typeface="Arial"/>
            </a:endParaRPr>
          </a:p>
        </p:txBody>
      </p:sp>
      <p:sp>
        <p:nvSpPr>
          <p:cNvPr id="145" name=""/>
          <p:cNvSpPr txBox="1"/>
          <p:nvPr/>
        </p:nvSpPr>
        <p:spPr>
          <a:xfrm>
            <a:off x="11368840" y="6446520"/>
            <a:ext cx="500000" cy="300000"/>
          </a:xfrm>
          <a:prstGeom prst="rect">
            <a:avLst/>
          </a:prstGeom>
          <a:noFill/>
          <a:ln w="0">
            <a:noFill/>
          </a:ln>
        </p:spPr>
        <p:txBody>
          <a:bodyPr lIns="90000" tIns="45000" rIns="90000" bIns="45000" anchor="t">
            <a:spAutoFit/>
          </a:bodyPr>
          <a:p>
            <a:pPr algn="r"/>
            <a:r>
              <a:rPr lang="en-US" sz="1000" b="0" u="none" strike="noStrike">
                <a:solidFill>
                  <a:srgbClr val="8D99AE"/>
                </a:solidFill>
                <a:effectLst/>
                <a:uFillTx/>
                <a:latin typeface="Calibri"/>
                <a:ea typeface="Calibri"/>
              </a:rPr>
              <a:t>1</a:t>
            </a:r>
            <a:r>
              <a:rPr lang="en-US" sz="1000" b="0" u="none" strike="noStrike">
                <a:solidFill>
                  <a:srgbClr val="8D99AE"/>
                </a:solidFill>
                <a:effectLst/>
                <a:uFillTx/>
                <a:latin typeface="Calibri"/>
                <a:ea typeface="Calibri"/>
              </a:rPr>
              <a:t>4</a:t>
            </a:r>
            <a:endParaRPr lang="en-US" sz="1000" b="0" u="none" strike="noStrike">
              <a:solidFill>
                <a:srgbClr val="000000"/>
              </a:solidFill>
              <a:effectLst/>
              <a:uFillTx/>
              <a:latin typeface="Arial"/>
            </a:endParaRPr>
          </a:p>
        </p:txBody>
      </p:sp>
      <p:sp>
        <p:nvSpPr>
          <p:cNvPr id="146" name="TextBox 145"/>
          <p:cNvSpPr txBox="1"/>
          <p:nvPr/>
        </p:nvSpPr>
        <p:spPr>
          <a:xfrm>
            <a:off x="548640" y="4977320"/>
            <a:ext cx="10972800" cy="950000"/>
          </a:xfrm>
          <a:prstGeom prst="rect">
            <a:avLst/>
          </a:prstGeom>
          <a:noFill/>
        </p:spPr>
        <p:txBody>
          <a:bodyPr wrap="square">
            <a:spAutoFit/>
          </a:bodyPr>
          <a:lstStyle/>
          <a:p>
            <a:r>
              <a:rPr sz="1000" b="0">
                <a:solidFill>
                  <a:srgbClr val="485366"/>
                </a:solidFill>
                <a:latin typeface="Calibri"/>
              </a:rPr>
              <a:t>ClinVar star ratings, plain terms: 0 stars means no assertion criteria provided or submitters actively conflict. 1 star means a single submitter with a clear interpretation and no conflicts, which is where most VUS sit. 2 stars means multiple submitters agree. 3 stars means an expert review panel signed off. More stars means more independently corroborated evidence behind the current call.</a:t>
            </a:r>
          </a:p>
        </p:txBody>
      </p:sp>
      <p:sp>
        <p:nvSpPr>
          <p:cNvPr id="147" name="TextBox 146"/>
          <p:cNvSpPr txBox="1"/>
          <p:nvPr/>
        </p:nvSpPr>
        <p:spPr>
          <a:xfrm>
            <a:off x="548640" y="5957320"/>
            <a:ext cx="10972800" cy="750000"/>
          </a:xfrm>
          <a:prstGeom prst="rect">
            <a:avLst/>
          </a:prstGeom>
          <a:noFill/>
        </p:spPr>
        <p:txBody>
          <a:bodyPr wrap="square">
            <a:spAutoFit/>
          </a:bodyPr>
          <a:lstStyle/>
          <a:p>
            <a:r>
              <a:rPr sz="1000" b="0">
                <a:solidFill>
                  <a:srgbClr val="485366"/>
                </a:solidFill>
                <a:latin typeface="Calibri"/>
              </a:rPr>
              <a:t>The distribution itself is the finding: 2,036,403 of 2,330,308 VUS (87.4%) rest on a single submitter, another 249,981 (10.7%) have just one independent second opinion, and only 3,313 (0.1%) carry full three-star expert-panel review. Almost none of this population has ever been independently cross-checked, which is exactly the evidence gap a probabilistic reclassification model is meant to help prioritize, not replace.</a:t>
            </a:r>
          </a:p>
        </p:txBody>
      </p:sp>
      <p:pic>
        <p:nvPicPr>
          <p:cNvPr id="148" name="Picture 147" descr="review_stars_full.png"/>
          <p:cNvPicPr>
            <a:picLocks noChangeAspect="1"/>
          </p:cNvPicPr>
          <p:nvPr/>
        </p:nvPicPr>
        <p:blipFill>
          <a:blip r:embed="rId3"/>
          <a:stretch>
            <a:fillRect/>
          </a:stretch>
        </p:blipFill>
        <p:spPr>
          <a:xfrm>
            <a:off x="2912964" y="1417320"/>
            <a:ext cx="6366071" cy="3100000"/>
          </a:xfrm>
          <a:prstGeom prst="rect">
            <a:avLst/>
          </a:prstGeom>
        </p:spPr>
      </p:pic>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46" name=""/>
          <p:cNvSpPr txBox="1"/>
          <p:nvPr/>
        </p:nvSpPr>
        <p:spPr>
          <a:xfrm>
            <a:off x="548640" y="384120"/>
            <a:ext cx="7315200" cy="292680"/>
          </a:xfrm>
          <a:prstGeom prst="rect">
            <a:avLst/>
          </a:prstGeom>
          <a:noFill/>
          <a:ln w="0">
            <a:noFill/>
          </a:ln>
        </p:spPr>
        <p:txBody>
          <a:bodyPr lIns="90000" tIns="45000" rIns="90000" bIns="45000" anchor="t">
            <a:spAutoFit/>
          </a:bodyPr>
          <a:p>
            <a:r>
              <a:rPr lang="en-US" sz="1200" b="1" u="none" spc="201" strike="noStrike">
                <a:solidFill>
                  <a:srgbClr val="E76C4E"/>
                </a:solidFill>
                <a:effectLst/>
                <a:uFillTx/>
                <a:latin typeface="Calibri-Bold"/>
                <a:ea typeface="Calibri-Bold"/>
              </a:rPr>
              <a:t>THE RECLASSIFICATION MODEL</a:t>
            </a:r>
            <a:endParaRPr lang="en-US" sz="1200" b="0" u="none" strike="noStrike">
              <a:solidFill>
                <a:srgbClr val="000000"/>
              </a:solidFill>
              <a:effectLst/>
              <a:uFillTx/>
              <a:latin typeface="Arial"/>
            </a:endParaRPr>
          </a:p>
        </p:txBody>
      </p:sp>
      <p:sp>
        <p:nvSpPr>
          <p:cNvPr id="147" name=""/>
          <p:cNvSpPr txBox="1"/>
          <p:nvPr/>
        </p:nvSpPr>
        <p:spPr>
          <a:xfrm>
            <a:off x="548640" y="658440"/>
            <a:ext cx="10789920" cy="777240"/>
          </a:xfrm>
          <a:prstGeom prst="rect">
            <a:avLst/>
          </a:prstGeom>
          <a:noFill/>
          <a:ln w="0">
            <a:noFill/>
          </a:ln>
        </p:spPr>
        <p:txBody>
          <a:bodyPr lIns="90000" tIns="45000" rIns="90000" bIns="45000" anchor="t">
            <a:spAutoFit/>
          </a:bodyPr>
          <a:p>
            <a:r>
              <a:rPr lang="en-US" sz="3000" b="1" u="none" strike="noStrike">
                <a:solidFill>
                  <a:srgbClr val="1F242E"/>
                </a:solidFill>
                <a:effectLst/>
                <a:uFillTx/>
                <a:latin typeface="Cambria-Bold"/>
                <a:ea typeface="Cambria-Bold"/>
              </a:rPr>
              <a:t>What Evidence Is Actually Available, At Scale</a:t>
            </a:r>
            <a:endParaRPr lang="en-US" sz="3000" b="0" u="none" strike="noStrike">
              <a:solidFill>
                <a:srgbClr val="000000"/>
              </a:solidFill>
              <a:effectLst/>
              <a:uFillTx/>
              <a:latin typeface="Arial"/>
            </a:endParaRPr>
          </a:p>
        </p:txBody>
      </p:sp>
      <p:sp>
        <p:nvSpPr>
          <p:cNvPr id="148" name=""/>
          <p:cNvSpPr/>
          <p:nvPr/>
        </p:nvSpPr>
        <p:spPr>
          <a:xfrm>
            <a:off x="548640" y="2194560"/>
            <a:ext cx="5258160" cy="1463400"/>
          </a:xfrm>
          <a:custGeom>
            <a:avLst/>
            <a:gdLst/>
            <a:ahLst/>
            <a:rect l="0" t="0" r="r" b="b"/>
            <a:pathLst>
              <a:path w="14606" h="4065">
                <a:moveTo>
                  <a:pt x="14377" y="0"/>
                </a:moveTo>
                <a:cubicBezTo>
                  <a:pt x="14530" y="0"/>
                  <a:pt x="14606" y="76"/>
                  <a:pt x="14606" y="228"/>
                </a:cubicBezTo>
                <a:lnTo>
                  <a:pt x="14606" y="3837"/>
                </a:lnTo>
                <a:cubicBezTo>
                  <a:pt x="14606" y="3989"/>
                  <a:pt x="14530" y="4065"/>
                  <a:pt x="14377" y="4065"/>
                </a:cubicBezTo>
                <a:lnTo>
                  <a:pt x="228" y="4065"/>
                </a:lnTo>
                <a:cubicBezTo>
                  <a:pt x="76" y="4065"/>
                  <a:pt x="0" y="3989"/>
                  <a:pt x="0" y="3837"/>
                </a:cubicBezTo>
                <a:lnTo>
                  <a:pt x="0" y="228"/>
                </a:lnTo>
                <a:cubicBezTo>
                  <a:pt x="0" y="76"/>
                  <a:pt x="76" y="0"/>
                  <a:pt x="228" y="0"/>
                </a:cubicBezTo>
                <a:lnTo>
                  <a:pt x="14377" y="0"/>
                </a:lnTo>
                <a:close/>
              </a:path>
            </a:pathLst>
          </a:custGeom>
          <a:solidFill>
            <a:srgbClr val="F5F7FA"/>
          </a:solidFill>
          <a:ln w="12600">
            <a:solidFill>
              <a:srgbClr val="E2E7EF"/>
            </a:solidFill>
            <a:round/>
          </a:ln>
        </p:spPr>
        <p:txBody>
          <a:bodyPr lIns="96120" tIns="51120" rIns="96120" bIns="51120" anchor="t">
            <a:noAutofit/>
          </a:bodyPr>
          <a:p>
            <a:endParaRPr lang="en-US" sz="1800" b="0" u="none" strike="noStrike">
              <a:solidFill>
                <a:srgbClr val="000000"/>
              </a:solidFill>
              <a:effectLst/>
              <a:uFillTx/>
              <a:latin typeface="Arial"/>
            </a:endParaRPr>
          </a:p>
        </p:txBody>
      </p:sp>
      <p:sp>
        <p:nvSpPr>
          <p:cNvPr id="149" name=""/>
          <p:cNvSpPr txBox="1"/>
          <p:nvPr/>
        </p:nvSpPr>
        <p:spPr>
          <a:xfrm>
            <a:off x="658440" y="2304360"/>
            <a:ext cx="5038200" cy="804600"/>
          </a:xfrm>
          <a:prstGeom prst="rect">
            <a:avLst/>
          </a:prstGeom>
          <a:noFill/>
          <a:ln w="0">
            <a:noFill/>
          </a:ln>
        </p:spPr>
        <p:txBody>
          <a:bodyPr lIns="90000" tIns="45000" rIns="90000" bIns="45000" anchor="t">
            <a:spAutoFit/>
          </a:bodyPr>
          <a:p>
            <a:r>
              <a:rPr lang="en-US" sz="3200" b="1" u="none" strike="noStrike">
                <a:solidFill>
                  <a:srgbClr val="1C375C"/>
                </a:solidFill>
                <a:effectLst/>
                <a:uFillTx/>
                <a:latin typeface="Cambria-Bold"/>
                <a:ea typeface="Cambria-Bold"/>
              </a:rPr>
              <a:t>1,740</a:t>
            </a:r>
            <a:endParaRPr lang="en-US" sz="3200" b="0" u="none" strike="noStrike">
              <a:solidFill>
                <a:srgbClr val="000000"/>
              </a:solidFill>
              <a:effectLst/>
              <a:uFillTx/>
              <a:latin typeface="Arial"/>
            </a:endParaRPr>
          </a:p>
        </p:txBody>
      </p:sp>
      <p:sp>
        <p:nvSpPr>
          <p:cNvPr id="150" name=""/>
          <p:cNvSpPr txBox="1"/>
          <p:nvPr/>
        </p:nvSpPr>
        <p:spPr>
          <a:xfrm>
            <a:off x="658440" y="3072240"/>
            <a:ext cx="5038200" cy="555840"/>
          </a:xfrm>
          <a:prstGeom prst="rect">
            <a:avLst/>
          </a:prstGeom>
          <a:noFill/>
          <a:ln w="0">
            <a:noFill/>
          </a:ln>
        </p:spPr>
        <p:txBody>
          <a:bodyPr lIns="90000" tIns="45000" rIns="90000" bIns="45000" anchor="t">
            <a:spAutoFit/>
          </a:bodyPr>
          <a:p>
            <a:r>
              <a:rPr lang="en-US" sz="1100" b="0" u="none" strike="noStrike">
                <a:solidFill>
                  <a:srgbClr val="475265"/>
                </a:solidFill>
                <a:effectLst/>
                <a:uFillTx/>
                <a:latin typeface="Calibri"/>
                <a:ea typeface="Calibri"/>
              </a:rPr>
              <a:t>of 2,330,308 VUS carry a real LitVar2 literature hit (0.07%)</a:t>
            </a:r>
            <a:endParaRPr lang="en-US" sz="1100" b="0" u="none" strike="noStrike">
              <a:solidFill>
                <a:srgbClr val="000000"/>
              </a:solidFill>
              <a:effectLst/>
              <a:uFillTx/>
              <a:latin typeface="Arial"/>
            </a:endParaRPr>
          </a:p>
        </p:txBody>
      </p:sp>
      <p:sp>
        <p:nvSpPr>
          <p:cNvPr id="151" name=""/>
          <p:cNvSpPr/>
          <p:nvPr/>
        </p:nvSpPr>
        <p:spPr>
          <a:xfrm>
            <a:off x="6080760" y="2194560"/>
            <a:ext cx="5258160" cy="1463400"/>
          </a:xfrm>
          <a:custGeom>
            <a:avLst/>
            <a:gdLst/>
            <a:ahLst/>
            <a:rect l="0" t="0" r="r" b="b"/>
            <a:pathLst>
              <a:path w="14606" h="4065">
                <a:moveTo>
                  <a:pt x="14377" y="0"/>
                </a:moveTo>
                <a:cubicBezTo>
                  <a:pt x="14530" y="0"/>
                  <a:pt x="14606" y="76"/>
                  <a:pt x="14606" y="228"/>
                </a:cubicBezTo>
                <a:lnTo>
                  <a:pt x="14606" y="3837"/>
                </a:lnTo>
                <a:cubicBezTo>
                  <a:pt x="14606" y="3989"/>
                  <a:pt x="14530" y="4065"/>
                  <a:pt x="14377" y="4065"/>
                </a:cubicBezTo>
                <a:lnTo>
                  <a:pt x="228" y="4065"/>
                </a:lnTo>
                <a:cubicBezTo>
                  <a:pt x="76" y="4065"/>
                  <a:pt x="0" y="3989"/>
                  <a:pt x="0" y="3837"/>
                </a:cubicBezTo>
                <a:lnTo>
                  <a:pt x="0" y="228"/>
                </a:lnTo>
                <a:cubicBezTo>
                  <a:pt x="0" y="76"/>
                  <a:pt x="76" y="0"/>
                  <a:pt x="228" y="0"/>
                </a:cubicBezTo>
                <a:lnTo>
                  <a:pt x="14377" y="0"/>
                </a:lnTo>
                <a:close/>
              </a:path>
            </a:pathLst>
          </a:custGeom>
          <a:solidFill>
            <a:srgbClr val="F5F7FA"/>
          </a:solidFill>
          <a:ln w="12600">
            <a:solidFill>
              <a:srgbClr val="E2E7EF"/>
            </a:solidFill>
            <a:round/>
          </a:ln>
        </p:spPr>
        <p:txBody>
          <a:bodyPr lIns="96120" tIns="51120" rIns="96120" bIns="51120" anchor="t">
            <a:noAutofit/>
          </a:bodyPr>
          <a:p>
            <a:endParaRPr lang="en-US" sz="1800" b="0" u="none" strike="noStrike">
              <a:solidFill>
                <a:srgbClr val="000000"/>
              </a:solidFill>
              <a:effectLst/>
              <a:uFillTx/>
              <a:latin typeface="Arial"/>
            </a:endParaRPr>
          </a:p>
        </p:txBody>
      </p:sp>
      <p:sp>
        <p:nvSpPr>
          <p:cNvPr id="152" name=""/>
          <p:cNvSpPr txBox="1"/>
          <p:nvPr/>
        </p:nvSpPr>
        <p:spPr>
          <a:xfrm>
            <a:off x="6190560" y="2304360"/>
            <a:ext cx="5038200" cy="804600"/>
          </a:xfrm>
          <a:prstGeom prst="rect">
            <a:avLst/>
          </a:prstGeom>
          <a:noFill/>
          <a:ln w="0">
            <a:noFill/>
          </a:ln>
        </p:spPr>
        <p:txBody>
          <a:bodyPr lIns="90000" tIns="45000" rIns="90000" bIns="45000" anchor="t">
            <a:spAutoFit/>
          </a:bodyPr>
          <a:p>
            <a:r>
              <a:rPr lang="en-US" sz="3200" b="1" u="none" strike="noStrike">
                <a:solidFill>
                  <a:srgbClr val="1C375C"/>
                </a:solidFill>
                <a:effectLst/>
                <a:uFillTx/>
                <a:latin typeface="Cambria-Bold"/>
                <a:ea typeface="Cambria-Bold"/>
              </a:rPr>
              <a:t>44,022</a:t>
            </a:r>
            <a:endParaRPr lang="en-US" sz="3200" b="0" u="none" strike="noStrike">
              <a:solidFill>
                <a:srgbClr val="000000"/>
              </a:solidFill>
              <a:effectLst/>
              <a:uFillTx/>
              <a:latin typeface="Arial"/>
            </a:endParaRPr>
          </a:p>
        </p:txBody>
      </p:sp>
      <p:sp>
        <p:nvSpPr>
          <p:cNvPr id="153" name=""/>
          <p:cNvSpPr txBox="1"/>
          <p:nvPr/>
        </p:nvSpPr>
        <p:spPr>
          <a:xfrm>
            <a:off x="6190560" y="3072240"/>
            <a:ext cx="5038200" cy="555840"/>
          </a:xfrm>
          <a:prstGeom prst="rect">
            <a:avLst/>
          </a:prstGeom>
          <a:noFill/>
          <a:ln w="0">
            <a:noFill/>
          </a:ln>
        </p:spPr>
        <p:txBody>
          <a:bodyPr lIns="90000" tIns="45000" rIns="90000" bIns="45000" anchor="t">
            <a:spAutoFit/>
          </a:bodyPr>
          <a:p>
            <a:r>
              <a:rPr lang="en-US" sz="1100" b="0" u="none" strike="noStrike">
                <a:solidFill>
                  <a:srgbClr val="475265"/>
                </a:solidFill>
                <a:effectLst/>
                <a:uFillTx/>
                <a:latin typeface="Calibri"/>
                <a:ea typeface="Calibri"/>
              </a:rPr>
              <a:t>of 2,330,308 VUS have real MaveDB functional-assay coverage (1.89%)</a:t>
            </a:r>
            <a:endParaRPr lang="en-US" sz="1100" b="0" u="none" strike="noStrike">
              <a:solidFill>
                <a:srgbClr val="000000"/>
              </a:solidFill>
              <a:effectLst/>
              <a:uFillTx/>
              <a:latin typeface="Arial"/>
            </a:endParaRPr>
          </a:p>
        </p:txBody>
      </p:sp>
      <p:sp>
        <p:nvSpPr>
          <p:cNvPr id="154" name=""/>
          <p:cNvSpPr txBox="1"/>
          <p:nvPr/>
        </p:nvSpPr>
        <p:spPr>
          <a:xfrm>
            <a:off x="548640" y="4114800"/>
            <a:ext cx="10789920" cy="1097280"/>
          </a:xfrm>
          <a:prstGeom prst="rect">
            <a:avLst/>
          </a:prstGeom>
          <a:noFill/>
          <a:ln w="0">
            <a:noFill/>
          </a:ln>
        </p:spPr>
        <p:txBody>
          <a:bodyPr lIns="90000" tIns="45000" rIns="90000" bIns="45000" anchor="t">
            <a:spAutoFit/>
          </a:bodyPr>
          <a:p>
            <a:pPr>
              <a:lnSpc>
                <a:spcPct val="125000"/>
              </a:lnSpc>
            </a:pPr>
            <a:r>
              <a:rPr lang="en-US" sz="1300" b="0" u="none" strike="noStrike">
                <a:solidFill>
                  <a:srgbClr val="2A3547"/>
                </a:solidFill>
                <a:effectLst/>
                <a:uFillTx/>
                <a:latin typeface="Calibri"/>
                <a:ea typeface="Calibri"/>
              </a:rPr>
              <a:t>When either signal is present, it's unusually informative: TP53's functional-assay and literature coverage is why it shows up repeatedly as a strong example. Coverage looks thinner in percentage terms than it did on the smaller 2019-tracked cohort, because most of the pool now consists of newer ClinVar entries that simply haven't had time to accumulate citations or assay results yet. For the overwhelming majority of VUS, the model still has to work from weaker signals: gnomAD frequency, submission counts, and gene-level history.</a:t>
            </a:r>
            <a:endParaRPr lang="en-US" sz="1300" b="0" u="none" strike="noStrike">
              <a:solidFill>
                <a:srgbClr val="000000"/>
              </a:solidFill>
              <a:effectLst/>
              <a:uFillTx/>
              <a:latin typeface="Arial"/>
            </a:endParaRPr>
          </a:p>
        </p:txBody>
      </p:sp>
      <p:sp>
        <p:nvSpPr>
          <p:cNvPr id="155" name=""/>
          <p:cNvSpPr txBox="1"/>
          <p:nvPr/>
        </p:nvSpPr>
        <p:spPr>
          <a:xfrm>
            <a:off x="11368840" y="6446520"/>
            <a:ext cx="500000" cy="300000"/>
          </a:xfrm>
          <a:prstGeom prst="rect">
            <a:avLst/>
          </a:prstGeom>
          <a:noFill/>
          <a:ln w="0">
            <a:noFill/>
          </a:ln>
        </p:spPr>
        <p:txBody>
          <a:bodyPr lIns="90000" tIns="45000" rIns="90000" bIns="45000" anchor="t">
            <a:spAutoFit/>
          </a:bodyPr>
          <a:p>
            <a:pPr algn="r"/>
            <a:r>
              <a:rPr lang="en-US" sz="1000" b="0" u="none" strike="noStrike">
                <a:solidFill>
                  <a:srgbClr val="8D99AE"/>
                </a:solidFill>
                <a:effectLst/>
                <a:uFillTx/>
                <a:latin typeface="Calibri"/>
                <a:ea typeface="Calibri"/>
              </a:rPr>
              <a:t>15</a:t>
            </a:r>
            <a:endParaRPr lang="en-US"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56" name=""/>
          <p:cNvSpPr txBox="1"/>
          <p:nvPr/>
        </p:nvSpPr>
        <p:spPr>
          <a:xfrm>
            <a:off x="548640" y="384120"/>
            <a:ext cx="7315200" cy="292680"/>
          </a:xfrm>
          <a:prstGeom prst="rect">
            <a:avLst/>
          </a:prstGeom>
          <a:noFill/>
          <a:ln w="0">
            <a:noFill/>
          </a:ln>
        </p:spPr>
        <p:txBody>
          <a:bodyPr lIns="90000" tIns="45000" rIns="90000" bIns="45000" anchor="t">
            <a:spAutoFit/>
          </a:bodyPr>
          <a:p>
            <a:r>
              <a:rPr lang="en-US" sz="1200" b="1" u="none" spc="201" strike="noStrike">
                <a:solidFill>
                  <a:srgbClr val="E76C4E"/>
                </a:solidFill>
                <a:effectLst/>
                <a:uFillTx/>
                <a:latin typeface="Calibri-Bold"/>
                <a:ea typeface="Calibri-Bold"/>
              </a:rPr>
              <a:t>THE RECLASSIFICATION MODEL</a:t>
            </a:r>
            <a:endParaRPr lang="en-US" sz="1200" b="0" u="none" strike="noStrike">
              <a:solidFill>
                <a:srgbClr val="000000"/>
              </a:solidFill>
              <a:effectLst/>
              <a:uFillTx/>
              <a:latin typeface="Arial"/>
            </a:endParaRPr>
          </a:p>
        </p:txBody>
      </p:sp>
      <p:sp>
        <p:nvSpPr>
          <p:cNvPr id="157" name=""/>
          <p:cNvSpPr txBox="1"/>
          <p:nvPr/>
        </p:nvSpPr>
        <p:spPr>
          <a:xfrm>
            <a:off x="548640" y="658440"/>
            <a:ext cx="10789920" cy="777240"/>
          </a:xfrm>
          <a:prstGeom prst="rect">
            <a:avLst/>
          </a:prstGeom>
          <a:noFill/>
          <a:ln w="0">
            <a:noFill/>
          </a:ln>
        </p:spPr>
        <p:txBody>
          <a:bodyPr lIns="90000" tIns="45000" rIns="90000" bIns="45000" anchor="t">
            <a:spAutoFit/>
          </a:bodyPr>
          <a:p>
            <a:r>
              <a:rPr lang="en-US" sz="3000" b="1" u="none" strike="noStrike">
                <a:solidFill>
                  <a:srgbClr val="1F242E"/>
                </a:solidFill>
                <a:effectLst/>
                <a:uFillTx/>
                <a:latin typeface="Cambria-Bold"/>
                <a:ea typeface="Cambria-Bold"/>
              </a:rPr>
              <a:t>Once It Resolves, Which Way Does It Go</a:t>
            </a:r>
            <a:r>
              <a:rPr lang="en-US" sz="3000" b="1" u="none" strike="noStrike">
                <a:solidFill>
                  <a:srgbClr val="1F242E"/>
                </a:solidFill>
                <a:effectLst/>
                <a:uFillTx/>
                <a:latin typeface="Cambria-Bold"/>
                <a:ea typeface="Cambria-Bold"/>
              </a:rPr>
              <a:t>?</a:t>
            </a:r>
            <a:endParaRPr lang="en-US" sz="3000" b="0" u="none" strike="noStrike">
              <a:solidFill>
                <a:srgbClr val="000000"/>
              </a:solidFill>
              <a:effectLst/>
              <a:uFillTx/>
              <a:latin typeface="Arial"/>
            </a:endParaRPr>
          </a:p>
        </p:txBody>
      </p:sp>
      <p:sp>
        <p:nvSpPr>
          <p:cNvPr id="158" name=""/>
          <p:cNvSpPr txBox="1"/>
          <p:nvPr/>
        </p:nvSpPr>
        <p:spPr>
          <a:xfrm>
            <a:off x="548640" y="1417320"/>
            <a:ext cx="10789920" cy="548640"/>
          </a:xfrm>
          <a:prstGeom prst="rect">
            <a:avLst/>
          </a:prstGeom>
          <a:noFill/>
          <a:ln w="0">
            <a:noFill/>
          </a:ln>
        </p:spPr>
        <p:txBody>
          <a:bodyPr lIns="90000" tIns="45000" rIns="90000" bIns="45000" anchor="t">
            <a:spAutoFit/>
          </a:bodyPr>
          <a:p>
            <a:pPr>
              <a:lnSpc>
                <a:spcPct val="125000"/>
              </a:lnSpc>
            </a:pPr>
            <a:r>
              <a:rPr lang="en-US" sz="1300" b="0" u="none" strike="noStrike">
                <a:solidFill>
                  <a:srgbClr val="475265"/>
                </a:solidFill>
                <a:effectLst/>
                <a:uFillTx/>
                <a:latin typeface="Calibri"/>
                <a:ea typeface="Calibri"/>
              </a:rPr>
              <a:t>A separate model, trained only on the 13,616 VUS that have already resolved (10,280 Benign, 3,336 Pathogenic), predicts the direction of resolution</a:t>
            </a:r>
            <a:r>
              <a:rPr lang="en-US" sz="1300" b="0" u="none" strike="noStrike">
                <a:solidFill>
                  <a:srgbClr val="475265"/>
                </a:solidFill>
                <a:effectLst/>
                <a:uFillTx/>
                <a:latin typeface="Calibri"/>
                <a:ea typeface="Calibri"/>
              </a:rPr>
              <a:t>:</a:t>
            </a:r>
            <a:endParaRPr lang="en-US" sz="1300" b="0" u="none" strike="noStrike">
              <a:solidFill>
                <a:srgbClr val="000000"/>
              </a:solidFill>
              <a:effectLst/>
              <a:uFillTx/>
              <a:latin typeface="Arial"/>
            </a:endParaRPr>
          </a:p>
        </p:txBody>
      </p:sp>
      <p:sp>
        <p:nvSpPr>
          <p:cNvPr id="159" name=""/>
          <p:cNvSpPr/>
          <p:nvPr/>
        </p:nvSpPr>
        <p:spPr>
          <a:xfrm>
            <a:off x="548640" y="2148840"/>
            <a:ext cx="3456720" cy="1280520"/>
          </a:xfrm>
          <a:custGeom>
            <a:avLst/>
            <a:gdLst/>
            <a:ahLst/>
            <a:rect l="0" t="0" r="r" b="b"/>
            <a:pathLst>
              <a:path w="9602" h="3557">
                <a:moveTo>
                  <a:pt x="9373" y="0"/>
                </a:moveTo>
                <a:cubicBezTo>
                  <a:pt x="9526" y="0"/>
                  <a:pt x="9602" y="76"/>
                  <a:pt x="9602" y="228"/>
                </a:cubicBezTo>
                <a:lnTo>
                  <a:pt x="9602" y="3328"/>
                </a:lnTo>
                <a:cubicBezTo>
                  <a:pt x="9602" y="3481"/>
                  <a:pt x="9526" y="3557"/>
                  <a:pt x="9373" y="3557"/>
                </a:cubicBezTo>
                <a:lnTo>
                  <a:pt x="228" y="3557"/>
                </a:lnTo>
                <a:cubicBezTo>
                  <a:pt x="76" y="3557"/>
                  <a:pt x="0" y="3481"/>
                  <a:pt x="0" y="3328"/>
                </a:cubicBezTo>
                <a:lnTo>
                  <a:pt x="0" y="228"/>
                </a:lnTo>
                <a:cubicBezTo>
                  <a:pt x="0" y="76"/>
                  <a:pt x="76" y="0"/>
                  <a:pt x="228" y="0"/>
                </a:cubicBezTo>
                <a:lnTo>
                  <a:pt x="9373" y="0"/>
                </a:lnTo>
                <a:close/>
              </a:path>
            </a:pathLst>
          </a:custGeom>
          <a:solidFill>
            <a:srgbClr val="F5F7FA"/>
          </a:solidFill>
          <a:ln w="12600">
            <a:solidFill>
              <a:srgbClr val="E2E7EF"/>
            </a:solidFill>
            <a:round/>
          </a:ln>
        </p:spPr>
        <p:txBody>
          <a:bodyPr lIns="96120" tIns="51120" rIns="96120" bIns="51120" anchor="t">
            <a:noAutofit/>
          </a:bodyPr>
          <a:p>
            <a:endParaRPr lang="en-US" sz="1800" b="0" u="none" strike="noStrike">
              <a:solidFill>
                <a:srgbClr val="000000"/>
              </a:solidFill>
              <a:effectLst/>
              <a:uFillTx/>
              <a:latin typeface="Arial"/>
            </a:endParaRPr>
          </a:p>
        </p:txBody>
      </p:sp>
      <p:sp>
        <p:nvSpPr>
          <p:cNvPr id="160" name=""/>
          <p:cNvSpPr txBox="1"/>
          <p:nvPr/>
        </p:nvSpPr>
        <p:spPr>
          <a:xfrm>
            <a:off x="658440" y="2457000"/>
            <a:ext cx="3237120" cy="503280"/>
          </a:xfrm>
          <a:prstGeom prst="rect">
            <a:avLst/>
          </a:prstGeom>
          <a:noFill/>
          <a:ln w="0">
            <a:noFill/>
          </a:ln>
        </p:spPr>
        <p:txBody>
          <a:bodyPr lIns="90000" tIns="45000" rIns="90000" bIns="45000" anchor="t">
            <a:spAutoFit/>
          </a:bodyPr>
          <a:p>
            <a:r>
              <a:rPr lang="en-US" sz="2800" b="1" u="none" strike="noStrike">
                <a:solidFill>
                  <a:srgbClr val="1C375C"/>
                </a:solidFill>
                <a:effectLst/>
                <a:uFillTx/>
                <a:latin typeface="Cambria-Bold"/>
                <a:ea typeface="Cambria-Bold"/>
              </a:rPr>
              <a:t>0.946</a:t>
            </a:r>
            <a:endParaRPr lang="en-US" sz="2800" b="0" u="none" strike="noStrike">
              <a:solidFill>
                <a:srgbClr val="000000"/>
              </a:solidFill>
              <a:effectLst/>
              <a:uFillTx/>
              <a:latin typeface="Arial"/>
            </a:endParaRPr>
          </a:p>
        </p:txBody>
      </p:sp>
      <p:sp>
        <p:nvSpPr>
          <p:cNvPr id="161" name=""/>
          <p:cNvSpPr txBox="1"/>
          <p:nvPr/>
        </p:nvSpPr>
        <p:spPr>
          <a:xfrm>
            <a:off x="658440" y="2917080"/>
            <a:ext cx="3237120" cy="486360"/>
          </a:xfrm>
          <a:prstGeom prst="rect">
            <a:avLst/>
          </a:prstGeom>
          <a:noFill/>
          <a:ln w="0">
            <a:noFill/>
          </a:ln>
        </p:spPr>
        <p:txBody>
          <a:bodyPr lIns="90000" tIns="45000" rIns="90000" bIns="45000" anchor="t">
            <a:spAutoFit/>
          </a:bodyPr>
          <a:p>
            <a:r>
              <a:rPr lang="en-US" sz="1100" b="0" u="none" strike="noStrike">
                <a:solidFill>
                  <a:srgbClr val="475265"/>
                </a:solidFill>
                <a:effectLst/>
                <a:uFillTx/>
                <a:latin typeface="Calibri"/>
                <a:ea typeface="Calibri"/>
              </a:rPr>
              <a:t>ROC-AUC, held-out test set</a:t>
            </a:r>
            <a:endParaRPr lang="en-US" sz="1100" b="0" u="none" strike="noStrike">
              <a:solidFill>
                <a:srgbClr val="000000"/>
              </a:solidFill>
              <a:effectLst/>
              <a:uFillTx/>
              <a:latin typeface="Arial"/>
            </a:endParaRPr>
          </a:p>
        </p:txBody>
      </p:sp>
      <p:sp>
        <p:nvSpPr>
          <p:cNvPr id="162" name=""/>
          <p:cNvSpPr/>
          <p:nvPr/>
        </p:nvSpPr>
        <p:spPr>
          <a:xfrm>
            <a:off x="4187880" y="2148840"/>
            <a:ext cx="3456720" cy="1280520"/>
          </a:xfrm>
          <a:custGeom>
            <a:avLst/>
            <a:gdLst/>
            <a:ahLst/>
            <a:rect l="0" t="0" r="r" b="b"/>
            <a:pathLst>
              <a:path w="9602" h="3557">
                <a:moveTo>
                  <a:pt x="9373" y="0"/>
                </a:moveTo>
                <a:cubicBezTo>
                  <a:pt x="9526" y="0"/>
                  <a:pt x="9602" y="76"/>
                  <a:pt x="9602" y="228"/>
                </a:cubicBezTo>
                <a:lnTo>
                  <a:pt x="9602" y="3328"/>
                </a:lnTo>
                <a:cubicBezTo>
                  <a:pt x="9602" y="3481"/>
                  <a:pt x="9526" y="3557"/>
                  <a:pt x="9373" y="3557"/>
                </a:cubicBezTo>
                <a:lnTo>
                  <a:pt x="228" y="3557"/>
                </a:lnTo>
                <a:cubicBezTo>
                  <a:pt x="76" y="3557"/>
                  <a:pt x="0" y="3481"/>
                  <a:pt x="0" y="3328"/>
                </a:cubicBezTo>
                <a:lnTo>
                  <a:pt x="0" y="228"/>
                </a:lnTo>
                <a:cubicBezTo>
                  <a:pt x="0" y="76"/>
                  <a:pt x="76" y="0"/>
                  <a:pt x="228" y="0"/>
                </a:cubicBezTo>
                <a:lnTo>
                  <a:pt x="9373" y="0"/>
                </a:lnTo>
                <a:close/>
              </a:path>
            </a:pathLst>
          </a:custGeom>
          <a:solidFill>
            <a:srgbClr val="F5F7FA"/>
          </a:solidFill>
          <a:ln w="12600">
            <a:solidFill>
              <a:srgbClr val="E2E7EF"/>
            </a:solidFill>
            <a:round/>
          </a:ln>
        </p:spPr>
        <p:txBody>
          <a:bodyPr lIns="96120" tIns="51120" rIns="96120" bIns="51120" anchor="t">
            <a:noAutofit/>
          </a:bodyPr>
          <a:p>
            <a:endParaRPr lang="en-US" sz="1800" b="0" u="none" strike="noStrike">
              <a:solidFill>
                <a:srgbClr val="000000"/>
              </a:solidFill>
              <a:effectLst/>
              <a:uFillTx/>
              <a:latin typeface="Arial"/>
            </a:endParaRPr>
          </a:p>
        </p:txBody>
      </p:sp>
      <p:sp>
        <p:nvSpPr>
          <p:cNvPr id="163" name=""/>
          <p:cNvSpPr txBox="1"/>
          <p:nvPr/>
        </p:nvSpPr>
        <p:spPr>
          <a:xfrm>
            <a:off x="4297680" y="2457000"/>
            <a:ext cx="3237120" cy="503280"/>
          </a:xfrm>
          <a:prstGeom prst="rect">
            <a:avLst/>
          </a:prstGeom>
          <a:noFill/>
          <a:ln w="0">
            <a:noFill/>
          </a:ln>
        </p:spPr>
        <p:txBody>
          <a:bodyPr lIns="90000" tIns="45000" rIns="90000" bIns="45000" anchor="t">
            <a:spAutoFit/>
          </a:bodyPr>
          <a:p>
            <a:r>
              <a:rPr lang="en-US" sz="2800" b="1" u="none" strike="noStrike">
                <a:solidFill>
                  <a:srgbClr val="1C375C"/>
                </a:solidFill>
                <a:effectLst/>
                <a:uFillTx/>
                <a:latin typeface="Cambria-Bold"/>
                <a:ea typeface="Cambria-Bold"/>
              </a:rPr>
              <a:t>0.862</a:t>
            </a:r>
            <a:endParaRPr lang="en-US" sz="2800" b="0" u="none" strike="noStrike">
              <a:solidFill>
                <a:srgbClr val="000000"/>
              </a:solidFill>
              <a:effectLst/>
              <a:uFillTx/>
              <a:latin typeface="Arial"/>
            </a:endParaRPr>
          </a:p>
        </p:txBody>
      </p:sp>
      <p:sp>
        <p:nvSpPr>
          <p:cNvPr id="164" name=""/>
          <p:cNvSpPr txBox="1"/>
          <p:nvPr/>
        </p:nvSpPr>
        <p:spPr>
          <a:xfrm>
            <a:off x="4297680" y="2917080"/>
            <a:ext cx="3237120" cy="486360"/>
          </a:xfrm>
          <a:prstGeom prst="rect">
            <a:avLst/>
          </a:prstGeom>
          <a:noFill/>
          <a:ln w="0">
            <a:noFill/>
          </a:ln>
        </p:spPr>
        <p:txBody>
          <a:bodyPr lIns="90000" tIns="45000" rIns="90000" bIns="45000" anchor="t">
            <a:spAutoFit/>
          </a:bodyPr>
          <a:p>
            <a:r>
              <a:rPr lang="en-US" sz="1100" b="0" u="none" strike="noStrike">
                <a:solidFill>
                  <a:srgbClr val="475265"/>
                </a:solidFill>
                <a:effectLst/>
                <a:uFillTx/>
                <a:latin typeface="Calibri"/>
                <a:ea typeface="Calibri"/>
              </a:rPr>
              <a:t>PR-AUC, held-out test set</a:t>
            </a:r>
            <a:endParaRPr lang="en-US" sz="1100" b="0" u="none" strike="noStrike">
              <a:solidFill>
                <a:srgbClr val="000000"/>
              </a:solidFill>
              <a:effectLst/>
              <a:uFillTx/>
              <a:latin typeface="Arial"/>
            </a:endParaRPr>
          </a:p>
        </p:txBody>
      </p:sp>
      <p:sp>
        <p:nvSpPr>
          <p:cNvPr id="165" name=""/>
          <p:cNvSpPr/>
          <p:nvPr/>
        </p:nvSpPr>
        <p:spPr>
          <a:xfrm>
            <a:off x="7827120" y="2148840"/>
            <a:ext cx="3456720" cy="1280520"/>
          </a:xfrm>
          <a:custGeom>
            <a:avLst/>
            <a:gdLst/>
            <a:ahLst/>
            <a:rect l="0" t="0" r="r" b="b"/>
            <a:pathLst>
              <a:path w="9602" h="3557">
                <a:moveTo>
                  <a:pt x="9373" y="0"/>
                </a:moveTo>
                <a:cubicBezTo>
                  <a:pt x="9526" y="0"/>
                  <a:pt x="9602" y="76"/>
                  <a:pt x="9602" y="228"/>
                </a:cubicBezTo>
                <a:lnTo>
                  <a:pt x="9602" y="3328"/>
                </a:lnTo>
                <a:cubicBezTo>
                  <a:pt x="9602" y="3481"/>
                  <a:pt x="9526" y="3557"/>
                  <a:pt x="9373" y="3557"/>
                </a:cubicBezTo>
                <a:lnTo>
                  <a:pt x="228" y="3557"/>
                </a:lnTo>
                <a:cubicBezTo>
                  <a:pt x="76" y="3557"/>
                  <a:pt x="0" y="3481"/>
                  <a:pt x="0" y="3328"/>
                </a:cubicBezTo>
                <a:lnTo>
                  <a:pt x="0" y="228"/>
                </a:lnTo>
                <a:cubicBezTo>
                  <a:pt x="0" y="76"/>
                  <a:pt x="76" y="0"/>
                  <a:pt x="228" y="0"/>
                </a:cubicBezTo>
                <a:lnTo>
                  <a:pt x="9373" y="0"/>
                </a:lnTo>
                <a:close/>
              </a:path>
            </a:pathLst>
          </a:custGeom>
          <a:solidFill>
            <a:srgbClr val="F5F7FA"/>
          </a:solidFill>
          <a:ln w="12600">
            <a:solidFill>
              <a:srgbClr val="E2E7EF"/>
            </a:solidFill>
            <a:round/>
          </a:ln>
        </p:spPr>
        <p:txBody>
          <a:bodyPr lIns="96120" tIns="51120" rIns="96120" bIns="51120" anchor="t">
            <a:noAutofit/>
          </a:bodyPr>
          <a:p>
            <a:endParaRPr lang="en-US" sz="1800" b="0" u="none" strike="noStrike">
              <a:solidFill>
                <a:srgbClr val="000000"/>
              </a:solidFill>
              <a:effectLst/>
              <a:uFillTx/>
              <a:latin typeface="Arial"/>
            </a:endParaRPr>
          </a:p>
        </p:txBody>
      </p:sp>
      <p:sp>
        <p:nvSpPr>
          <p:cNvPr id="166" name=""/>
          <p:cNvSpPr txBox="1"/>
          <p:nvPr/>
        </p:nvSpPr>
        <p:spPr>
          <a:xfrm>
            <a:off x="7936920" y="2457000"/>
            <a:ext cx="3237120" cy="503280"/>
          </a:xfrm>
          <a:prstGeom prst="rect">
            <a:avLst/>
          </a:prstGeom>
          <a:noFill/>
          <a:ln w="0">
            <a:noFill/>
          </a:ln>
        </p:spPr>
        <p:txBody>
          <a:bodyPr lIns="90000" tIns="45000" rIns="90000" bIns="45000" anchor="t">
            <a:spAutoFit/>
          </a:bodyPr>
          <a:p>
            <a:r>
              <a:rPr lang="en-US" sz="2800" b="1" u="none" strike="noStrike">
                <a:solidFill>
                  <a:srgbClr val="1C375C"/>
                </a:solidFill>
                <a:effectLst/>
                <a:uFillTx/>
                <a:latin typeface="Cambria-Bold"/>
                <a:ea typeface="Cambria-Bold"/>
              </a:rPr>
              <a:t>24.8%</a:t>
            </a:r>
            <a:endParaRPr lang="en-US" sz="2800" b="0" u="none" strike="noStrike">
              <a:solidFill>
                <a:srgbClr val="000000"/>
              </a:solidFill>
              <a:effectLst/>
              <a:uFillTx/>
              <a:latin typeface="Arial"/>
            </a:endParaRPr>
          </a:p>
        </p:txBody>
      </p:sp>
      <p:sp>
        <p:nvSpPr>
          <p:cNvPr id="167" name=""/>
          <p:cNvSpPr txBox="1"/>
          <p:nvPr/>
        </p:nvSpPr>
        <p:spPr>
          <a:xfrm>
            <a:off x="7936920" y="2917080"/>
            <a:ext cx="3237120" cy="486360"/>
          </a:xfrm>
          <a:prstGeom prst="rect">
            <a:avLst/>
          </a:prstGeom>
          <a:noFill/>
          <a:ln w="0">
            <a:noFill/>
          </a:ln>
        </p:spPr>
        <p:txBody>
          <a:bodyPr lIns="90000" tIns="45000" rIns="90000" bIns="45000" anchor="t">
            <a:spAutoFit/>
          </a:bodyPr>
          <a:p>
            <a:r>
              <a:rPr lang="en-US" sz="1100" b="0" u="none" strike="noStrike">
                <a:solidFill>
                  <a:srgbClr val="475265"/>
                </a:solidFill>
                <a:effectLst/>
                <a:uFillTx/>
                <a:latin typeface="Calibri"/>
                <a:ea typeface="Calibri"/>
              </a:rPr>
              <a:t>of all resolved variants turn out Pathogenic</a:t>
            </a:r>
            <a:endParaRPr lang="en-US" sz="1100" b="0" u="none" strike="noStrike">
              <a:solidFill>
                <a:srgbClr val="000000"/>
              </a:solidFill>
              <a:effectLst/>
              <a:uFillTx/>
              <a:latin typeface="Arial"/>
            </a:endParaRPr>
          </a:p>
        </p:txBody>
      </p:sp>
      <p:sp>
        <p:nvSpPr>
          <p:cNvPr id="168" name=""/>
          <p:cNvSpPr txBox="1"/>
          <p:nvPr/>
        </p:nvSpPr>
        <p:spPr>
          <a:xfrm>
            <a:off x="548640" y="3749040"/>
            <a:ext cx="10789920" cy="1097280"/>
          </a:xfrm>
          <a:prstGeom prst="rect">
            <a:avLst/>
          </a:prstGeom>
          <a:noFill/>
          <a:ln w="0">
            <a:noFill/>
          </a:ln>
        </p:spPr>
        <p:txBody>
          <a:bodyPr lIns="90000" tIns="45000" rIns="90000" bIns="45000" anchor="t">
            <a:spAutoFit/>
          </a:bodyPr>
          <a:p>
            <a:pPr>
              <a:lnSpc>
                <a:spcPct val="125000"/>
              </a:lnSpc>
            </a:pPr>
            <a:r>
              <a:rPr lang="en-US" sz="1300" b="0" u="none" strike="noStrike">
                <a:solidFill>
                  <a:srgbClr val="2A3547"/>
                </a:solidFill>
                <a:effectLst/>
                <a:uFillTx/>
                <a:latin typeface="Calibri"/>
                <a:ea typeface="Calibri"/>
              </a:rPr>
              <a:t>Direction turns out to be an easier problem than resolution itself: once a variant has enough evidence to resolve at all, which way it goes is dominated by gene-level history. TP53 VUS, for example, score 93-97% pathogenic-if-resolved, consistent with TP53 being a well-established high-penetrance cancer gene</a:t>
            </a:r>
            <a:r>
              <a:rPr lang="en-US" sz="1300" b="0" u="none" strike="noStrike">
                <a:solidFill>
                  <a:srgbClr val="2A3547"/>
                </a:solidFill>
                <a:effectLst/>
                <a:uFillTx/>
                <a:latin typeface="Calibri"/>
                <a:ea typeface="Calibri"/>
              </a:rPr>
              <a:t>.</a:t>
            </a:r>
            <a:endParaRPr lang="en-US" sz="1300" b="0" u="none" strike="noStrike">
              <a:solidFill>
                <a:srgbClr val="000000"/>
              </a:solidFill>
              <a:effectLst/>
              <a:uFillTx/>
              <a:latin typeface="Arial"/>
            </a:endParaRPr>
          </a:p>
        </p:txBody>
      </p:sp>
      <p:sp>
        <p:nvSpPr>
          <p:cNvPr id="169" name=""/>
          <p:cNvSpPr txBox="1"/>
          <p:nvPr/>
        </p:nvSpPr>
        <p:spPr>
          <a:xfrm>
            <a:off x="11368840" y="6446520"/>
            <a:ext cx="500000" cy="300000"/>
          </a:xfrm>
          <a:prstGeom prst="rect">
            <a:avLst/>
          </a:prstGeom>
          <a:noFill/>
          <a:ln w="0">
            <a:noFill/>
          </a:ln>
        </p:spPr>
        <p:txBody>
          <a:bodyPr lIns="90000" tIns="45000" rIns="90000" bIns="45000" anchor="t">
            <a:spAutoFit/>
          </a:bodyPr>
          <a:p>
            <a:pPr algn="r"/>
            <a:r>
              <a:rPr lang="en-US" sz="1000" b="0" u="none" strike="noStrike">
                <a:solidFill>
                  <a:srgbClr val="8D99AE"/>
                </a:solidFill>
                <a:effectLst/>
                <a:uFillTx/>
                <a:latin typeface="Calibri"/>
                <a:ea typeface="Calibri"/>
              </a:rPr>
              <a:t>1</a:t>
            </a:r>
            <a:r>
              <a:rPr lang="en-US" sz="1000" b="0" u="none" strike="noStrike">
                <a:solidFill>
                  <a:srgbClr val="8D99AE"/>
                </a:solidFill>
                <a:effectLst/>
                <a:uFillTx/>
                <a:latin typeface="Calibri"/>
                <a:ea typeface="Calibri"/>
              </a:rPr>
              <a:t>6</a:t>
            </a:r>
            <a:endParaRPr lang="en-US"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C375C"/>
        </a:solidFill>
      </p:bgPr>
    </p:bg>
    <p:spTree>
      <p:nvGrpSpPr>
        <p:cNvPr id="1" name=""/>
        <p:cNvGrpSpPr/>
        <p:nvPr/>
      </p:nvGrpSpPr>
      <p:grpSpPr>
        <a:xfrm>
          <a:off x="0" y="0"/>
          <a:ext cx="0" cy="0"/>
          <a:chOff x="0" y="0"/>
          <a:chExt cx="0" cy="0"/>
        </a:xfrm>
      </p:grpSpPr>
      <p:sp>
        <p:nvSpPr>
          <p:cNvPr id="170" name=""/>
          <p:cNvSpPr txBox="1"/>
          <p:nvPr/>
        </p:nvSpPr>
        <p:spPr>
          <a:xfrm>
            <a:off x="548640" y="384120"/>
            <a:ext cx="7315200" cy="292680"/>
          </a:xfrm>
          <a:prstGeom prst="rect">
            <a:avLst/>
          </a:prstGeom>
          <a:noFill/>
          <a:ln w="0">
            <a:noFill/>
          </a:ln>
        </p:spPr>
        <p:txBody>
          <a:bodyPr lIns="90000" tIns="45000" rIns="90000" bIns="45000" anchor="t">
            <a:spAutoFit/>
          </a:bodyPr>
          <a:p>
            <a:r>
              <a:rPr lang="en-US" sz="1200" b="1" u="none" spc="201" strike="noStrike">
                <a:solidFill>
                  <a:srgbClr val="E9C467"/>
                </a:solidFill>
                <a:effectLst/>
                <a:uFillTx/>
                <a:latin typeface="Calibri-Bold"/>
                <a:ea typeface="Calibri-Bold"/>
              </a:rPr>
              <a:t>AN HONEST LIMIT</a:t>
            </a:r>
            <a:endParaRPr lang="en-US" sz="1200" b="0" u="none" strike="noStrike">
              <a:solidFill>
                <a:srgbClr val="FFFFFF"/>
              </a:solidFill>
              <a:effectLst/>
              <a:uFillTx/>
              <a:latin typeface="Arial"/>
            </a:endParaRPr>
          </a:p>
        </p:txBody>
      </p:sp>
      <p:sp>
        <p:nvSpPr>
          <p:cNvPr id="171" name=""/>
          <p:cNvSpPr txBox="1"/>
          <p:nvPr/>
        </p:nvSpPr>
        <p:spPr>
          <a:xfrm>
            <a:off x="548640" y="640080"/>
            <a:ext cx="11064240" cy="827640"/>
          </a:xfrm>
          <a:prstGeom prst="rect">
            <a:avLst/>
          </a:prstGeom>
          <a:noFill/>
          <a:ln w="0">
            <a:noFill/>
          </a:ln>
        </p:spPr>
        <p:txBody>
          <a:bodyPr lIns="90000" tIns="45000" rIns="90000" bIns="45000" anchor="t">
            <a:spAutoFit/>
          </a:bodyPr>
          <a:p>
            <a:r>
              <a:rPr lang="en-US" sz="2500" b="1" u="none" strike="noStrike">
                <a:solidFill>
                  <a:srgbClr val="FFFFFF"/>
                </a:solidFill>
                <a:effectLst/>
                <a:uFillTx/>
                <a:latin typeface="Cambria-Bold"/>
                <a:ea typeface="Cambria-Bold"/>
              </a:rPr>
              <a:t>By When? A Year-by-Year Answer, Not One Extrapolated Number</a:t>
            </a:r>
            <a:endParaRPr lang="en-US" sz="2500" b="0" u="none" strike="noStrike">
              <a:solidFill>
                <a:srgbClr val="FFFFFF"/>
              </a:solidFill>
              <a:effectLst/>
              <a:uFillTx/>
              <a:latin typeface="Arial"/>
            </a:endParaRPr>
          </a:p>
        </p:txBody>
      </p:sp>
      <p:sp>
        <p:nvSpPr>
          <p:cNvPr id="172" name=""/>
          <p:cNvSpPr/>
          <p:nvPr/>
        </p:nvSpPr>
        <p:spPr>
          <a:xfrm>
            <a:off x="548640" y="1600200"/>
            <a:ext cx="3456720" cy="1234800"/>
          </a:xfrm>
          <a:custGeom>
            <a:avLst/>
            <a:gdLst/>
            <a:ahLst/>
            <a:rect l="0" t="0" r="r" b="b"/>
            <a:pathLst>
              <a:path w="9602" h="3430">
                <a:moveTo>
                  <a:pt x="9373" y="0"/>
                </a:moveTo>
                <a:cubicBezTo>
                  <a:pt x="9526" y="0"/>
                  <a:pt x="9602" y="76"/>
                  <a:pt x="9602" y="228"/>
                </a:cubicBezTo>
                <a:lnTo>
                  <a:pt x="9602" y="3202"/>
                </a:lnTo>
                <a:cubicBezTo>
                  <a:pt x="9602" y="3354"/>
                  <a:pt x="9526" y="3430"/>
                  <a:pt x="9373" y="3430"/>
                </a:cubicBezTo>
                <a:lnTo>
                  <a:pt x="228" y="3430"/>
                </a:lnTo>
                <a:cubicBezTo>
                  <a:pt x="76" y="3430"/>
                  <a:pt x="0" y="3354"/>
                  <a:pt x="0" y="3202"/>
                </a:cubicBezTo>
                <a:lnTo>
                  <a:pt x="0" y="228"/>
                </a:lnTo>
                <a:cubicBezTo>
                  <a:pt x="0" y="76"/>
                  <a:pt x="76" y="0"/>
                  <a:pt x="228" y="0"/>
                </a:cubicBezTo>
                <a:lnTo>
                  <a:pt x="9373" y="0"/>
                </a:lnTo>
                <a:close/>
              </a:path>
            </a:pathLst>
          </a:custGeom>
          <a:solidFill>
            <a:srgbClr val="23456E"/>
          </a:solidFill>
          <a:ln w="12600">
            <a:solidFill>
              <a:srgbClr val="345A85"/>
            </a:solidFill>
            <a:round/>
          </a:ln>
        </p:spPr>
        <p:txBody>
          <a:bodyPr lIns="96120" tIns="51120" rIns="96120" bIns="51120" anchor="t">
            <a:noAutofit/>
          </a:bodyPr>
          <a:p>
            <a:endParaRPr lang="en-US" sz="1800" b="0" u="none" strike="noStrike">
              <a:solidFill>
                <a:srgbClr val="FFFFFF"/>
              </a:solidFill>
              <a:effectLst/>
              <a:uFillTx/>
              <a:latin typeface="Arial"/>
            </a:endParaRPr>
          </a:p>
        </p:txBody>
      </p:sp>
      <p:sp>
        <p:nvSpPr>
          <p:cNvPr id="173" name=""/>
          <p:cNvSpPr txBox="1"/>
          <p:nvPr/>
        </p:nvSpPr>
        <p:spPr>
          <a:xfrm>
            <a:off x="658440" y="1967400"/>
            <a:ext cx="3237120" cy="474480"/>
          </a:xfrm>
          <a:prstGeom prst="rect">
            <a:avLst/>
          </a:prstGeom>
          <a:noFill/>
          <a:ln w="0">
            <a:noFill/>
          </a:ln>
        </p:spPr>
        <p:txBody>
          <a:bodyPr lIns="90000" tIns="45000" rIns="90000" bIns="45000" anchor="t">
            <a:spAutoFit/>
          </a:bodyPr>
          <a:p>
            <a:r>
              <a:rPr lang="en-US" sz="2600" b="1" u="none" strike="noStrike">
                <a:solidFill>
                  <a:srgbClr val="E9C467"/>
                </a:solidFill>
                <a:effectLst/>
                <a:uFillTx/>
                <a:latin typeface="Cambria-Bold"/>
                <a:ea typeface="Cambria-Bold"/>
              </a:rPr>
              <a:t>9.8%</a:t>
            </a:r>
            <a:endParaRPr lang="en-US" sz="2600" b="0" u="none" strike="noStrike">
              <a:solidFill>
                <a:srgbClr val="FFFFFF"/>
              </a:solidFill>
              <a:effectLst/>
              <a:uFillTx/>
              <a:latin typeface="Arial"/>
            </a:endParaRPr>
          </a:p>
        </p:txBody>
      </p:sp>
      <p:sp>
        <p:nvSpPr>
          <p:cNvPr id="174" name=""/>
          <p:cNvSpPr txBox="1"/>
          <p:nvPr/>
        </p:nvSpPr>
        <p:spPr>
          <a:xfrm>
            <a:off x="658440" y="2340720"/>
            <a:ext cx="3237120" cy="469080"/>
          </a:xfrm>
          <a:prstGeom prst="rect">
            <a:avLst/>
          </a:prstGeom>
          <a:noFill/>
          <a:ln w="0">
            <a:noFill/>
          </a:ln>
        </p:spPr>
        <p:txBody>
          <a:bodyPr lIns="90000" tIns="45000" rIns="90000" bIns="45000" anchor="t">
            <a:spAutoFit/>
          </a:bodyPr>
          <a:p>
            <a:r>
              <a:rPr lang="en-US" sz="1100" b="0" u="none" strike="noStrike">
                <a:solidFill>
                  <a:srgbClr val="C7D2E3"/>
                </a:solidFill>
                <a:effectLst/>
                <a:uFillTx/>
                <a:latin typeface="Calibri"/>
                <a:ea typeface="Calibri"/>
              </a:rPr>
              <a:t>of the watchlist is expected to resolve within 10 years</a:t>
            </a:r>
            <a:endParaRPr lang="en-US" sz="1100" b="0" u="none" strike="noStrike">
              <a:solidFill>
                <a:srgbClr val="FFFFFF"/>
              </a:solidFill>
              <a:effectLst/>
              <a:uFillTx/>
              <a:latin typeface="Arial"/>
            </a:endParaRPr>
          </a:p>
        </p:txBody>
      </p:sp>
      <p:sp>
        <p:nvSpPr>
          <p:cNvPr id="175" name=""/>
          <p:cNvSpPr/>
          <p:nvPr/>
        </p:nvSpPr>
        <p:spPr>
          <a:xfrm>
            <a:off x="4187880" y="1600200"/>
            <a:ext cx="3456720" cy="1234800"/>
          </a:xfrm>
          <a:custGeom>
            <a:avLst/>
            <a:gdLst/>
            <a:ahLst/>
            <a:rect l="0" t="0" r="r" b="b"/>
            <a:pathLst>
              <a:path w="9602" h="3430">
                <a:moveTo>
                  <a:pt x="9373" y="0"/>
                </a:moveTo>
                <a:cubicBezTo>
                  <a:pt x="9526" y="0"/>
                  <a:pt x="9602" y="76"/>
                  <a:pt x="9602" y="228"/>
                </a:cubicBezTo>
                <a:lnTo>
                  <a:pt x="9602" y="3202"/>
                </a:lnTo>
                <a:cubicBezTo>
                  <a:pt x="9602" y="3354"/>
                  <a:pt x="9526" y="3430"/>
                  <a:pt x="9373" y="3430"/>
                </a:cubicBezTo>
                <a:lnTo>
                  <a:pt x="228" y="3430"/>
                </a:lnTo>
                <a:cubicBezTo>
                  <a:pt x="76" y="3430"/>
                  <a:pt x="0" y="3354"/>
                  <a:pt x="0" y="3202"/>
                </a:cubicBezTo>
                <a:lnTo>
                  <a:pt x="0" y="228"/>
                </a:lnTo>
                <a:cubicBezTo>
                  <a:pt x="0" y="76"/>
                  <a:pt x="76" y="0"/>
                  <a:pt x="228" y="0"/>
                </a:cubicBezTo>
                <a:lnTo>
                  <a:pt x="9373" y="0"/>
                </a:lnTo>
                <a:close/>
              </a:path>
            </a:pathLst>
          </a:custGeom>
          <a:solidFill>
            <a:srgbClr val="23456E"/>
          </a:solidFill>
          <a:ln w="12600">
            <a:solidFill>
              <a:srgbClr val="345A85"/>
            </a:solidFill>
            <a:round/>
          </a:ln>
        </p:spPr>
        <p:txBody>
          <a:bodyPr lIns="96120" tIns="51120" rIns="96120" bIns="51120" anchor="t">
            <a:noAutofit/>
          </a:bodyPr>
          <a:p>
            <a:endParaRPr lang="en-US" sz="1800" b="0" u="none" strike="noStrike">
              <a:solidFill>
                <a:srgbClr val="FFFFFF"/>
              </a:solidFill>
              <a:effectLst/>
              <a:uFillTx/>
              <a:latin typeface="Arial"/>
            </a:endParaRPr>
          </a:p>
        </p:txBody>
      </p:sp>
      <p:sp>
        <p:nvSpPr>
          <p:cNvPr id="176" name=""/>
          <p:cNvSpPr txBox="1"/>
          <p:nvPr/>
        </p:nvSpPr>
        <p:spPr>
          <a:xfrm>
            <a:off x="4297680" y="1968120"/>
            <a:ext cx="3237120" cy="474480"/>
          </a:xfrm>
          <a:prstGeom prst="rect">
            <a:avLst/>
          </a:prstGeom>
          <a:noFill/>
          <a:ln w="0">
            <a:noFill/>
          </a:ln>
        </p:spPr>
        <p:txBody>
          <a:bodyPr lIns="90000" tIns="45000" rIns="90000" bIns="45000" anchor="t">
            <a:spAutoFit/>
          </a:bodyPr>
          <a:p>
            <a:r>
              <a:rPr lang="en-US" sz="2600" b="1" u="none" strike="noStrike">
                <a:solidFill>
                  <a:srgbClr val="E9C467"/>
                </a:solidFill>
                <a:effectLst/>
                <a:uFillTx/>
                <a:latin typeface="Cambria-Bold"/>
                <a:ea typeface="Cambria-Bold"/>
              </a:rPr>
              <a:t>90.2%</a:t>
            </a:r>
            <a:endParaRPr lang="en-US" sz="2600" b="0" u="none" strike="noStrike">
              <a:solidFill>
                <a:srgbClr val="FFFFFF"/>
              </a:solidFill>
              <a:effectLst/>
              <a:uFillTx/>
              <a:latin typeface="Arial"/>
            </a:endParaRPr>
          </a:p>
        </p:txBody>
      </p:sp>
      <p:sp>
        <p:nvSpPr>
          <p:cNvPr id="177" name=""/>
          <p:cNvSpPr txBox="1"/>
          <p:nvPr/>
        </p:nvSpPr>
        <p:spPr>
          <a:xfrm>
            <a:off x="4297680" y="2340720"/>
            <a:ext cx="3237120" cy="469080"/>
          </a:xfrm>
          <a:prstGeom prst="rect">
            <a:avLst/>
          </a:prstGeom>
          <a:noFill/>
          <a:ln w="0">
            <a:noFill/>
          </a:ln>
        </p:spPr>
        <p:txBody>
          <a:bodyPr lIns="90000" tIns="45000" rIns="90000" bIns="45000" anchor="t">
            <a:spAutoFit/>
          </a:bodyPr>
          <a:p>
            <a:r>
              <a:rPr lang="en-US" sz="1100" b="0" u="none" strike="noStrike">
                <a:solidFill>
                  <a:srgbClr val="C7D2E3"/>
                </a:solidFill>
                <a:effectLst/>
                <a:uFillTx/>
                <a:latin typeface="Calibri"/>
                <a:ea typeface="Calibri"/>
              </a:rPr>
              <a:t>still open past year 10, the majority outcome</a:t>
            </a:r>
            <a:endParaRPr lang="en-US" sz="1100" b="0" u="none" strike="noStrike">
              <a:solidFill>
                <a:srgbClr val="FFFFFF"/>
              </a:solidFill>
              <a:effectLst/>
              <a:uFillTx/>
              <a:latin typeface="Arial"/>
            </a:endParaRPr>
          </a:p>
        </p:txBody>
      </p:sp>
      <p:sp>
        <p:nvSpPr>
          <p:cNvPr id="178" name=""/>
          <p:cNvSpPr/>
          <p:nvPr/>
        </p:nvSpPr>
        <p:spPr>
          <a:xfrm>
            <a:off x="7827120" y="1600200"/>
            <a:ext cx="3456720" cy="1234800"/>
          </a:xfrm>
          <a:custGeom>
            <a:avLst/>
            <a:gdLst/>
            <a:ahLst/>
            <a:rect l="0" t="0" r="r" b="b"/>
            <a:pathLst>
              <a:path w="9602" h="3430">
                <a:moveTo>
                  <a:pt x="9373" y="0"/>
                </a:moveTo>
                <a:cubicBezTo>
                  <a:pt x="9526" y="0"/>
                  <a:pt x="9602" y="76"/>
                  <a:pt x="9602" y="228"/>
                </a:cubicBezTo>
                <a:lnTo>
                  <a:pt x="9602" y="3202"/>
                </a:lnTo>
                <a:cubicBezTo>
                  <a:pt x="9602" y="3354"/>
                  <a:pt x="9526" y="3430"/>
                  <a:pt x="9373" y="3430"/>
                </a:cubicBezTo>
                <a:lnTo>
                  <a:pt x="228" y="3430"/>
                </a:lnTo>
                <a:cubicBezTo>
                  <a:pt x="76" y="3430"/>
                  <a:pt x="0" y="3354"/>
                  <a:pt x="0" y="3202"/>
                </a:cubicBezTo>
                <a:lnTo>
                  <a:pt x="0" y="228"/>
                </a:lnTo>
                <a:cubicBezTo>
                  <a:pt x="0" y="76"/>
                  <a:pt x="76" y="0"/>
                  <a:pt x="228" y="0"/>
                </a:cubicBezTo>
                <a:lnTo>
                  <a:pt x="9373" y="0"/>
                </a:lnTo>
                <a:close/>
              </a:path>
            </a:pathLst>
          </a:custGeom>
          <a:solidFill>
            <a:srgbClr val="23456E"/>
          </a:solidFill>
          <a:ln w="12600">
            <a:solidFill>
              <a:srgbClr val="345A85"/>
            </a:solidFill>
            <a:round/>
          </a:ln>
        </p:spPr>
        <p:txBody>
          <a:bodyPr lIns="96120" tIns="51120" rIns="96120" bIns="51120" anchor="t">
            <a:noAutofit/>
          </a:bodyPr>
          <a:p>
            <a:endParaRPr lang="en-US" sz="1800" b="0" u="none" strike="noStrike">
              <a:solidFill>
                <a:srgbClr val="FFFFFF"/>
              </a:solidFill>
              <a:effectLst/>
              <a:uFillTx/>
              <a:latin typeface="Arial"/>
            </a:endParaRPr>
          </a:p>
        </p:txBody>
      </p:sp>
      <p:sp>
        <p:nvSpPr>
          <p:cNvPr id="179" name=""/>
          <p:cNvSpPr txBox="1"/>
          <p:nvPr/>
        </p:nvSpPr>
        <p:spPr>
          <a:xfrm>
            <a:off x="7936920" y="1967400"/>
            <a:ext cx="3237120" cy="474480"/>
          </a:xfrm>
          <a:prstGeom prst="rect">
            <a:avLst/>
          </a:prstGeom>
          <a:noFill/>
          <a:ln w="0">
            <a:noFill/>
          </a:ln>
        </p:spPr>
        <p:txBody>
          <a:bodyPr lIns="90000" tIns="45000" rIns="90000" bIns="45000" anchor="t">
            <a:spAutoFit/>
          </a:bodyPr>
          <a:p>
            <a:r>
              <a:rPr lang="en-US" sz="2600" b="1" u="none" strike="noStrike">
                <a:solidFill>
                  <a:srgbClr val="E9C467"/>
                </a:solidFill>
                <a:effectLst/>
                <a:uFillTx/>
                <a:latin typeface="Cambria-Bold"/>
                <a:ea typeface="Cambria-Bold"/>
              </a:rPr>
              <a:t>0.760</a:t>
            </a:r>
            <a:endParaRPr lang="en-US" sz="2600" b="0" u="none" strike="noStrike">
              <a:solidFill>
                <a:srgbClr val="FFFFFF"/>
              </a:solidFill>
              <a:effectLst/>
              <a:uFillTx/>
              <a:latin typeface="Arial"/>
            </a:endParaRPr>
          </a:p>
        </p:txBody>
      </p:sp>
      <p:sp>
        <p:nvSpPr>
          <p:cNvPr id="180" name=""/>
          <p:cNvSpPr txBox="1"/>
          <p:nvPr/>
        </p:nvSpPr>
        <p:spPr>
          <a:xfrm>
            <a:off x="7936920" y="2340720"/>
            <a:ext cx="3237120" cy="469080"/>
          </a:xfrm>
          <a:prstGeom prst="rect">
            <a:avLst/>
          </a:prstGeom>
          <a:noFill/>
          <a:ln w="0">
            <a:noFill/>
          </a:ln>
        </p:spPr>
        <p:txBody>
          <a:bodyPr lIns="90000" tIns="45000" rIns="90000" bIns="45000" anchor="t">
            <a:spAutoFit/>
          </a:bodyPr>
          <a:p>
            <a:r>
              <a:rPr lang="en-US" sz="1100" b="0" u="none" strike="noStrike">
                <a:solidFill>
                  <a:srgbClr val="C7D2E3"/>
                </a:solidFill>
                <a:effectLst/>
                <a:uFillTx/>
                <a:latin typeface="Calibri"/>
                <a:ea typeface="Calibri"/>
              </a:rPr>
              <a:t>c-index of the Cox model behind every one of these numbers</a:t>
            </a:r>
            <a:endParaRPr lang="en-US" sz="1100" b="0" u="none" strike="noStrike">
              <a:solidFill>
                <a:srgbClr val="FFFFFF"/>
              </a:solidFill>
              <a:effectLst/>
              <a:uFillTx/>
              <a:latin typeface="Arial"/>
            </a:endParaRPr>
          </a:p>
        </p:txBody>
      </p:sp>
      <p:sp>
        <p:nvSpPr>
          <p:cNvPr id="181" name=""/>
          <p:cNvSpPr txBox="1"/>
          <p:nvPr/>
        </p:nvSpPr>
        <p:spPr>
          <a:xfrm>
            <a:off x="685800" y="4207320"/>
            <a:ext cx="10789920" cy="501480"/>
          </a:xfrm>
          <a:prstGeom prst="rect">
            <a:avLst/>
          </a:prstGeom>
          <a:noFill/>
          <a:ln w="0">
            <a:noFill/>
          </a:ln>
        </p:spPr>
        <p:txBody>
          <a:bodyPr lIns="90000" tIns="45000" rIns="90000" bIns="45000" anchor="t">
            <a:spAutoFit/>
          </a:bodyPr>
          <a:p>
            <a:pPr>
              <a:lnSpc>
                <a:spcPct val="125000"/>
              </a:lnSpc>
            </a:pPr>
            <a:r>
              <a:rPr lang="en-US" sz="1300" b="0" u="none" strike="noStrike">
                <a:solidFill>
                  <a:srgbClr val="D6DEEC"/>
                </a:solidFill>
                <a:effectLst/>
                <a:uFillTx/>
                <a:latin typeface="Calibri"/>
                <a:ea typeface="Calibri"/>
              </a:rPr>
              <a:t>That 90.2% isn't a model shortfall. Only about 7% of all ClinVar variants have ever resolved historically, so a model predicting most VUS will still be open a decade out is just describing the real pace of the field.</a:t>
            </a:r>
            <a:endParaRPr lang="en-US" sz="1300" b="0" u="none" strike="noStrike">
              <a:solidFill>
                <a:srgbClr val="FFFFFF"/>
              </a:solidFill>
              <a:effectLst/>
              <a:uFillTx/>
              <a:latin typeface="Arial"/>
            </a:endParaRPr>
          </a:p>
        </p:txBody>
      </p:sp>
      <p:sp>
        <p:nvSpPr>
          <p:cNvPr id="182" name=""/>
          <p:cNvSpPr txBox="1"/>
          <p:nvPr/>
        </p:nvSpPr>
        <p:spPr>
          <a:xfrm>
            <a:off x="11368840" y="6446520"/>
            <a:ext cx="500000" cy="300000"/>
          </a:xfrm>
          <a:prstGeom prst="rect">
            <a:avLst/>
          </a:prstGeom>
          <a:noFill/>
          <a:ln w="0">
            <a:noFill/>
          </a:ln>
        </p:spPr>
        <p:txBody>
          <a:bodyPr lIns="90000" tIns="45000" rIns="90000" bIns="45000" anchor="t">
            <a:spAutoFit/>
          </a:bodyPr>
          <a:p>
            <a:pPr algn="r"/>
            <a:r>
              <a:rPr lang="en-US" sz="1000" b="0" u="none" strike="noStrike">
                <a:solidFill>
                  <a:srgbClr val="7B8AA5"/>
                </a:solidFill>
                <a:effectLst/>
                <a:uFillTx/>
                <a:latin typeface="Calibri"/>
                <a:ea typeface="Calibri"/>
              </a:rPr>
              <a:t>1</a:t>
            </a:r>
            <a:r>
              <a:rPr lang="en-US" sz="1000" b="0" u="none" strike="noStrike">
                <a:solidFill>
                  <a:srgbClr val="7B8AA5"/>
                </a:solidFill>
                <a:effectLst/>
                <a:uFillTx/>
                <a:latin typeface="Calibri"/>
                <a:ea typeface="Calibri"/>
              </a:rPr>
              <a:t>7</a:t>
            </a:r>
            <a:endParaRPr lang="en-US" sz="10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83" name=""/>
          <p:cNvSpPr txBox="1"/>
          <p:nvPr/>
        </p:nvSpPr>
        <p:spPr>
          <a:xfrm>
            <a:off x="548640" y="384120"/>
            <a:ext cx="7315200" cy="292680"/>
          </a:xfrm>
          <a:prstGeom prst="rect">
            <a:avLst/>
          </a:prstGeom>
          <a:noFill/>
          <a:ln w="0">
            <a:noFill/>
          </a:ln>
        </p:spPr>
        <p:txBody>
          <a:bodyPr lIns="90000" tIns="45000" rIns="90000" bIns="45000" anchor="t">
            <a:spAutoFit/>
          </a:bodyPr>
          <a:p>
            <a:r>
              <a:rPr lang="en-US" sz="1200" b="1" u="none" spc="201" strike="noStrike">
                <a:solidFill>
                  <a:srgbClr val="E76C4E"/>
                </a:solidFill>
                <a:effectLst/>
                <a:uFillTx/>
                <a:latin typeface="Calibri-Bold"/>
                <a:ea typeface="Calibri-Bold"/>
              </a:rPr>
              <a:t>THE RECLASSIFICATION MODEL</a:t>
            </a:r>
            <a:endParaRPr lang="en-US" sz="1200" b="0" u="none" strike="noStrike">
              <a:solidFill>
                <a:srgbClr val="000000"/>
              </a:solidFill>
              <a:effectLst/>
              <a:uFillTx/>
              <a:latin typeface="Arial"/>
            </a:endParaRPr>
          </a:p>
        </p:txBody>
      </p:sp>
      <p:sp>
        <p:nvSpPr>
          <p:cNvPr id="184" name=""/>
          <p:cNvSpPr txBox="1"/>
          <p:nvPr/>
        </p:nvSpPr>
        <p:spPr>
          <a:xfrm>
            <a:off x="548640" y="658440"/>
            <a:ext cx="10789920" cy="777240"/>
          </a:xfrm>
          <a:prstGeom prst="rect">
            <a:avLst/>
          </a:prstGeom>
          <a:noFill/>
          <a:ln w="0">
            <a:noFill/>
          </a:ln>
        </p:spPr>
        <p:txBody>
          <a:bodyPr lIns="90000" tIns="45000" rIns="90000" bIns="45000" anchor="t">
            <a:spAutoFit/>
          </a:bodyPr>
          <a:p>
            <a:r>
              <a:rPr lang="en-US" sz="2700" b="1" u="none" strike="noStrike">
                <a:solidFill>
                  <a:srgbClr val="1F242E"/>
                </a:solidFill>
                <a:effectLst/>
                <a:uFillTx/>
                <a:latin typeface="Cambria-Bold"/>
                <a:ea typeface="Cambria-Bold"/>
              </a:rPr>
              <a:t>Expected Reclassifications, Year By Year</a:t>
            </a:r>
            <a:endParaRPr lang="en-US" sz="2700" b="0" u="none" strike="noStrike">
              <a:solidFill>
                <a:srgbClr val="000000"/>
              </a:solidFill>
              <a:effectLst/>
              <a:uFillTx/>
              <a:latin typeface="Arial"/>
            </a:endParaRPr>
          </a:p>
        </p:txBody>
      </p:sp>
      <p:sp>
        <p:nvSpPr>
          <p:cNvPr id="186" name=""/>
          <p:cNvSpPr txBox="1"/>
          <p:nvPr/>
        </p:nvSpPr>
        <p:spPr>
          <a:xfrm>
            <a:off x="11368840" y="6446520"/>
            <a:ext cx="500000" cy="300000"/>
          </a:xfrm>
          <a:prstGeom prst="rect">
            <a:avLst/>
          </a:prstGeom>
          <a:noFill/>
          <a:ln w="0">
            <a:noFill/>
          </a:ln>
        </p:spPr>
        <p:txBody>
          <a:bodyPr lIns="90000" tIns="45000" rIns="90000" bIns="45000" anchor="t">
            <a:spAutoFit/>
          </a:bodyPr>
          <a:p>
            <a:pPr algn="r"/>
            <a:r>
              <a:rPr lang="en-US" sz="1000" b="0" u="none" strike="noStrike">
                <a:solidFill>
                  <a:srgbClr val="8D99AE"/>
                </a:solidFill>
                <a:effectLst/>
                <a:uFillTx/>
                <a:latin typeface="Calibri"/>
                <a:ea typeface="Calibri"/>
              </a:rPr>
              <a:t>1</a:t>
            </a:r>
            <a:r>
              <a:rPr lang="en-US" sz="1000" b="0" u="none" strike="noStrike">
                <a:solidFill>
                  <a:srgbClr val="8D99AE"/>
                </a:solidFill>
                <a:effectLst/>
                <a:uFillTx/>
                <a:latin typeface="Calibri"/>
                <a:ea typeface="Calibri"/>
              </a:rPr>
              <a:t>8</a:t>
            </a:r>
            <a:endParaRPr lang="en-US" sz="1000" b="0" u="none" strike="noStrike">
              <a:solidFill>
                <a:srgbClr val="000000"/>
              </a:solidFill>
              <a:effectLst/>
              <a:uFillTx/>
              <a:latin typeface="Arial"/>
            </a:endParaRPr>
          </a:p>
        </p:txBody>
      </p:sp>
      <p:pic>
        <p:nvPicPr>
          <p:cNvPr id="187" name="Picture 186" descr="expected_yearly_full.png"/>
          <p:cNvPicPr>
            <a:picLocks noChangeAspect="1"/>
          </p:cNvPicPr>
          <p:nvPr/>
        </p:nvPicPr>
        <p:blipFill>
          <a:blip r:embed="rId3"/>
          <a:stretch>
            <a:fillRect/>
          </a:stretch>
        </p:blipFill>
        <p:spPr>
          <a:xfrm>
            <a:off x="640080" y="1542011"/>
            <a:ext cx="10881360" cy="3956858"/>
          </a:xfrm>
          <a:prstGeom prst="rect">
            <a:avLst/>
          </a:prstGeom>
        </p:spPr>
      </p:pic>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87" name=""/>
          <p:cNvSpPr txBox="1"/>
          <p:nvPr/>
        </p:nvSpPr>
        <p:spPr>
          <a:xfrm>
            <a:off x="548640" y="384120"/>
            <a:ext cx="7315200" cy="292680"/>
          </a:xfrm>
          <a:prstGeom prst="rect">
            <a:avLst/>
          </a:prstGeom>
          <a:noFill/>
          <a:ln w="0">
            <a:noFill/>
          </a:ln>
        </p:spPr>
        <p:txBody>
          <a:bodyPr lIns="90000" tIns="45000" rIns="90000" bIns="45000" anchor="t">
            <a:spAutoFit/>
          </a:bodyPr>
          <a:p>
            <a:r>
              <a:rPr lang="en-US" sz="1200" b="1" u="none" spc="201" strike="noStrike">
                <a:solidFill>
                  <a:srgbClr val="E76C4E"/>
                </a:solidFill>
                <a:effectLst/>
                <a:uFillTx/>
                <a:latin typeface="Calibri-Bold"/>
                <a:ea typeface="Calibri-Bold"/>
              </a:rPr>
              <a:t>PROOF THIS WORKS</a:t>
            </a:r>
            <a:endParaRPr lang="en-US" sz="1200" b="0" u="none" strike="noStrike">
              <a:solidFill>
                <a:srgbClr val="000000"/>
              </a:solidFill>
              <a:effectLst/>
              <a:uFillTx/>
              <a:latin typeface="Arial"/>
            </a:endParaRPr>
          </a:p>
        </p:txBody>
      </p:sp>
      <p:sp>
        <p:nvSpPr>
          <p:cNvPr id="188" name=""/>
          <p:cNvSpPr txBox="1"/>
          <p:nvPr/>
        </p:nvSpPr>
        <p:spPr>
          <a:xfrm>
            <a:off x="548640" y="658440"/>
            <a:ext cx="10789920" cy="977400"/>
          </a:xfrm>
          <a:prstGeom prst="rect">
            <a:avLst/>
          </a:prstGeom>
          <a:noFill/>
          <a:ln w="0">
            <a:noFill/>
          </a:ln>
        </p:spPr>
        <p:txBody>
          <a:bodyPr lIns="90000" tIns="45000" rIns="90000" bIns="45000" anchor="t">
            <a:spAutoFit/>
          </a:bodyPr>
          <a:p>
            <a:r>
              <a:rPr lang="en-US" sz="3000" b="1" u="none" strike="noStrike">
                <a:solidFill>
                  <a:srgbClr val="1F242E"/>
                </a:solidFill>
                <a:effectLst/>
                <a:uFillTx/>
                <a:latin typeface="Cambria-Bold"/>
                <a:ea typeface="Cambria-Bold"/>
              </a:rPr>
              <a:t>A Real Case: Scored High in 2018, Resolved by 2026</a:t>
            </a:r>
            <a:endParaRPr lang="en-US" sz="3000" b="0" u="none" strike="noStrike">
              <a:solidFill>
                <a:srgbClr val="000000"/>
              </a:solidFill>
              <a:effectLst/>
              <a:uFillTx/>
              <a:latin typeface="Arial"/>
            </a:endParaRPr>
          </a:p>
        </p:txBody>
      </p:sp>
      <p:sp>
        <p:nvSpPr>
          <p:cNvPr id="189" name=""/>
          <p:cNvSpPr/>
          <p:nvPr/>
        </p:nvSpPr>
        <p:spPr>
          <a:xfrm>
            <a:off x="548640" y="1554480"/>
            <a:ext cx="5349600" cy="1920600"/>
          </a:xfrm>
          <a:custGeom>
            <a:avLst/>
            <a:gdLst/>
            <a:ahLst/>
            <a:rect l="0" t="0" r="r" b="b"/>
            <a:pathLst>
              <a:path w="14860" h="5335">
                <a:moveTo>
                  <a:pt x="14631" y="0"/>
                </a:moveTo>
                <a:cubicBezTo>
                  <a:pt x="14784" y="0"/>
                  <a:pt x="14860" y="76"/>
                  <a:pt x="14860" y="228"/>
                </a:cubicBezTo>
                <a:lnTo>
                  <a:pt x="14860" y="5107"/>
                </a:lnTo>
                <a:cubicBezTo>
                  <a:pt x="14860" y="5259"/>
                  <a:pt x="14784" y="5335"/>
                  <a:pt x="14631" y="5335"/>
                </a:cubicBezTo>
                <a:lnTo>
                  <a:pt x="228" y="5335"/>
                </a:lnTo>
                <a:cubicBezTo>
                  <a:pt x="76" y="5335"/>
                  <a:pt x="0" y="5259"/>
                  <a:pt x="0" y="5107"/>
                </a:cubicBezTo>
                <a:lnTo>
                  <a:pt x="0" y="228"/>
                </a:lnTo>
                <a:cubicBezTo>
                  <a:pt x="0" y="76"/>
                  <a:pt x="76" y="0"/>
                  <a:pt x="228" y="0"/>
                </a:cubicBezTo>
                <a:lnTo>
                  <a:pt x="14631" y="0"/>
                </a:lnTo>
                <a:close/>
              </a:path>
            </a:pathLst>
          </a:custGeom>
          <a:solidFill>
            <a:srgbClr val="F5F7FA"/>
          </a:solidFill>
          <a:ln w="12600">
            <a:solidFill>
              <a:srgbClr val="E2E7EF"/>
            </a:solidFill>
            <a:round/>
          </a:ln>
        </p:spPr>
        <p:txBody>
          <a:bodyPr lIns="96120" tIns="51120" rIns="96120" bIns="51120" anchor="t">
            <a:noAutofit/>
          </a:bodyPr>
          <a:p>
            <a:endParaRPr lang="en-US" sz="1800" b="0" u="none" strike="noStrike">
              <a:solidFill>
                <a:srgbClr val="000000"/>
              </a:solidFill>
              <a:effectLst/>
              <a:uFillTx/>
              <a:latin typeface="Arial"/>
            </a:endParaRPr>
          </a:p>
        </p:txBody>
      </p:sp>
      <p:sp>
        <p:nvSpPr>
          <p:cNvPr id="190" name=""/>
          <p:cNvSpPr txBox="1"/>
          <p:nvPr/>
        </p:nvSpPr>
        <p:spPr>
          <a:xfrm>
            <a:off x="685800" y="1664280"/>
            <a:ext cx="5074920" cy="1051560"/>
          </a:xfrm>
          <a:prstGeom prst="rect">
            <a:avLst/>
          </a:prstGeom>
          <a:noFill/>
          <a:ln w="0">
            <a:noFill/>
          </a:ln>
        </p:spPr>
        <p:txBody>
          <a:bodyPr lIns="90000" tIns="45000" rIns="90000" bIns="45000" anchor="t">
            <a:spAutoFit/>
          </a:bodyPr>
          <a:p>
            <a:r>
              <a:rPr lang="en-US" sz="4400" b="1" u="none" strike="noStrike">
                <a:solidFill>
                  <a:srgbClr val="1C375C"/>
                </a:solidFill>
                <a:effectLst/>
                <a:uFillTx/>
                <a:latin typeface="Cambria-Bold"/>
                <a:ea typeface="Cambria-Bold"/>
              </a:rPr>
              <a:t>0.968</a:t>
            </a:r>
            <a:endParaRPr lang="en-US" sz="4400" b="0" u="none" strike="noStrike">
              <a:solidFill>
                <a:srgbClr val="000000"/>
              </a:solidFill>
              <a:effectLst/>
              <a:uFillTx/>
              <a:latin typeface="Arial"/>
            </a:endParaRPr>
          </a:p>
        </p:txBody>
      </p:sp>
      <p:sp>
        <p:nvSpPr>
          <p:cNvPr id="191" name=""/>
          <p:cNvSpPr txBox="1"/>
          <p:nvPr/>
        </p:nvSpPr>
        <p:spPr>
          <a:xfrm>
            <a:off x="685800" y="2788920"/>
            <a:ext cx="5074920" cy="548640"/>
          </a:xfrm>
          <a:prstGeom prst="rect">
            <a:avLst/>
          </a:prstGeom>
          <a:noFill/>
          <a:ln w="0">
            <a:noFill/>
          </a:ln>
        </p:spPr>
        <p:txBody>
          <a:bodyPr lIns="90000" tIns="45000" rIns="90000" bIns="45000" anchor="t">
            <a:spAutoFit/>
          </a:bodyPr>
          <a:p>
            <a:r>
              <a:rPr lang="en-US" sz="1100" b="0" u="none" strike="noStrike">
                <a:solidFill>
                  <a:srgbClr val="475265"/>
                </a:solidFill>
                <a:effectLst/>
                <a:uFillTx/>
                <a:latin typeface="Calibri"/>
                <a:ea typeface="Calibri"/>
              </a:rPr>
              <a:t>reclassification score assigned using only 2018-era ClinVar data</a:t>
            </a:r>
            <a:endParaRPr lang="en-US" sz="1100" b="0" u="none" strike="noStrike">
              <a:solidFill>
                <a:srgbClr val="000000"/>
              </a:solidFill>
              <a:effectLst/>
              <a:uFillTx/>
              <a:latin typeface="Arial"/>
            </a:endParaRPr>
          </a:p>
        </p:txBody>
      </p:sp>
      <p:sp>
        <p:nvSpPr>
          <p:cNvPr id="192" name=""/>
          <p:cNvSpPr txBox="1"/>
          <p:nvPr/>
        </p:nvSpPr>
        <p:spPr>
          <a:xfrm>
            <a:off x="548640" y="3657600"/>
            <a:ext cx="5349240" cy="365760"/>
          </a:xfrm>
          <a:prstGeom prst="rect">
            <a:avLst/>
          </a:prstGeom>
          <a:noFill/>
          <a:ln w="0">
            <a:noFill/>
          </a:ln>
        </p:spPr>
        <p:txBody>
          <a:bodyPr lIns="90000" tIns="45000" rIns="90000" bIns="45000" anchor="t">
            <a:spAutoFit/>
          </a:bodyPr>
          <a:p>
            <a:r>
              <a:rPr lang="en-US" sz="1300" b="1" u="none" strike="noStrike">
                <a:solidFill>
                  <a:srgbClr val="1C375C"/>
                </a:solidFill>
                <a:effectLst/>
                <a:uFillTx/>
                <a:latin typeface="Calibri-Bold"/>
                <a:ea typeface="Calibri-Bold"/>
              </a:rPr>
              <a:t>VariationID 376633 · TP53</a:t>
            </a:r>
            <a:endParaRPr lang="en-US" sz="1300" b="0" u="none" strike="noStrike">
              <a:solidFill>
                <a:srgbClr val="000000"/>
              </a:solidFill>
              <a:effectLst/>
              <a:uFillTx/>
              <a:latin typeface="Arial"/>
            </a:endParaRPr>
          </a:p>
        </p:txBody>
      </p:sp>
      <p:sp>
        <p:nvSpPr>
          <p:cNvPr id="193" name=""/>
          <p:cNvSpPr txBox="1"/>
          <p:nvPr/>
        </p:nvSpPr>
        <p:spPr>
          <a:xfrm>
            <a:off x="548640" y="4023360"/>
            <a:ext cx="5349240" cy="365760"/>
          </a:xfrm>
          <a:prstGeom prst="rect">
            <a:avLst/>
          </a:prstGeom>
          <a:noFill/>
          <a:ln w="0">
            <a:noFill/>
          </a:ln>
        </p:spPr>
        <p:txBody>
          <a:bodyPr lIns="90000" tIns="45000" rIns="90000" bIns="45000" anchor="t">
            <a:spAutoFit/>
          </a:bodyPr>
          <a:p>
            <a:r>
              <a:rPr lang="en-US" sz="1200" b="0" u="none" strike="noStrike">
                <a:solidFill>
                  <a:srgbClr val="475265"/>
                </a:solidFill>
                <a:effectLst/>
                <a:uFillTx/>
                <a:latin typeface="Calibri"/>
                <a:ea typeface="Calibri"/>
              </a:rPr>
              <a:t>Missing gnomAD AF · MaveDB coverage present</a:t>
            </a:r>
            <a:endParaRPr lang="en-US" sz="1200" b="0" u="none" strike="noStrike">
              <a:solidFill>
                <a:srgbClr val="000000"/>
              </a:solidFill>
              <a:effectLst/>
              <a:uFillTx/>
              <a:latin typeface="Arial"/>
            </a:endParaRPr>
          </a:p>
        </p:txBody>
      </p:sp>
      <p:sp>
        <p:nvSpPr>
          <p:cNvPr id="194" name=""/>
          <p:cNvSpPr/>
          <p:nvPr/>
        </p:nvSpPr>
        <p:spPr>
          <a:xfrm>
            <a:off x="6126480" y="1554480"/>
            <a:ext cx="5349600" cy="1920600"/>
          </a:xfrm>
          <a:custGeom>
            <a:avLst/>
            <a:gdLst/>
            <a:ahLst/>
            <a:rect l="0" t="0" r="r" b="b"/>
            <a:pathLst>
              <a:path w="14860" h="5335">
                <a:moveTo>
                  <a:pt x="14631" y="0"/>
                </a:moveTo>
                <a:cubicBezTo>
                  <a:pt x="14784" y="0"/>
                  <a:pt x="14860" y="76"/>
                  <a:pt x="14860" y="228"/>
                </a:cubicBezTo>
                <a:lnTo>
                  <a:pt x="14860" y="5107"/>
                </a:lnTo>
                <a:cubicBezTo>
                  <a:pt x="14860" y="5259"/>
                  <a:pt x="14784" y="5335"/>
                  <a:pt x="14631" y="5335"/>
                </a:cubicBezTo>
                <a:lnTo>
                  <a:pt x="228" y="5335"/>
                </a:lnTo>
                <a:cubicBezTo>
                  <a:pt x="76" y="5335"/>
                  <a:pt x="0" y="5259"/>
                  <a:pt x="0" y="5107"/>
                </a:cubicBezTo>
                <a:lnTo>
                  <a:pt x="0" y="228"/>
                </a:lnTo>
                <a:cubicBezTo>
                  <a:pt x="0" y="76"/>
                  <a:pt x="76" y="0"/>
                  <a:pt x="228" y="0"/>
                </a:cubicBezTo>
                <a:lnTo>
                  <a:pt x="14631" y="0"/>
                </a:lnTo>
                <a:close/>
              </a:path>
            </a:pathLst>
          </a:custGeom>
          <a:solidFill>
            <a:srgbClr val="E9F5F3"/>
          </a:solidFill>
          <a:ln w="12600">
            <a:solidFill>
              <a:srgbClr val="279D8F"/>
            </a:solidFill>
            <a:round/>
          </a:ln>
        </p:spPr>
        <p:txBody>
          <a:bodyPr lIns="96120" tIns="51120" rIns="96120" bIns="51120" anchor="t">
            <a:noAutofit/>
          </a:bodyPr>
          <a:p>
            <a:endParaRPr lang="en-US" sz="1800" b="0" u="none" strike="noStrike">
              <a:solidFill>
                <a:srgbClr val="000000"/>
              </a:solidFill>
              <a:effectLst/>
              <a:uFillTx/>
              <a:latin typeface="Arial"/>
            </a:endParaRPr>
          </a:p>
        </p:txBody>
      </p:sp>
      <p:sp>
        <p:nvSpPr>
          <p:cNvPr id="195" name=""/>
          <p:cNvSpPr txBox="1"/>
          <p:nvPr/>
        </p:nvSpPr>
        <p:spPr>
          <a:xfrm>
            <a:off x="6263640" y="1664280"/>
            <a:ext cx="5074920" cy="1051560"/>
          </a:xfrm>
          <a:prstGeom prst="rect">
            <a:avLst/>
          </a:prstGeom>
          <a:noFill/>
          <a:ln w="0">
            <a:noFill/>
          </a:ln>
        </p:spPr>
        <p:txBody>
          <a:bodyPr lIns="90000" tIns="45000" rIns="90000" bIns="45000" anchor="t">
            <a:spAutoFit/>
          </a:bodyPr>
          <a:p>
            <a:r>
              <a:rPr lang="en-US" sz="3600" b="1" u="none" strike="noStrike">
                <a:solidFill>
                  <a:srgbClr val="279D8F"/>
                </a:solidFill>
                <a:effectLst/>
                <a:uFillTx/>
                <a:latin typeface="Cambria-Bold"/>
                <a:ea typeface="Cambria-Bold"/>
              </a:rPr>
              <a:t>Pathogenic</a:t>
            </a:r>
            <a:endParaRPr lang="en-US" sz="3600" b="0" u="none" strike="noStrike">
              <a:solidFill>
                <a:srgbClr val="000000"/>
              </a:solidFill>
              <a:effectLst/>
              <a:uFillTx/>
              <a:latin typeface="Arial"/>
            </a:endParaRPr>
          </a:p>
        </p:txBody>
      </p:sp>
      <p:sp>
        <p:nvSpPr>
          <p:cNvPr id="196" name=""/>
          <p:cNvSpPr txBox="1"/>
          <p:nvPr/>
        </p:nvSpPr>
        <p:spPr>
          <a:xfrm>
            <a:off x="6263640" y="2788920"/>
            <a:ext cx="5074920" cy="548640"/>
          </a:xfrm>
          <a:prstGeom prst="rect">
            <a:avLst/>
          </a:prstGeom>
          <a:noFill/>
          <a:ln w="0">
            <a:noFill/>
          </a:ln>
        </p:spPr>
        <p:txBody>
          <a:bodyPr lIns="90000" tIns="45000" rIns="90000" bIns="45000" anchor="t">
            <a:spAutoFit/>
          </a:bodyPr>
          <a:p>
            <a:r>
              <a:rPr lang="en-US" sz="1100" b="0" u="none" strike="noStrike">
                <a:solidFill>
                  <a:srgbClr val="475265"/>
                </a:solidFill>
                <a:effectLst/>
                <a:uFillTx/>
                <a:latin typeface="Calibri"/>
                <a:ea typeface="Calibri"/>
              </a:rPr>
              <a:t>actual ClinVar classification by the 2026 snapshot</a:t>
            </a:r>
            <a:endParaRPr lang="en-US" sz="1100" b="0" u="none" strike="noStrike">
              <a:solidFill>
                <a:srgbClr val="000000"/>
              </a:solidFill>
              <a:effectLst/>
              <a:uFillTx/>
              <a:latin typeface="Arial"/>
            </a:endParaRPr>
          </a:p>
        </p:txBody>
      </p:sp>
      <p:sp>
        <p:nvSpPr>
          <p:cNvPr id="197" name=""/>
          <p:cNvSpPr txBox="1"/>
          <p:nvPr/>
        </p:nvSpPr>
        <p:spPr>
          <a:xfrm>
            <a:off x="6126480" y="3657600"/>
            <a:ext cx="5349240" cy="1005840"/>
          </a:xfrm>
          <a:prstGeom prst="rect">
            <a:avLst/>
          </a:prstGeom>
          <a:noFill/>
          <a:ln w="0">
            <a:noFill/>
          </a:ln>
        </p:spPr>
        <p:txBody>
          <a:bodyPr lIns="90000" tIns="45000" rIns="90000" bIns="45000" anchor="t">
            <a:spAutoFit/>
          </a:bodyPr>
          <a:p>
            <a:pPr>
              <a:lnSpc>
                <a:spcPct val="130000"/>
              </a:lnSpc>
            </a:pPr>
            <a:r>
              <a:rPr lang="en-US" sz="1300" b="0" i="1" u="none" strike="noStrike">
                <a:solidFill>
                  <a:srgbClr val="2A3547"/>
                </a:solidFill>
                <a:effectLst/>
                <a:uFillTx/>
                <a:latin typeface="Calibri-Italic"/>
                <a:ea typeface="Calibri-Italic"/>
              </a:rPr>
              <a:t>The model flagged this variant as high-probability years</a:t>
            </a:r>
            <a:r>
              <a:rPr lang="en-US" sz="1300" b="0" i="1" u="none" strike="noStrike">
                <a:solidFill>
                  <a:srgbClr val="2A3547"/>
                </a:solidFill>
                <a:effectLst/>
                <a:uFillTx/>
                <a:latin typeface="Calibri-Italic"/>
                <a:ea typeface="Calibri-Italic"/>
              </a:rPr>
              <a:t>(in training) years before it was reclassified</a:t>
            </a:r>
            <a:endParaRPr lang="en-US" sz="1300" b="0" u="none" strike="noStrike">
              <a:solidFill>
                <a:srgbClr val="000000"/>
              </a:solidFill>
              <a:effectLst/>
              <a:uFillTx/>
              <a:latin typeface="Arial"/>
            </a:endParaRPr>
          </a:p>
        </p:txBody>
      </p:sp>
      <p:sp>
        <p:nvSpPr>
          <p:cNvPr id="198" name=""/>
          <p:cNvSpPr txBox="1"/>
          <p:nvPr/>
        </p:nvSpPr>
        <p:spPr>
          <a:xfrm>
            <a:off x="11368840" y="6446520"/>
            <a:ext cx="500000" cy="300000"/>
          </a:xfrm>
          <a:prstGeom prst="rect">
            <a:avLst/>
          </a:prstGeom>
          <a:noFill/>
          <a:ln w="0">
            <a:noFill/>
          </a:ln>
        </p:spPr>
        <p:txBody>
          <a:bodyPr lIns="90000" tIns="45000" rIns="90000" bIns="45000" anchor="t">
            <a:spAutoFit/>
          </a:bodyPr>
          <a:p>
            <a:pPr algn="r"/>
            <a:r>
              <a:rPr lang="en-US" sz="1000" b="0" u="none" strike="noStrike">
                <a:solidFill>
                  <a:srgbClr val="8D99AE"/>
                </a:solidFill>
                <a:effectLst/>
                <a:uFillTx/>
                <a:latin typeface="Calibri"/>
                <a:ea typeface="Calibri"/>
              </a:rPr>
              <a:t>1</a:t>
            </a:r>
            <a:r>
              <a:rPr lang="en-US" sz="1000" b="0" u="none" strike="noStrike">
                <a:solidFill>
                  <a:srgbClr val="8D99AE"/>
                </a:solidFill>
                <a:effectLst/>
                <a:uFillTx/>
                <a:latin typeface="Calibri"/>
                <a:ea typeface="Calibri"/>
              </a:rPr>
              <a:t>9</a:t>
            </a:r>
            <a:endParaRPr lang="en-US"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C375C"/>
        </a:solidFill>
      </p:bgPr>
    </p:bg>
    <p:spTree>
      <p:nvGrpSpPr>
        <p:cNvPr id="1" name=""/>
        <p:cNvGrpSpPr/>
        <p:nvPr/>
      </p:nvGrpSpPr>
      <p:grpSpPr>
        <a:xfrm>
          <a:off x="0" y="0"/>
          <a:ext cx="0" cy="0"/>
          <a:chOff x="0" y="0"/>
          <a:chExt cx="0" cy="0"/>
        </a:xfrm>
      </p:grpSpPr>
      <p:sp>
        <p:nvSpPr>
          <p:cNvPr id="199" name=""/>
          <p:cNvSpPr txBox="1"/>
          <p:nvPr/>
        </p:nvSpPr>
        <p:spPr>
          <a:xfrm>
            <a:off x="548640" y="384120"/>
            <a:ext cx="7315200" cy="292680"/>
          </a:xfrm>
          <a:prstGeom prst="rect">
            <a:avLst/>
          </a:prstGeom>
          <a:noFill/>
          <a:ln w="0">
            <a:noFill/>
          </a:ln>
        </p:spPr>
        <p:txBody>
          <a:bodyPr lIns="90000" tIns="45000" rIns="90000" bIns="45000" anchor="t">
            <a:spAutoFit/>
          </a:bodyPr>
          <a:p>
            <a:r>
              <a:rPr lang="en-US" sz="1200" b="1" u="none" spc="201" strike="noStrike">
                <a:solidFill>
                  <a:srgbClr val="E9C467"/>
                </a:solidFill>
                <a:effectLst/>
                <a:uFillTx/>
                <a:latin typeface="Calibri-Bold"/>
                <a:ea typeface="Calibri-Bold"/>
              </a:rPr>
              <a:t>PROOF THIS WORKS</a:t>
            </a:r>
            <a:endParaRPr lang="en-US" sz="1200" b="0" u="none" strike="noStrike">
              <a:solidFill>
                <a:srgbClr val="FFFFFF"/>
              </a:solidFill>
              <a:effectLst/>
              <a:uFillTx/>
              <a:latin typeface="Arial"/>
            </a:endParaRPr>
          </a:p>
        </p:txBody>
      </p:sp>
      <p:sp>
        <p:nvSpPr>
          <p:cNvPr id="200" name=""/>
          <p:cNvSpPr txBox="1"/>
          <p:nvPr/>
        </p:nvSpPr>
        <p:spPr>
          <a:xfrm>
            <a:off x="548640" y="685800"/>
            <a:ext cx="10058400" cy="731520"/>
          </a:xfrm>
          <a:prstGeom prst="rect">
            <a:avLst/>
          </a:prstGeom>
          <a:noFill/>
          <a:ln w="0">
            <a:noFill/>
          </a:ln>
        </p:spPr>
        <p:txBody>
          <a:bodyPr lIns="90000" tIns="45000" rIns="90000" bIns="45000" anchor="t">
            <a:spAutoFit/>
          </a:bodyPr>
          <a:p>
            <a:r>
              <a:rPr lang="en-US" sz="3000" b="1" u="none" strike="noStrike">
                <a:solidFill>
                  <a:srgbClr val="FFFFFF"/>
                </a:solidFill>
                <a:effectLst/>
                <a:uFillTx/>
                <a:latin typeface="Cambria-Bold"/>
                <a:ea typeface="Cambria-Bold"/>
              </a:rPr>
              <a:t>One to Watch Right Now</a:t>
            </a:r>
            <a:endParaRPr lang="en-US" sz="3000" b="0" u="none" strike="noStrike">
              <a:solidFill>
                <a:srgbClr val="FFFFFF"/>
              </a:solidFill>
              <a:effectLst/>
              <a:uFillTx/>
              <a:latin typeface="Arial"/>
            </a:endParaRPr>
          </a:p>
        </p:txBody>
      </p:sp>
      <p:sp>
        <p:nvSpPr>
          <p:cNvPr id="201" name=""/>
          <p:cNvSpPr/>
          <p:nvPr/>
        </p:nvSpPr>
        <p:spPr>
          <a:xfrm>
            <a:off x="548640" y="1691640"/>
            <a:ext cx="5349600" cy="1920600"/>
          </a:xfrm>
          <a:custGeom>
            <a:avLst/>
            <a:gdLst/>
            <a:ahLst/>
            <a:rect l="0" t="0" r="r" b="b"/>
            <a:pathLst>
              <a:path w="14860" h="5335">
                <a:moveTo>
                  <a:pt x="14631" y="0"/>
                </a:moveTo>
                <a:cubicBezTo>
                  <a:pt x="14784" y="0"/>
                  <a:pt x="14860" y="76"/>
                  <a:pt x="14860" y="228"/>
                </a:cubicBezTo>
                <a:lnTo>
                  <a:pt x="14860" y="5107"/>
                </a:lnTo>
                <a:cubicBezTo>
                  <a:pt x="14860" y="5259"/>
                  <a:pt x="14784" y="5335"/>
                  <a:pt x="14631" y="5335"/>
                </a:cubicBezTo>
                <a:lnTo>
                  <a:pt x="228" y="5335"/>
                </a:lnTo>
                <a:cubicBezTo>
                  <a:pt x="76" y="5335"/>
                  <a:pt x="0" y="5259"/>
                  <a:pt x="0" y="5107"/>
                </a:cubicBezTo>
                <a:lnTo>
                  <a:pt x="0" y="228"/>
                </a:lnTo>
                <a:cubicBezTo>
                  <a:pt x="0" y="76"/>
                  <a:pt x="76" y="0"/>
                  <a:pt x="228" y="0"/>
                </a:cubicBezTo>
                <a:lnTo>
                  <a:pt x="14631" y="0"/>
                </a:lnTo>
                <a:close/>
              </a:path>
            </a:pathLst>
          </a:custGeom>
          <a:solidFill>
            <a:srgbClr val="23456E"/>
          </a:solidFill>
          <a:ln w="12600">
            <a:solidFill>
              <a:srgbClr val="345A85"/>
            </a:solidFill>
            <a:round/>
          </a:ln>
        </p:spPr>
        <p:txBody>
          <a:bodyPr lIns="96120" tIns="51120" rIns="96120" bIns="51120" anchor="t">
            <a:noAutofit/>
          </a:bodyPr>
          <a:p>
            <a:endParaRPr lang="en-US" sz="1800" b="0" u="none" strike="noStrike">
              <a:solidFill>
                <a:srgbClr val="FFFFFF"/>
              </a:solidFill>
              <a:effectLst/>
              <a:uFillTx/>
              <a:latin typeface="Arial"/>
            </a:endParaRPr>
          </a:p>
        </p:txBody>
      </p:sp>
      <p:sp>
        <p:nvSpPr>
          <p:cNvPr id="202" name=""/>
          <p:cNvSpPr txBox="1"/>
          <p:nvPr/>
        </p:nvSpPr>
        <p:spPr>
          <a:xfrm>
            <a:off x="658440" y="1801440"/>
            <a:ext cx="5129640" cy="1056240"/>
          </a:xfrm>
          <a:prstGeom prst="rect">
            <a:avLst/>
          </a:prstGeom>
          <a:noFill/>
          <a:ln w="0">
            <a:noFill/>
          </a:ln>
        </p:spPr>
        <p:txBody>
          <a:bodyPr lIns="90000" tIns="45000" rIns="90000" bIns="45000" anchor="t">
            <a:spAutoFit/>
          </a:bodyPr>
          <a:p>
            <a:r>
              <a:rPr lang="en-US" sz="4400" b="1" u="none" strike="noStrike">
                <a:solidFill>
                  <a:srgbClr val="E9C467"/>
                </a:solidFill>
                <a:effectLst/>
                <a:uFillTx/>
                <a:latin typeface="Cambria-Bold"/>
                <a:ea typeface="Cambria-Bold"/>
              </a:rPr>
              <a:t>0.971</a:t>
            </a:r>
            <a:endParaRPr lang="en-US" sz="4400" b="0" u="none" strike="noStrike">
              <a:solidFill>
                <a:srgbClr val="FFFFFF"/>
              </a:solidFill>
              <a:effectLst/>
              <a:uFillTx/>
              <a:latin typeface="Arial"/>
            </a:endParaRPr>
          </a:p>
        </p:txBody>
      </p:sp>
      <p:sp>
        <p:nvSpPr>
          <p:cNvPr id="203" name=""/>
          <p:cNvSpPr txBox="1"/>
          <p:nvPr/>
        </p:nvSpPr>
        <p:spPr>
          <a:xfrm>
            <a:off x="658440" y="2843640"/>
            <a:ext cx="5129640" cy="729720"/>
          </a:xfrm>
          <a:prstGeom prst="rect">
            <a:avLst/>
          </a:prstGeom>
          <a:noFill/>
          <a:ln w="0">
            <a:noFill/>
          </a:ln>
        </p:spPr>
        <p:txBody>
          <a:bodyPr lIns="90000" tIns="45000" rIns="90000" bIns="45000" anchor="t">
            <a:spAutoFit/>
          </a:bodyPr>
          <a:p>
            <a:r>
              <a:rPr lang="en-US" sz="1100" b="0" u="none" strike="noStrike">
                <a:solidFill>
                  <a:srgbClr val="C7D2E3"/>
                </a:solidFill>
                <a:effectLst/>
                <a:uFillTx/>
                <a:latin typeface="Calibri"/>
                <a:ea typeface="Calibri"/>
              </a:rPr>
              <a:t>reclassification score, current snapshot</a:t>
            </a:r>
            <a:endParaRPr lang="en-US" sz="1100" b="0" u="none" strike="noStrike">
              <a:solidFill>
                <a:srgbClr val="FFFFFF"/>
              </a:solidFill>
              <a:effectLst/>
              <a:uFillTx/>
              <a:latin typeface="Arial"/>
            </a:endParaRPr>
          </a:p>
        </p:txBody>
      </p:sp>
      <p:sp>
        <p:nvSpPr>
          <p:cNvPr id="204" name=""/>
          <p:cNvSpPr txBox="1"/>
          <p:nvPr/>
        </p:nvSpPr>
        <p:spPr>
          <a:xfrm>
            <a:off x="548640" y="3794760"/>
            <a:ext cx="5349240" cy="2194560"/>
          </a:xfrm>
          <a:prstGeom prst="rect">
            <a:avLst/>
          </a:prstGeom>
          <a:noFill/>
          <a:ln w="0">
            <a:noFill/>
          </a:ln>
        </p:spPr>
        <p:txBody>
          <a:bodyPr lIns="90000" tIns="45000" rIns="90000" bIns="45000" anchor="t">
            <a:spAutoFit/>
          </a:bodyPr>
          <a:p>
            <a:pPr>
              <a:lnSpc>
                <a:spcPct val="130000"/>
              </a:lnSpc>
            </a:pPr>
            <a:r>
              <a:rPr lang="en-US" sz="1300" b="0" u="none" strike="noStrike">
                <a:solidFill>
                  <a:srgbClr val="D6DEEC"/>
                </a:solidFill>
                <a:effectLst/>
                <a:uFillTx/>
                <a:latin typeface="Calibri"/>
                <a:ea typeface="Calibri"/>
              </a:rPr>
              <a:t>VariationID 161517 · TP53</a:t>
            </a:r>
            <a:endParaRPr lang="en-US" sz="1300" b="0" u="none" strike="noStrike">
              <a:solidFill>
                <a:srgbClr val="FFFFFF"/>
              </a:solidFill>
              <a:effectLst/>
              <a:uFillTx/>
              <a:latin typeface="Arial"/>
            </a:endParaRPr>
          </a:p>
          <a:p>
            <a:pPr>
              <a:lnSpc>
                <a:spcPct val="130000"/>
              </a:lnSpc>
            </a:pPr>
            <a:r>
              <a:rPr lang="en-US" sz="1300" b="0" u="none" strike="noStrike">
                <a:solidFill>
                  <a:srgbClr val="D6DEEC"/>
                </a:solidFill>
                <a:effectLst/>
                <a:uFillTx/>
                <a:latin typeface="Calibri"/>
                <a:ea typeface="Calibri"/>
              </a:rPr>
              <a:t>A near-identical feature profile to the resolved 376633 case: same gene, same missing gnomAD AF, same MaveDB coverage, but with even more literature support (794 LitVar2 hits vs. 274)</a:t>
            </a:r>
            <a:r>
              <a:rPr lang="en-US" sz="1300" b="0" u="none" strike="noStrike">
                <a:solidFill>
                  <a:srgbClr val="D6DEEC"/>
                </a:solidFill>
                <a:effectLst/>
                <a:uFillTx/>
                <a:latin typeface="Calibri"/>
                <a:ea typeface="Calibri"/>
              </a:rPr>
              <a:t>.</a:t>
            </a:r>
            <a:endParaRPr lang="en-US" sz="1300" b="0" u="none" strike="noStrike">
              <a:solidFill>
                <a:srgbClr val="FFFFFF"/>
              </a:solidFill>
              <a:effectLst/>
              <a:uFillTx/>
              <a:latin typeface="Arial"/>
            </a:endParaRPr>
          </a:p>
        </p:txBody>
      </p:sp>
      <p:sp>
        <p:nvSpPr>
          <p:cNvPr id="205" name=""/>
          <p:cNvSpPr/>
          <p:nvPr/>
        </p:nvSpPr>
        <p:spPr>
          <a:xfrm>
            <a:off x="6126480" y="1691640"/>
            <a:ext cx="5349600" cy="1920600"/>
          </a:xfrm>
          <a:custGeom>
            <a:avLst/>
            <a:gdLst/>
            <a:ahLst/>
            <a:rect l="0" t="0" r="r" b="b"/>
            <a:pathLst>
              <a:path w="14860" h="5335">
                <a:moveTo>
                  <a:pt x="14631" y="0"/>
                </a:moveTo>
                <a:cubicBezTo>
                  <a:pt x="14784" y="0"/>
                  <a:pt x="14860" y="76"/>
                  <a:pt x="14860" y="228"/>
                </a:cubicBezTo>
                <a:lnTo>
                  <a:pt x="14860" y="5107"/>
                </a:lnTo>
                <a:cubicBezTo>
                  <a:pt x="14860" y="5259"/>
                  <a:pt x="14784" y="5335"/>
                  <a:pt x="14631" y="5335"/>
                </a:cubicBezTo>
                <a:lnTo>
                  <a:pt x="228" y="5335"/>
                </a:lnTo>
                <a:cubicBezTo>
                  <a:pt x="76" y="5335"/>
                  <a:pt x="0" y="5259"/>
                  <a:pt x="0" y="5107"/>
                </a:cubicBezTo>
                <a:lnTo>
                  <a:pt x="0" y="228"/>
                </a:lnTo>
                <a:cubicBezTo>
                  <a:pt x="0" y="76"/>
                  <a:pt x="76" y="0"/>
                  <a:pt x="228" y="0"/>
                </a:cubicBezTo>
                <a:lnTo>
                  <a:pt x="14631" y="0"/>
                </a:lnTo>
                <a:close/>
              </a:path>
            </a:pathLst>
          </a:custGeom>
          <a:solidFill>
            <a:srgbClr val="392929"/>
          </a:solidFill>
          <a:ln w="12600">
            <a:solidFill>
              <a:srgbClr val="E76C4E"/>
            </a:solidFill>
            <a:round/>
          </a:ln>
        </p:spPr>
        <p:txBody>
          <a:bodyPr lIns="96120" tIns="51120" rIns="96120" bIns="51120" anchor="t">
            <a:noAutofit/>
          </a:bodyPr>
          <a:p>
            <a:endParaRPr lang="en-US" sz="1800" b="0" u="none" strike="noStrike">
              <a:solidFill>
                <a:srgbClr val="FFFFFF"/>
              </a:solidFill>
              <a:effectLst/>
              <a:uFillTx/>
              <a:latin typeface="Arial"/>
            </a:endParaRPr>
          </a:p>
        </p:txBody>
      </p:sp>
      <p:sp>
        <p:nvSpPr>
          <p:cNvPr id="206" name=""/>
          <p:cNvSpPr txBox="1"/>
          <p:nvPr/>
        </p:nvSpPr>
        <p:spPr>
          <a:xfrm>
            <a:off x="6263640" y="1801440"/>
            <a:ext cx="5074920" cy="1280160"/>
          </a:xfrm>
          <a:prstGeom prst="rect">
            <a:avLst/>
          </a:prstGeom>
          <a:noFill/>
          <a:ln w="0">
            <a:noFill/>
          </a:ln>
        </p:spPr>
        <p:txBody>
          <a:bodyPr lIns="90000" tIns="45000" rIns="90000" bIns="45000" anchor="t">
            <a:spAutoFit/>
          </a:bodyPr>
          <a:p>
            <a:r>
              <a:rPr lang="en-US" sz="3000" b="1" u="none" strike="noStrike">
                <a:solidFill>
                  <a:srgbClr val="E76C4E"/>
                </a:solidFill>
                <a:effectLst/>
                <a:uFillTx/>
                <a:latin typeface="Cambria-Bold"/>
                <a:ea typeface="Cambria-Bold"/>
              </a:rPr>
              <a:t>Still "Conflicting</a:t>
            </a:r>
            <a:r>
              <a:rPr lang="en-US" sz="3000" b="1" u="none" strike="noStrike">
                <a:solidFill>
                  <a:srgbClr val="E76C4E"/>
                </a:solidFill>
                <a:effectLst/>
                <a:uFillTx/>
                <a:latin typeface="Cambria-Bold"/>
                <a:ea typeface="Cambria-Bold"/>
              </a:rPr>
              <a:t>"</a:t>
            </a:r>
            <a:endParaRPr lang="en-US" sz="3000" b="0" u="none" strike="noStrike">
              <a:solidFill>
                <a:srgbClr val="FFFFFF"/>
              </a:solidFill>
              <a:effectLst/>
              <a:uFillTx/>
              <a:latin typeface="Arial"/>
            </a:endParaRPr>
          </a:p>
        </p:txBody>
      </p:sp>
      <p:sp>
        <p:nvSpPr>
          <p:cNvPr id="207" name=""/>
          <p:cNvSpPr txBox="1"/>
          <p:nvPr/>
        </p:nvSpPr>
        <p:spPr>
          <a:xfrm>
            <a:off x="6263640" y="2926080"/>
            <a:ext cx="5074920" cy="457200"/>
          </a:xfrm>
          <a:prstGeom prst="rect">
            <a:avLst/>
          </a:prstGeom>
          <a:noFill/>
          <a:ln w="0">
            <a:noFill/>
          </a:ln>
        </p:spPr>
        <p:txBody>
          <a:bodyPr lIns="90000" tIns="45000" rIns="90000" bIns="45000" anchor="t">
            <a:spAutoFit/>
          </a:bodyPr>
          <a:p>
            <a:r>
              <a:rPr lang="en-US" sz="1100" b="0" u="none" strike="noStrike">
                <a:solidFill>
                  <a:srgbClr val="C7D2E3"/>
                </a:solidFill>
                <a:effectLst/>
                <a:uFillTx/>
                <a:latin typeface="Calibri"/>
                <a:ea typeface="Calibri"/>
              </a:rPr>
              <a:t>current ClinVar status</a:t>
            </a:r>
            <a:endParaRPr lang="en-US" sz="1100" b="0" u="none" strike="noStrike">
              <a:solidFill>
                <a:srgbClr val="FFFFFF"/>
              </a:solidFill>
              <a:effectLst/>
              <a:uFillTx/>
              <a:latin typeface="Arial"/>
            </a:endParaRPr>
          </a:p>
        </p:txBody>
      </p:sp>
      <p:sp>
        <p:nvSpPr>
          <p:cNvPr id="208" name=""/>
          <p:cNvSpPr txBox="1"/>
          <p:nvPr/>
        </p:nvSpPr>
        <p:spPr>
          <a:xfrm>
            <a:off x="6263640" y="3794760"/>
            <a:ext cx="5074920" cy="1828800"/>
          </a:xfrm>
          <a:prstGeom prst="rect">
            <a:avLst/>
          </a:prstGeom>
          <a:noFill/>
          <a:ln w="0">
            <a:noFill/>
          </a:ln>
        </p:spPr>
        <p:txBody>
          <a:bodyPr lIns="90000" tIns="45000" rIns="90000" bIns="45000" anchor="t">
            <a:spAutoFit/>
          </a:bodyPr>
          <a:p>
            <a:pPr>
              <a:lnSpc>
                <a:spcPct val="130000"/>
              </a:lnSpc>
            </a:pPr>
            <a:r>
              <a:rPr lang="en-US" sz="1300" b="0" u="none" strike="noStrike">
                <a:solidFill>
                  <a:srgbClr val="D6DEEC"/>
                </a:solidFill>
                <a:effectLst/>
                <a:uFillTx/>
                <a:latin typeface="Calibri"/>
                <a:ea typeface="Calibri"/>
              </a:rPr>
              <a:t>This is exactly the kind of variant the watchlist exists to surface: it looks statistically like a case that already resolved, but curators haven't reached consensus on it yet</a:t>
            </a:r>
            <a:r>
              <a:rPr lang="en-US" sz="1300" b="0" u="none" strike="noStrike">
                <a:solidFill>
                  <a:srgbClr val="D6DEEC"/>
                </a:solidFill>
                <a:effectLst/>
                <a:uFillTx/>
                <a:latin typeface="Calibri"/>
                <a:ea typeface="Calibri"/>
              </a:rPr>
              <a:t>.</a:t>
            </a:r>
            <a:endParaRPr lang="en-US" sz="1300" b="0" u="none" strike="noStrike">
              <a:solidFill>
                <a:srgbClr val="FFFFFF"/>
              </a:solidFill>
              <a:effectLst/>
              <a:uFillTx/>
              <a:latin typeface="Arial"/>
            </a:endParaRPr>
          </a:p>
        </p:txBody>
      </p:sp>
      <p:sp>
        <p:nvSpPr>
          <p:cNvPr id="209" name=""/>
          <p:cNvSpPr txBox="1"/>
          <p:nvPr/>
        </p:nvSpPr>
        <p:spPr>
          <a:xfrm>
            <a:off x="11368840" y="6446520"/>
            <a:ext cx="500000" cy="300000"/>
          </a:xfrm>
          <a:prstGeom prst="rect">
            <a:avLst/>
          </a:prstGeom>
          <a:noFill/>
          <a:ln w="0">
            <a:noFill/>
          </a:ln>
        </p:spPr>
        <p:txBody>
          <a:bodyPr lIns="90000" tIns="45000" rIns="90000" bIns="45000" anchor="t">
            <a:spAutoFit/>
          </a:bodyPr>
          <a:p>
            <a:pPr algn="r"/>
            <a:r>
              <a:rPr lang="en-US" sz="1000" b="0" u="none" strike="noStrike">
                <a:solidFill>
                  <a:srgbClr val="7B8AA5"/>
                </a:solidFill>
                <a:effectLst/>
                <a:uFillTx/>
                <a:latin typeface="Calibri"/>
                <a:ea typeface="Calibri"/>
              </a:rPr>
              <a:t>20</a:t>
            </a:r>
            <a:endParaRPr lang="en-US" sz="10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10" name=""/>
          <p:cNvSpPr txBox="1"/>
          <p:nvPr/>
        </p:nvSpPr>
        <p:spPr>
          <a:xfrm>
            <a:off x="548640" y="384120"/>
            <a:ext cx="7315200" cy="292680"/>
          </a:xfrm>
          <a:prstGeom prst="rect">
            <a:avLst/>
          </a:prstGeom>
          <a:noFill/>
          <a:ln w="0">
            <a:noFill/>
          </a:ln>
        </p:spPr>
        <p:txBody>
          <a:bodyPr lIns="90000" tIns="45000" rIns="90000" bIns="45000" anchor="t">
            <a:spAutoFit/>
          </a:bodyPr>
          <a:p>
            <a:r>
              <a:rPr lang="en-US" sz="1200" b="1" u="none" spc="201" strike="noStrike">
                <a:solidFill>
                  <a:srgbClr val="E76C4E"/>
                </a:solidFill>
                <a:effectLst/>
                <a:uFillTx/>
                <a:latin typeface="Calibri-Bold"/>
                <a:ea typeface="Calibri-Bold"/>
              </a:rPr>
              <a:t>THE GLOBAL WATCHLIST</a:t>
            </a:r>
            <a:endParaRPr lang="en-US" sz="1200" b="0" u="none" strike="noStrike">
              <a:solidFill>
                <a:srgbClr val="000000"/>
              </a:solidFill>
              <a:effectLst/>
              <a:uFillTx/>
              <a:latin typeface="Arial"/>
            </a:endParaRPr>
          </a:p>
        </p:txBody>
      </p:sp>
      <p:sp>
        <p:nvSpPr>
          <p:cNvPr id="211" name=""/>
          <p:cNvSpPr txBox="1"/>
          <p:nvPr/>
        </p:nvSpPr>
        <p:spPr>
          <a:xfrm>
            <a:off x="548640" y="658440"/>
            <a:ext cx="10789920" cy="777240"/>
          </a:xfrm>
          <a:prstGeom prst="rect">
            <a:avLst/>
          </a:prstGeom>
          <a:noFill/>
          <a:ln w="0">
            <a:noFill/>
          </a:ln>
        </p:spPr>
        <p:txBody>
          <a:bodyPr lIns="90000" tIns="45000" rIns="90000" bIns="45000" anchor="t">
            <a:spAutoFit/>
          </a:bodyPr>
          <a:p>
            <a:r>
              <a:rPr lang="en-US" sz="3000" b="1" u="none" strike="noStrike">
                <a:solidFill>
                  <a:srgbClr val="1F242E"/>
                </a:solidFill>
                <a:effectLst/>
                <a:uFillTx/>
                <a:latin typeface="Cambria-Bold"/>
                <a:ea typeface="Cambria-Bold"/>
              </a:rPr>
              <a:t>The Same Model, Applied to Every VUS in ClinVar</a:t>
            </a:r>
            <a:endParaRPr lang="en-US" sz="3000" b="0" u="none" strike="noStrike">
              <a:solidFill>
                <a:srgbClr val="000000"/>
              </a:solidFill>
              <a:effectLst/>
              <a:uFillTx/>
              <a:latin typeface="Arial"/>
            </a:endParaRPr>
          </a:p>
        </p:txBody>
      </p:sp>
      <p:sp>
        <p:nvSpPr>
          <p:cNvPr id="212" name=""/>
          <p:cNvSpPr txBox="1"/>
          <p:nvPr/>
        </p:nvSpPr>
        <p:spPr>
          <a:xfrm>
            <a:off x="548640" y="1463040"/>
            <a:ext cx="10789920" cy="640080"/>
          </a:xfrm>
          <a:prstGeom prst="rect">
            <a:avLst/>
          </a:prstGeom>
          <a:noFill/>
          <a:ln w="0">
            <a:noFill/>
          </a:ln>
        </p:spPr>
        <p:txBody>
          <a:bodyPr lIns="90000" tIns="45000" rIns="90000" bIns="45000" anchor="t">
            <a:spAutoFit/>
          </a:bodyPr>
          <a:p>
            <a:pPr>
              <a:lnSpc>
                <a:spcPct val="125000"/>
              </a:lnSpc>
            </a:pPr>
            <a:r>
              <a:rPr lang="en-US" sz="1400" b="0" u="none" strike="noStrike">
                <a:solidFill>
                  <a:srgbClr val="2A3547"/>
                </a:solidFill>
                <a:effectLst/>
                <a:uFillTx/>
                <a:latin typeface="Calibri"/>
                <a:ea typeface="Calibri"/>
              </a:rPr>
              <a:t>The model doesn't need case-specific submission history to run. Every feature is computable for any variant currently sitting in ClinVar, so it can rank the entire pool at once, as a standing watchlist</a:t>
            </a:r>
            <a:r>
              <a:rPr lang="en-US" sz="1400" b="0" u="none" strike="noStrike">
                <a:solidFill>
                  <a:srgbClr val="2A3547"/>
                </a:solidFill>
                <a:effectLst/>
                <a:uFillTx/>
                <a:latin typeface="Calibri"/>
                <a:ea typeface="Calibri"/>
              </a:rPr>
              <a:t>.</a:t>
            </a:r>
            <a:endParaRPr lang="en-US" sz="1400" b="0" u="none" strike="noStrike">
              <a:solidFill>
                <a:srgbClr val="000000"/>
              </a:solidFill>
              <a:effectLst/>
              <a:uFillTx/>
              <a:latin typeface="Arial"/>
            </a:endParaRPr>
          </a:p>
        </p:txBody>
      </p:sp>
      <p:sp>
        <p:nvSpPr>
          <p:cNvPr id="213" name=""/>
          <p:cNvSpPr/>
          <p:nvPr/>
        </p:nvSpPr>
        <p:spPr>
          <a:xfrm>
            <a:off x="548640" y="2468880"/>
            <a:ext cx="3456720" cy="1371960"/>
          </a:xfrm>
          <a:custGeom>
            <a:avLst/>
            <a:gdLst/>
            <a:ahLst/>
            <a:rect l="0" t="0" r="r" b="b"/>
            <a:pathLst>
              <a:path w="9602" h="3811">
                <a:moveTo>
                  <a:pt x="9373" y="0"/>
                </a:moveTo>
                <a:cubicBezTo>
                  <a:pt x="9526" y="0"/>
                  <a:pt x="9602" y="76"/>
                  <a:pt x="9602" y="228"/>
                </a:cubicBezTo>
                <a:lnTo>
                  <a:pt x="9602" y="3582"/>
                </a:lnTo>
                <a:cubicBezTo>
                  <a:pt x="9602" y="3735"/>
                  <a:pt x="9526" y="3811"/>
                  <a:pt x="9373" y="3811"/>
                </a:cubicBezTo>
                <a:lnTo>
                  <a:pt x="228" y="3811"/>
                </a:lnTo>
                <a:cubicBezTo>
                  <a:pt x="76" y="3811"/>
                  <a:pt x="0" y="3735"/>
                  <a:pt x="0" y="3582"/>
                </a:cubicBezTo>
                <a:lnTo>
                  <a:pt x="0" y="228"/>
                </a:lnTo>
                <a:cubicBezTo>
                  <a:pt x="0" y="76"/>
                  <a:pt x="76" y="0"/>
                  <a:pt x="228" y="0"/>
                </a:cubicBezTo>
                <a:lnTo>
                  <a:pt x="9373" y="0"/>
                </a:lnTo>
                <a:close/>
              </a:path>
            </a:pathLst>
          </a:custGeom>
          <a:solidFill>
            <a:srgbClr val="F5F7FA"/>
          </a:solidFill>
          <a:ln w="12600">
            <a:solidFill>
              <a:srgbClr val="E2E7EF"/>
            </a:solidFill>
            <a:round/>
          </a:ln>
        </p:spPr>
        <p:txBody>
          <a:bodyPr lIns="96120" tIns="51120" rIns="96120" bIns="51120" anchor="t">
            <a:noAutofit/>
          </a:bodyPr>
          <a:p>
            <a:endParaRPr lang="en-US" sz="1800" b="0" u="none" strike="noStrike">
              <a:solidFill>
                <a:srgbClr val="000000"/>
              </a:solidFill>
              <a:effectLst/>
              <a:uFillTx/>
              <a:latin typeface="Arial"/>
            </a:endParaRPr>
          </a:p>
        </p:txBody>
      </p:sp>
      <p:sp>
        <p:nvSpPr>
          <p:cNvPr id="214" name=""/>
          <p:cNvSpPr txBox="1"/>
          <p:nvPr/>
        </p:nvSpPr>
        <p:spPr>
          <a:xfrm>
            <a:off x="658440" y="2578680"/>
            <a:ext cx="3237120" cy="754560"/>
          </a:xfrm>
          <a:prstGeom prst="rect">
            <a:avLst/>
          </a:prstGeom>
          <a:noFill/>
          <a:ln w="0">
            <a:noFill/>
          </a:ln>
        </p:spPr>
        <p:txBody>
          <a:bodyPr lIns="90000" tIns="45000" rIns="90000" bIns="45000" anchor="t">
            <a:spAutoFit/>
          </a:bodyPr>
          <a:p>
            <a:r>
              <a:rPr lang="en-US" sz="3000" b="1" u="none" strike="noStrike">
                <a:solidFill>
                  <a:srgbClr val="1C375C"/>
                </a:solidFill>
                <a:effectLst/>
                <a:uFillTx/>
                <a:latin typeface="Cambria-Bold"/>
                <a:ea typeface="Cambria-Bold"/>
              </a:rPr>
              <a:t>2,330,308</a:t>
            </a:r>
            <a:endParaRPr lang="en-US" sz="3000" b="0" u="none" strike="noStrike">
              <a:solidFill>
                <a:srgbClr val="000000"/>
              </a:solidFill>
              <a:effectLst/>
              <a:uFillTx/>
              <a:latin typeface="Arial"/>
            </a:endParaRPr>
          </a:p>
        </p:txBody>
      </p:sp>
      <p:sp>
        <p:nvSpPr>
          <p:cNvPr id="215" name=""/>
          <p:cNvSpPr txBox="1"/>
          <p:nvPr/>
        </p:nvSpPr>
        <p:spPr>
          <a:xfrm>
            <a:off x="658440" y="3291840"/>
            <a:ext cx="3237120" cy="521280"/>
          </a:xfrm>
          <a:prstGeom prst="rect">
            <a:avLst/>
          </a:prstGeom>
          <a:noFill/>
          <a:ln w="0">
            <a:noFill/>
          </a:ln>
        </p:spPr>
        <p:txBody>
          <a:bodyPr lIns="90000" tIns="45000" rIns="90000" bIns="45000" anchor="t">
            <a:spAutoFit/>
          </a:bodyPr>
          <a:p>
            <a:r>
              <a:rPr lang="en-US" sz="1100" b="0" u="none" strike="noStrike">
                <a:solidFill>
                  <a:srgbClr val="475265"/>
                </a:solidFill>
                <a:effectLst/>
                <a:uFillTx/>
                <a:latin typeface="Calibri"/>
                <a:ea typeface="Calibri"/>
              </a:rPr>
              <a:t>VUS currently in ClinVar, scored</a:t>
            </a:r>
            <a:endParaRPr lang="en-US" sz="1100" b="0" u="none" strike="noStrike">
              <a:solidFill>
                <a:srgbClr val="000000"/>
              </a:solidFill>
              <a:effectLst/>
              <a:uFillTx/>
              <a:latin typeface="Arial"/>
            </a:endParaRPr>
          </a:p>
        </p:txBody>
      </p:sp>
      <p:sp>
        <p:nvSpPr>
          <p:cNvPr id="216" name=""/>
          <p:cNvSpPr/>
          <p:nvPr/>
        </p:nvSpPr>
        <p:spPr>
          <a:xfrm>
            <a:off x="4187880" y="2468880"/>
            <a:ext cx="3456720" cy="1371960"/>
          </a:xfrm>
          <a:custGeom>
            <a:avLst/>
            <a:gdLst/>
            <a:ahLst/>
            <a:rect l="0" t="0" r="r" b="b"/>
            <a:pathLst>
              <a:path w="9602" h="3811">
                <a:moveTo>
                  <a:pt x="9373" y="0"/>
                </a:moveTo>
                <a:cubicBezTo>
                  <a:pt x="9526" y="0"/>
                  <a:pt x="9602" y="76"/>
                  <a:pt x="9602" y="228"/>
                </a:cubicBezTo>
                <a:lnTo>
                  <a:pt x="9602" y="3582"/>
                </a:lnTo>
                <a:cubicBezTo>
                  <a:pt x="9602" y="3735"/>
                  <a:pt x="9526" y="3811"/>
                  <a:pt x="9373" y="3811"/>
                </a:cubicBezTo>
                <a:lnTo>
                  <a:pt x="228" y="3811"/>
                </a:lnTo>
                <a:cubicBezTo>
                  <a:pt x="76" y="3811"/>
                  <a:pt x="0" y="3735"/>
                  <a:pt x="0" y="3582"/>
                </a:cubicBezTo>
                <a:lnTo>
                  <a:pt x="0" y="228"/>
                </a:lnTo>
                <a:cubicBezTo>
                  <a:pt x="0" y="76"/>
                  <a:pt x="76" y="0"/>
                  <a:pt x="228" y="0"/>
                </a:cubicBezTo>
                <a:lnTo>
                  <a:pt x="9373" y="0"/>
                </a:lnTo>
                <a:close/>
              </a:path>
            </a:pathLst>
          </a:custGeom>
          <a:solidFill>
            <a:srgbClr val="F5F7FA"/>
          </a:solidFill>
          <a:ln w="12600">
            <a:solidFill>
              <a:srgbClr val="E2E7EF"/>
            </a:solidFill>
            <a:round/>
          </a:ln>
        </p:spPr>
        <p:txBody>
          <a:bodyPr lIns="96120" tIns="51120" rIns="96120" bIns="51120" anchor="t">
            <a:noAutofit/>
          </a:bodyPr>
          <a:p>
            <a:endParaRPr lang="en-US" sz="1800" b="0" u="none" strike="noStrike">
              <a:solidFill>
                <a:srgbClr val="000000"/>
              </a:solidFill>
              <a:effectLst/>
              <a:uFillTx/>
              <a:latin typeface="Arial"/>
            </a:endParaRPr>
          </a:p>
        </p:txBody>
      </p:sp>
      <p:sp>
        <p:nvSpPr>
          <p:cNvPr id="217" name=""/>
          <p:cNvSpPr txBox="1"/>
          <p:nvPr/>
        </p:nvSpPr>
        <p:spPr>
          <a:xfrm>
            <a:off x="4297680" y="2578680"/>
            <a:ext cx="3237120" cy="754560"/>
          </a:xfrm>
          <a:prstGeom prst="rect">
            <a:avLst/>
          </a:prstGeom>
          <a:noFill/>
          <a:ln w="0">
            <a:noFill/>
          </a:ln>
        </p:spPr>
        <p:txBody>
          <a:bodyPr lIns="90000" tIns="45000" rIns="90000" bIns="45000" anchor="t">
            <a:spAutoFit/>
          </a:bodyPr>
          <a:p>
            <a:r>
              <a:rPr lang="en-US" sz="3000" b="1" u="none" strike="noStrike">
                <a:solidFill>
                  <a:srgbClr val="1C375C"/>
                </a:solidFill>
                <a:effectLst/>
                <a:uFillTx/>
                <a:latin typeface="Cambria-Bold"/>
                <a:ea typeface="Cambria-Bold"/>
              </a:rPr>
              <a:t>37,167</a:t>
            </a:r>
            <a:endParaRPr lang="en-US" sz="3000" b="0" u="none" strike="noStrike">
              <a:solidFill>
                <a:srgbClr val="000000"/>
              </a:solidFill>
              <a:effectLst/>
              <a:uFillTx/>
              <a:latin typeface="Arial"/>
            </a:endParaRPr>
          </a:p>
        </p:txBody>
      </p:sp>
      <p:sp>
        <p:nvSpPr>
          <p:cNvPr id="218" name=""/>
          <p:cNvSpPr txBox="1"/>
          <p:nvPr/>
        </p:nvSpPr>
        <p:spPr>
          <a:xfrm>
            <a:off x="4297680" y="3291840"/>
            <a:ext cx="3237120" cy="521280"/>
          </a:xfrm>
          <a:prstGeom prst="rect">
            <a:avLst/>
          </a:prstGeom>
          <a:noFill/>
          <a:ln w="0">
            <a:noFill/>
          </a:ln>
        </p:spPr>
        <p:txBody>
          <a:bodyPr lIns="90000" tIns="45000" rIns="90000" bIns="45000" anchor="t">
            <a:spAutoFit/>
          </a:bodyPr>
          <a:p>
            <a:r>
              <a:rPr lang="en-US" sz="1100" b="0" u="none" strike="noStrike">
                <a:solidFill>
                  <a:srgbClr val="475265"/>
                </a:solidFill>
                <a:effectLst/>
                <a:uFillTx/>
                <a:latin typeface="Calibri"/>
                <a:ea typeface="Calibri"/>
              </a:rPr>
              <a:t>score ≥ 0.70 (1.6% of the pool)</a:t>
            </a:r>
            <a:endParaRPr lang="en-US" sz="1100" b="0" u="none" strike="noStrike">
              <a:solidFill>
                <a:srgbClr val="000000"/>
              </a:solidFill>
              <a:effectLst/>
              <a:uFillTx/>
              <a:latin typeface="Arial"/>
            </a:endParaRPr>
          </a:p>
        </p:txBody>
      </p:sp>
      <p:sp>
        <p:nvSpPr>
          <p:cNvPr id="219" name=""/>
          <p:cNvSpPr/>
          <p:nvPr/>
        </p:nvSpPr>
        <p:spPr>
          <a:xfrm>
            <a:off x="7827120" y="2468880"/>
            <a:ext cx="3456720" cy="1371960"/>
          </a:xfrm>
          <a:custGeom>
            <a:avLst/>
            <a:gdLst/>
            <a:ahLst/>
            <a:rect l="0" t="0" r="r" b="b"/>
            <a:pathLst>
              <a:path w="9602" h="3811">
                <a:moveTo>
                  <a:pt x="9373" y="0"/>
                </a:moveTo>
                <a:cubicBezTo>
                  <a:pt x="9526" y="0"/>
                  <a:pt x="9602" y="76"/>
                  <a:pt x="9602" y="228"/>
                </a:cubicBezTo>
                <a:lnTo>
                  <a:pt x="9602" y="3582"/>
                </a:lnTo>
                <a:cubicBezTo>
                  <a:pt x="9602" y="3735"/>
                  <a:pt x="9526" y="3811"/>
                  <a:pt x="9373" y="3811"/>
                </a:cubicBezTo>
                <a:lnTo>
                  <a:pt x="228" y="3811"/>
                </a:lnTo>
                <a:cubicBezTo>
                  <a:pt x="76" y="3811"/>
                  <a:pt x="0" y="3735"/>
                  <a:pt x="0" y="3582"/>
                </a:cubicBezTo>
                <a:lnTo>
                  <a:pt x="0" y="228"/>
                </a:lnTo>
                <a:cubicBezTo>
                  <a:pt x="0" y="76"/>
                  <a:pt x="76" y="0"/>
                  <a:pt x="228" y="0"/>
                </a:cubicBezTo>
                <a:lnTo>
                  <a:pt x="9373" y="0"/>
                </a:lnTo>
                <a:close/>
              </a:path>
            </a:pathLst>
          </a:custGeom>
          <a:solidFill>
            <a:srgbClr val="F5F7FA"/>
          </a:solidFill>
          <a:ln w="12600">
            <a:solidFill>
              <a:srgbClr val="E2E7EF"/>
            </a:solidFill>
            <a:round/>
          </a:ln>
        </p:spPr>
        <p:txBody>
          <a:bodyPr lIns="96120" tIns="51120" rIns="96120" bIns="51120" anchor="t">
            <a:noAutofit/>
          </a:bodyPr>
          <a:p>
            <a:endParaRPr lang="en-US" sz="1800" b="0" u="none" strike="noStrike">
              <a:solidFill>
                <a:srgbClr val="000000"/>
              </a:solidFill>
              <a:effectLst/>
              <a:uFillTx/>
              <a:latin typeface="Arial"/>
            </a:endParaRPr>
          </a:p>
        </p:txBody>
      </p:sp>
      <p:sp>
        <p:nvSpPr>
          <p:cNvPr id="220" name=""/>
          <p:cNvSpPr txBox="1"/>
          <p:nvPr/>
        </p:nvSpPr>
        <p:spPr>
          <a:xfrm>
            <a:off x="7936920" y="2578680"/>
            <a:ext cx="3237120" cy="754560"/>
          </a:xfrm>
          <a:prstGeom prst="rect">
            <a:avLst/>
          </a:prstGeom>
          <a:noFill/>
          <a:ln w="0">
            <a:noFill/>
          </a:ln>
        </p:spPr>
        <p:txBody>
          <a:bodyPr lIns="90000" tIns="45000" rIns="90000" bIns="45000" anchor="t">
            <a:spAutoFit/>
          </a:bodyPr>
          <a:p>
            <a:r>
              <a:rPr lang="en-US" sz="3000" b="1" u="none" strike="noStrike">
                <a:solidFill>
                  <a:srgbClr val="1C375C"/>
                </a:solidFill>
                <a:effectLst/>
                <a:uFillTx/>
                <a:latin typeface="Cambria-Bold"/>
                <a:ea typeface="Cambria-Bold"/>
              </a:rPr>
              <a:t>12,014</a:t>
            </a:r>
            <a:endParaRPr lang="en-US" sz="3000" b="0" u="none" strike="noStrike">
              <a:solidFill>
                <a:srgbClr val="000000"/>
              </a:solidFill>
              <a:effectLst/>
              <a:uFillTx/>
              <a:latin typeface="Arial"/>
            </a:endParaRPr>
          </a:p>
        </p:txBody>
      </p:sp>
      <p:sp>
        <p:nvSpPr>
          <p:cNvPr id="221" name=""/>
          <p:cNvSpPr txBox="1"/>
          <p:nvPr/>
        </p:nvSpPr>
        <p:spPr>
          <a:xfrm>
            <a:off x="7936920" y="3291840"/>
            <a:ext cx="3237120" cy="521280"/>
          </a:xfrm>
          <a:prstGeom prst="rect">
            <a:avLst/>
          </a:prstGeom>
          <a:noFill/>
          <a:ln w="0">
            <a:noFill/>
          </a:ln>
        </p:spPr>
        <p:txBody>
          <a:bodyPr lIns="90000" tIns="45000" rIns="90000" bIns="45000" anchor="t">
            <a:spAutoFit/>
          </a:bodyPr>
          <a:p>
            <a:r>
              <a:rPr lang="en-US" sz="1100" b="0" u="none" strike="noStrike">
                <a:solidFill>
                  <a:srgbClr val="475265"/>
                </a:solidFill>
                <a:effectLst/>
                <a:uFillTx/>
                <a:latin typeface="Calibri"/>
                <a:ea typeface="Calibri"/>
              </a:rPr>
              <a:t>of this cohort's own 12,550 mutated genes appear somewhere in the watchlist</a:t>
            </a:r>
            <a:endParaRPr lang="en-US" sz="1100" b="0" u="none" strike="noStrike">
              <a:solidFill>
                <a:srgbClr val="000000"/>
              </a:solidFill>
              <a:effectLst/>
              <a:uFillTx/>
              <a:latin typeface="Arial"/>
            </a:endParaRPr>
          </a:p>
        </p:txBody>
      </p:sp>
      <p:sp>
        <p:nvSpPr>
          <p:cNvPr id="222" name=""/>
          <p:cNvSpPr txBox="1"/>
          <p:nvPr/>
        </p:nvSpPr>
        <p:spPr>
          <a:xfrm>
            <a:off x="11368840" y="6446520"/>
            <a:ext cx="500000" cy="300000"/>
          </a:xfrm>
          <a:prstGeom prst="rect">
            <a:avLst/>
          </a:prstGeom>
          <a:noFill/>
          <a:ln w="0">
            <a:noFill/>
          </a:ln>
        </p:spPr>
        <p:txBody>
          <a:bodyPr lIns="90000" tIns="45000" rIns="90000" bIns="45000" anchor="t">
            <a:spAutoFit/>
          </a:bodyPr>
          <a:p>
            <a:pPr algn="r"/>
            <a:r>
              <a:rPr lang="en-US" sz="1000" b="0" u="none" strike="noStrike">
                <a:solidFill>
                  <a:srgbClr val="8D99AE"/>
                </a:solidFill>
                <a:effectLst/>
                <a:uFillTx/>
                <a:latin typeface="Calibri"/>
                <a:ea typeface="Calibri"/>
              </a:rPr>
              <a:t>21</a:t>
            </a:r>
            <a:endParaRPr lang="en-US"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23" name=""/>
          <p:cNvSpPr txBox="1"/>
          <p:nvPr/>
        </p:nvSpPr>
        <p:spPr>
          <a:xfrm>
            <a:off x="548640" y="384120"/>
            <a:ext cx="7315200" cy="292680"/>
          </a:xfrm>
          <a:prstGeom prst="rect">
            <a:avLst/>
          </a:prstGeom>
          <a:noFill/>
          <a:ln w="0">
            <a:noFill/>
          </a:ln>
        </p:spPr>
        <p:txBody>
          <a:bodyPr lIns="90000" tIns="45000" rIns="90000" bIns="45000" anchor="t">
            <a:spAutoFit/>
          </a:bodyPr>
          <a:p>
            <a:r>
              <a:rPr lang="en-US" sz="1200" b="1" u="none" spc="201" strike="noStrike">
                <a:solidFill>
                  <a:srgbClr val="E76C4E"/>
                </a:solidFill>
                <a:effectLst/>
                <a:uFillTx/>
                <a:latin typeface="Calibri-Bold"/>
                <a:ea typeface="Calibri-Bold"/>
              </a:rPr>
              <a:t>THE GLOBAL WATCHLIST</a:t>
            </a:r>
            <a:endParaRPr lang="en-US" sz="1200" b="0" u="none" strike="noStrike">
              <a:solidFill>
                <a:srgbClr val="000000"/>
              </a:solidFill>
              <a:effectLst/>
              <a:uFillTx/>
              <a:latin typeface="Arial"/>
            </a:endParaRPr>
          </a:p>
        </p:txBody>
      </p:sp>
      <p:sp>
        <p:nvSpPr>
          <p:cNvPr id="224" name=""/>
          <p:cNvSpPr txBox="1"/>
          <p:nvPr/>
        </p:nvSpPr>
        <p:spPr>
          <a:xfrm>
            <a:off x="548640" y="658440"/>
            <a:ext cx="10789920" cy="777240"/>
          </a:xfrm>
          <a:prstGeom prst="rect">
            <a:avLst/>
          </a:prstGeom>
          <a:noFill/>
          <a:ln w="0">
            <a:noFill/>
          </a:ln>
        </p:spPr>
        <p:txBody>
          <a:bodyPr lIns="90000" tIns="45000" rIns="90000" bIns="45000" anchor="t">
            <a:spAutoFit/>
          </a:bodyPr>
          <a:p>
            <a:r>
              <a:rPr lang="en-US" sz="3000" b="1" u="none" strike="noStrike">
                <a:solidFill>
                  <a:srgbClr val="1F242E"/>
                </a:solidFill>
                <a:effectLst/>
                <a:uFillTx/>
                <a:latin typeface="Cambria-Bold"/>
                <a:ea typeface="Cambria-Bold"/>
              </a:rPr>
              <a:t>Which Genes Dominate the High-Probability Pool</a:t>
            </a:r>
            <a:endParaRPr lang="en-US" sz="3000" b="0" u="none" strike="noStrike">
              <a:solidFill>
                <a:srgbClr val="000000"/>
              </a:solidFill>
              <a:effectLst/>
              <a:uFillTx/>
              <a:latin typeface="Arial"/>
            </a:endParaRPr>
          </a:p>
        </p:txBody>
      </p:sp>
      <p:sp>
        <p:nvSpPr>
          <p:cNvPr id="225" name=""/>
          <p:cNvSpPr txBox="1"/>
          <p:nvPr/>
        </p:nvSpPr>
        <p:spPr>
          <a:xfrm>
            <a:off x="548640" y="1417320"/>
            <a:ext cx="10789920" cy="365760"/>
          </a:xfrm>
          <a:prstGeom prst="rect">
            <a:avLst/>
          </a:prstGeom>
          <a:noFill/>
          <a:ln w="0">
            <a:noFill/>
          </a:ln>
        </p:spPr>
        <p:txBody>
          <a:bodyPr lIns="90000" tIns="45000" rIns="90000" bIns="45000" anchor="t">
            <a:spAutoFit/>
          </a:bodyPr>
          <a:p>
            <a:pPr>
              <a:lnSpc>
                <a:spcPct val="125000"/>
              </a:lnSpc>
            </a:pPr>
            <a:r>
              <a:rPr lang="en-US" sz="1300" b="0" u="none" strike="noStrike">
                <a:solidFill>
                  <a:srgbClr val="475265"/>
                </a:solidFill>
                <a:effectLst/>
                <a:uFillTx/>
                <a:latin typeface="Calibri"/>
                <a:ea typeface="Calibri"/>
              </a:rPr>
              <a:t>Counting genes among the 37,167 watchlist variants scoring ≥ 0.70:</a:t>
            </a:r>
            <a:endParaRPr lang="en-US" sz="1300" b="0" u="none" strike="noStrike">
              <a:solidFill>
                <a:srgbClr val="000000"/>
              </a:solidFill>
              <a:effectLst/>
              <a:uFillTx/>
              <a:latin typeface="Arial"/>
            </a:endParaRPr>
          </a:p>
        </p:txBody>
      </p:sp>
      <p:sp>
        <p:nvSpPr>
          <p:cNvPr id="226" name=""/>
          <p:cNvSpPr txBox="1"/>
          <p:nvPr/>
        </p:nvSpPr>
        <p:spPr>
          <a:xfrm>
            <a:off x="548640" y="1920240"/>
            <a:ext cx="1554480" cy="347400"/>
          </a:xfrm>
          <a:prstGeom prst="rect">
            <a:avLst/>
          </a:prstGeom>
          <a:noFill/>
          <a:ln w="0">
            <a:noFill/>
          </a:ln>
        </p:spPr>
        <p:txBody>
          <a:bodyPr lIns="90000" tIns="45000" rIns="90000" bIns="45000" anchor="t">
            <a:spAutoFit/>
          </a:bodyPr>
          <a:p>
            <a:r>
              <a:rPr lang="en-US" sz="1200" b="1" u="none" strike="noStrike">
                <a:solidFill>
                  <a:srgbClr val="2A3547"/>
                </a:solidFill>
                <a:effectLst/>
                <a:uFillTx/>
                <a:latin typeface="Calibri-Bold"/>
                <a:ea typeface="Calibri-Bold"/>
              </a:rPr>
              <a:t>SCN1A</a:t>
            </a:r>
            <a:endParaRPr lang="en-US" sz="1200" b="0" u="none" strike="noStrike">
              <a:solidFill>
                <a:srgbClr val="000000"/>
              </a:solidFill>
              <a:effectLst/>
              <a:uFillTx/>
              <a:latin typeface="Arial"/>
            </a:endParaRPr>
          </a:p>
        </p:txBody>
      </p:sp>
      <p:sp>
        <p:nvSpPr>
          <p:cNvPr id="227" name=""/>
          <p:cNvSpPr/>
          <p:nvPr/>
        </p:nvSpPr>
        <p:spPr>
          <a:xfrm>
            <a:off x="2194560" y="1965960"/>
            <a:ext cx="7772760" cy="274680"/>
          </a:xfrm>
          <a:custGeom>
            <a:avLst/>
            <a:gdLst/>
            <a:ahLst/>
            <a:rect l="0" t="0" r="r" b="b"/>
            <a:pathLst>
              <a:path w="21591" h="763">
                <a:moveTo>
                  <a:pt x="0" y="0"/>
                </a:moveTo>
                <a:lnTo>
                  <a:pt x="21591" y="0"/>
                </a:lnTo>
                <a:lnTo>
                  <a:pt x="21591" y="763"/>
                </a:lnTo>
                <a:lnTo>
                  <a:pt x="0" y="763"/>
                </a:lnTo>
                <a:lnTo>
                  <a:pt x="0" y="0"/>
                </a:lnTo>
                <a:close/>
              </a:path>
            </a:pathLst>
          </a:custGeom>
          <a:solidFill>
            <a:srgbClr val="279D8F"/>
          </a:solidFill>
          <a:ln w="0">
            <a:noFill/>
          </a:ln>
        </p:spPr>
        <p:txBody>
          <a:bodyPr lIns="90000" tIns="45000" rIns="90000" bIns="45000" anchor="t">
            <a:noAutofit/>
          </a:bodyPr>
          <a:p>
            <a:endParaRPr lang="en-US" sz="1800" b="0" u="none" strike="noStrike">
              <a:solidFill>
                <a:srgbClr val="FFFFFF"/>
              </a:solidFill>
              <a:effectLst/>
              <a:uFillTx/>
              <a:latin typeface="Arial"/>
            </a:endParaRPr>
          </a:p>
        </p:txBody>
      </p:sp>
      <p:sp>
        <p:nvSpPr>
          <p:cNvPr id="228" name=""/>
          <p:cNvSpPr txBox="1"/>
          <p:nvPr/>
        </p:nvSpPr>
        <p:spPr>
          <a:xfrm>
            <a:off x="10058400" y="1920240"/>
            <a:ext cx="731520" cy="347400"/>
          </a:xfrm>
          <a:prstGeom prst="rect">
            <a:avLst/>
          </a:prstGeom>
          <a:noFill/>
          <a:ln w="0">
            <a:noFill/>
          </a:ln>
        </p:spPr>
        <p:txBody>
          <a:bodyPr lIns="90000" tIns="45000" rIns="90000" bIns="45000" anchor="t">
            <a:spAutoFit/>
          </a:bodyPr>
          <a:p>
            <a:r>
              <a:rPr lang="en-US" sz="1200" b="0" u="none" strike="noStrike">
                <a:solidFill>
                  <a:srgbClr val="475265"/>
                </a:solidFill>
                <a:effectLst/>
                <a:uFillTx/>
                <a:latin typeface="Calibri"/>
                <a:ea typeface="Calibri"/>
              </a:rPr>
              <a:t>1,006</a:t>
            </a:r>
            <a:endParaRPr lang="en-US" sz="1200" b="0" u="none" strike="noStrike">
              <a:solidFill>
                <a:srgbClr val="000000"/>
              </a:solidFill>
              <a:effectLst/>
              <a:uFillTx/>
              <a:latin typeface="Arial"/>
            </a:endParaRPr>
          </a:p>
        </p:txBody>
      </p:sp>
      <p:sp>
        <p:nvSpPr>
          <p:cNvPr id="229" name=""/>
          <p:cNvSpPr txBox="1"/>
          <p:nvPr/>
        </p:nvSpPr>
        <p:spPr>
          <a:xfrm>
            <a:off x="548640" y="2340720"/>
            <a:ext cx="1554480" cy="347400"/>
          </a:xfrm>
          <a:prstGeom prst="rect">
            <a:avLst/>
          </a:prstGeom>
          <a:noFill/>
          <a:ln w="0">
            <a:noFill/>
          </a:ln>
        </p:spPr>
        <p:txBody>
          <a:bodyPr lIns="90000" tIns="45000" rIns="90000" bIns="45000" anchor="t">
            <a:spAutoFit/>
          </a:bodyPr>
          <a:p>
            <a:r>
              <a:rPr lang="en-US" sz="1200" b="1" u="none" strike="noStrike">
                <a:solidFill>
                  <a:srgbClr val="2A3547"/>
                </a:solidFill>
                <a:effectLst/>
                <a:uFillTx/>
                <a:latin typeface="Calibri-Bold"/>
                <a:ea typeface="Calibri-Bold"/>
              </a:rPr>
              <a:t>MTOR</a:t>
            </a:r>
            <a:endParaRPr lang="en-US" sz="1200" b="0" u="none" strike="noStrike">
              <a:solidFill>
                <a:srgbClr val="000000"/>
              </a:solidFill>
              <a:effectLst/>
              <a:uFillTx/>
              <a:latin typeface="Arial"/>
            </a:endParaRPr>
          </a:p>
        </p:txBody>
      </p:sp>
      <p:sp>
        <p:nvSpPr>
          <p:cNvPr id="230" name=""/>
          <p:cNvSpPr/>
          <p:nvPr/>
        </p:nvSpPr>
        <p:spPr>
          <a:xfrm>
            <a:off x="2194560" y="2386440"/>
            <a:ext cx="5354396" cy="274680"/>
          </a:xfrm>
          <a:custGeom>
            <a:avLst/>
            <a:gdLst/>
            <a:ahLst/>
            <a:rect l="0" t="0" r="r" b="b"/>
            <a:pathLst>
              <a:path w="17746" h="763">
                <a:moveTo>
                  <a:pt x="0" y="0"/>
                </a:moveTo>
                <a:lnTo>
                  <a:pt x="17746" y="0"/>
                </a:lnTo>
                <a:lnTo>
                  <a:pt x="17746" y="763"/>
                </a:lnTo>
                <a:lnTo>
                  <a:pt x="0" y="763"/>
                </a:lnTo>
                <a:lnTo>
                  <a:pt x="0" y="0"/>
                </a:lnTo>
                <a:close/>
              </a:path>
            </a:pathLst>
          </a:custGeom>
          <a:solidFill>
            <a:srgbClr val="279D8F"/>
          </a:solidFill>
          <a:ln w="0">
            <a:noFill/>
          </a:ln>
        </p:spPr>
        <p:txBody>
          <a:bodyPr lIns="90000" tIns="45000" rIns="90000" bIns="45000" anchor="t">
            <a:noAutofit/>
          </a:bodyPr>
          <a:p>
            <a:endParaRPr lang="en-US" sz="1800" b="0" u="none" strike="noStrike">
              <a:solidFill>
                <a:srgbClr val="FFFFFF"/>
              </a:solidFill>
              <a:effectLst/>
              <a:uFillTx/>
              <a:latin typeface="Arial"/>
            </a:endParaRPr>
          </a:p>
        </p:txBody>
      </p:sp>
      <p:sp>
        <p:nvSpPr>
          <p:cNvPr id="231" name=""/>
          <p:cNvSpPr txBox="1"/>
          <p:nvPr/>
        </p:nvSpPr>
        <p:spPr>
          <a:xfrm>
            <a:off x="7640036" y="2340720"/>
            <a:ext cx="731520" cy="347400"/>
          </a:xfrm>
          <a:prstGeom prst="rect">
            <a:avLst/>
          </a:prstGeom>
          <a:noFill/>
          <a:ln w="0">
            <a:noFill/>
          </a:ln>
        </p:spPr>
        <p:txBody>
          <a:bodyPr lIns="90000" tIns="45000" rIns="90000" bIns="45000" anchor="t">
            <a:spAutoFit/>
          </a:bodyPr>
          <a:p>
            <a:r>
              <a:rPr lang="en-US" sz="1200" b="0" u="none" strike="noStrike">
                <a:solidFill>
                  <a:srgbClr val="475265"/>
                </a:solidFill>
                <a:effectLst/>
                <a:uFillTx/>
                <a:latin typeface="Calibri"/>
                <a:ea typeface="Calibri"/>
              </a:rPr>
              <a:t>693</a:t>
            </a:r>
            <a:endParaRPr lang="en-US" sz="1200" b="0" u="none" strike="noStrike">
              <a:solidFill>
                <a:srgbClr val="000000"/>
              </a:solidFill>
              <a:effectLst/>
              <a:uFillTx/>
              <a:latin typeface="Arial"/>
            </a:endParaRPr>
          </a:p>
        </p:txBody>
      </p:sp>
      <p:sp>
        <p:nvSpPr>
          <p:cNvPr id="232" name=""/>
          <p:cNvSpPr txBox="1"/>
          <p:nvPr/>
        </p:nvSpPr>
        <p:spPr>
          <a:xfrm>
            <a:off x="548640" y="2761560"/>
            <a:ext cx="1554480" cy="347400"/>
          </a:xfrm>
          <a:prstGeom prst="rect">
            <a:avLst/>
          </a:prstGeom>
          <a:noFill/>
          <a:ln w="0">
            <a:noFill/>
          </a:ln>
        </p:spPr>
        <p:txBody>
          <a:bodyPr lIns="90000" tIns="45000" rIns="90000" bIns="45000" anchor="t">
            <a:spAutoFit/>
          </a:bodyPr>
          <a:p>
            <a:r>
              <a:rPr lang="en-US" sz="1200" b="1" u="none" strike="noStrike">
                <a:solidFill>
                  <a:srgbClr val="2A3547"/>
                </a:solidFill>
                <a:effectLst/>
                <a:uFillTx/>
                <a:latin typeface="Calibri-Bold"/>
                <a:ea typeface="Calibri-Bold"/>
              </a:rPr>
              <a:t>SCN2A</a:t>
            </a:r>
            <a:endParaRPr lang="en-US" sz="1200" b="0" u="none" strike="noStrike">
              <a:solidFill>
                <a:srgbClr val="000000"/>
              </a:solidFill>
              <a:effectLst/>
              <a:uFillTx/>
              <a:latin typeface="Arial"/>
            </a:endParaRPr>
          </a:p>
        </p:txBody>
      </p:sp>
      <p:sp>
        <p:nvSpPr>
          <p:cNvPr id="233" name=""/>
          <p:cNvSpPr/>
          <p:nvPr/>
        </p:nvSpPr>
        <p:spPr>
          <a:xfrm>
            <a:off x="2194560" y="2807280"/>
            <a:ext cx="3940465" cy="274680"/>
          </a:xfrm>
          <a:custGeom>
            <a:avLst/>
            <a:gdLst/>
            <a:ahLst/>
            <a:rect l="0" t="0" r="r" b="b"/>
            <a:pathLst>
              <a:path w="16711" h="763">
                <a:moveTo>
                  <a:pt x="0" y="0"/>
                </a:moveTo>
                <a:lnTo>
                  <a:pt x="16711" y="0"/>
                </a:lnTo>
                <a:lnTo>
                  <a:pt x="16711" y="763"/>
                </a:lnTo>
                <a:lnTo>
                  <a:pt x="0" y="763"/>
                </a:lnTo>
                <a:lnTo>
                  <a:pt x="0" y="0"/>
                </a:lnTo>
                <a:close/>
              </a:path>
            </a:pathLst>
          </a:custGeom>
          <a:solidFill>
            <a:srgbClr val="279D8F"/>
          </a:solidFill>
          <a:ln w="0">
            <a:noFill/>
          </a:ln>
        </p:spPr>
        <p:txBody>
          <a:bodyPr lIns="90000" tIns="45000" rIns="90000" bIns="45000" anchor="t">
            <a:noAutofit/>
          </a:bodyPr>
          <a:p>
            <a:endParaRPr lang="en-US" sz="1800" b="0" u="none" strike="noStrike">
              <a:solidFill>
                <a:srgbClr val="FFFFFF"/>
              </a:solidFill>
              <a:effectLst/>
              <a:uFillTx/>
              <a:latin typeface="Arial"/>
            </a:endParaRPr>
          </a:p>
        </p:txBody>
      </p:sp>
      <p:sp>
        <p:nvSpPr>
          <p:cNvPr id="234" name=""/>
          <p:cNvSpPr txBox="1"/>
          <p:nvPr/>
        </p:nvSpPr>
        <p:spPr>
          <a:xfrm>
            <a:off x="6226105" y="2761560"/>
            <a:ext cx="731520" cy="347400"/>
          </a:xfrm>
          <a:prstGeom prst="rect">
            <a:avLst/>
          </a:prstGeom>
          <a:noFill/>
          <a:ln w="0">
            <a:noFill/>
          </a:ln>
        </p:spPr>
        <p:txBody>
          <a:bodyPr lIns="90000" tIns="45000" rIns="90000" bIns="45000" anchor="t">
            <a:spAutoFit/>
          </a:bodyPr>
          <a:p>
            <a:r>
              <a:rPr lang="en-US" sz="1200" b="0" u="none" strike="noStrike">
                <a:solidFill>
                  <a:srgbClr val="475265"/>
                </a:solidFill>
                <a:effectLst/>
                <a:uFillTx/>
                <a:latin typeface="Calibri"/>
                <a:ea typeface="Calibri"/>
              </a:rPr>
              <a:t>510</a:t>
            </a:r>
            <a:endParaRPr lang="en-US" sz="1200" b="0" u="none" strike="noStrike">
              <a:solidFill>
                <a:srgbClr val="000000"/>
              </a:solidFill>
              <a:effectLst/>
              <a:uFillTx/>
              <a:latin typeface="Arial"/>
            </a:endParaRPr>
          </a:p>
        </p:txBody>
      </p:sp>
      <p:sp>
        <p:nvSpPr>
          <p:cNvPr id="235" name=""/>
          <p:cNvSpPr txBox="1"/>
          <p:nvPr/>
        </p:nvSpPr>
        <p:spPr>
          <a:xfrm>
            <a:off x="548640" y="3182040"/>
            <a:ext cx="1554480" cy="347400"/>
          </a:xfrm>
          <a:prstGeom prst="rect">
            <a:avLst/>
          </a:prstGeom>
          <a:noFill/>
          <a:ln w="0">
            <a:noFill/>
          </a:ln>
        </p:spPr>
        <p:txBody>
          <a:bodyPr lIns="90000" tIns="45000" rIns="90000" bIns="45000" anchor="t">
            <a:spAutoFit/>
          </a:bodyPr>
          <a:p>
            <a:r>
              <a:rPr lang="en-US" sz="1200" b="1" u="none" strike="noStrike">
                <a:solidFill>
                  <a:srgbClr val="2A3547"/>
                </a:solidFill>
                <a:effectLst/>
                <a:uFillTx/>
                <a:latin typeface="Calibri-Bold"/>
                <a:ea typeface="Calibri-Bold"/>
              </a:rPr>
              <a:t>TTN</a:t>
            </a:r>
            <a:endParaRPr lang="en-US" sz="1200" b="0" u="none" strike="noStrike">
              <a:solidFill>
                <a:srgbClr val="000000"/>
              </a:solidFill>
              <a:effectLst/>
              <a:uFillTx/>
              <a:latin typeface="Arial"/>
            </a:endParaRPr>
          </a:p>
        </p:txBody>
      </p:sp>
      <p:sp>
        <p:nvSpPr>
          <p:cNvPr id="236" name=""/>
          <p:cNvSpPr/>
          <p:nvPr/>
        </p:nvSpPr>
        <p:spPr>
          <a:xfrm>
            <a:off x="2194560" y="3227760"/>
            <a:ext cx="3793663" cy="274680"/>
          </a:xfrm>
          <a:custGeom>
            <a:avLst/>
            <a:gdLst/>
            <a:ahLst/>
            <a:rect l="0" t="0" r="r" b="b"/>
            <a:pathLst>
              <a:path w="15380" h="763">
                <a:moveTo>
                  <a:pt x="0" y="0"/>
                </a:moveTo>
                <a:lnTo>
                  <a:pt x="15380" y="0"/>
                </a:lnTo>
                <a:lnTo>
                  <a:pt x="15380" y="763"/>
                </a:lnTo>
                <a:lnTo>
                  <a:pt x="0" y="763"/>
                </a:lnTo>
                <a:lnTo>
                  <a:pt x="0" y="0"/>
                </a:lnTo>
                <a:close/>
              </a:path>
            </a:pathLst>
          </a:custGeom>
          <a:solidFill>
            <a:srgbClr val="279D8F"/>
          </a:solidFill>
          <a:ln w="0">
            <a:noFill/>
          </a:ln>
        </p:spPr>
        <p:txBody>
          <a:bodyPr lIns="90000" tIns="45000" rIns="90000" bIns="45000" anchor="t">
            <a:noAutofit/>
          </a:bodyPr>
          <a:p>
            <a:endParaRPr lang="en-US" sz="1800" b="0" u="none" strike="noStrike">
              <a:solidFill>
                <a:srgbClr val="FFFFFF"/>
              </a:solidFill>
              <a:effectLst/>
              <a:uFillTx/>
              <a:latin typeface="Arial"/>
            </a:endParaRPr>
          </a:p>
        </p:txBody>
      </p:sp>
      <p:sp>
        <p:nvSpPr>
          <p:cNvPr id="237" name=""/>
          <p:cNvSpPr txBox="1"/>
          <p:nvPr/>
        </p:nvSpPr>
        <p:spPr>
          <a:xfrm>
            <a:off x="6079303" y="3182040"/>
            <a:ext cx="731520" cy="347400"/>
          </a:xfrm>
          <a:prstGeom prst="rect">
            <a:avLst/>
          </a:prstGeom>
          <a:noFill/>
          <a:ln w="0">
            <a:noFill/>
          </a:ln>
        </p:spPr>
        <p:txBody>
          <a:bodyPr lIns="90000" tIns="45000" rIns="90000" bIns="45000" anchor="t">
            <a:spAutoFit/>
          </a:bodyPr>
          <a:p>
            <a:r>
              <a:rPr lang="en-US" sz="1200" b="0" u="none" strike="noStrike">
                <a:solidFill>
                  <a:srgbClr val="475265"/>
                </a:solidFill>
                <a:effectLst/>
                <a:uFillTx/>
                <a:latin typeface="Calibri"/>
                <a:ea typeface="Calibri"/>
              </a:rPr>
              <a:t>491</a:t>
            </a:r>
            <a:endParaRPr lang="en-US" sz="1200" b="0" u="none" strike="noStrike">
              <a:solidFill>
                <a:srgbClr val="000000"/>
              </a:solidFill>
              <a:effectLst/>
              <a:uFillTx/>
              <a:latin typeface="Arial"/>
            </a:endParaRPr>
          </a:p>
        </p:txBody>
      </p:sp>
      <p:sp>
        <p:nvSpPr>
          <p:cNvPr id="238" name=""/>
          <p:cNvSpPr txBox="1"/>
          <p:nvPr/>
        </p:nvSpPr>
        <p:spPr>
          <a:xfrm>
            <a:off x="548640" y="3602880"/>
            <a:ext cx="1554480" cy="347400"/>
          </a:xfrm>
          <a:prstGeom prst="rect">
            <a:avLst/>
          </a:prstGeom>
          <a:noFill/>
          <a:ln w="0">
            <a:noFill/>
          </a:ln>
        </p:spPr>
        <p:txBody>
          <a:bodyPr lIns="90000" tIns="45000" rIns="90000" bIns="45000" anchor="t">
            <a:spAutoFit/>
          </a:bodyPr>
          <a:p>
            <a:r>
              <a:rPr lang="en-US" sz="1200" b="1" u="none" strike="noStrike">
                <a:solidFill>
                  <a:srgbClr val="2A3547"/>
                </a:solidFill>
                <a:effectLst/>
                <a:uFillTx/>
                <a:latin typeface="Calibri-Bold"/>
                <a:ea typeface="Calibri-Bold"/>
              </a:rPr>
              <a:t>NF1</a:t>
            </a:r>
            <a:endParaRPr lang="en-US" sz="1200" b="0" u="none" strike="noStrike">
              <a:solidFill>
                <a:srgbClr val="000000"/>
              </a:solidFill>
              <a:effectLst/>
              <a:uFillTx/>
              <a:latin typeface="Arial"/>
            </a:endParaRPr>
          </a:p>
        </p:txBody>
      </p:sp>
      <p:sp>
        <p:nvSpPr>
          <p:cNvPr id="239" name=""/>
          <p:cNvSpPr/>
          <p:nvPr/>
        </p:nvSpPr>
        <p:spPr>
          <a:xfrm>
            <a:off x="2194560" y="3648600"/>
            <a:ext cx="3677767" cy="274680"/>
          </a:xfrm>
          <a:custGeom>
            <a:avLst/>
            <a:gdLst/>
            <a:ahLst/>
            <a:rect l="0" t="0" r="r" b="b"/>
            <a:pathLst>
              <a:path w="15232" h="763">
                <a:moveTo>
                  <a:pt x="0" y="0"/>
                </a:moveTo>
                <a:lnTo>
                  <a:pt x="15232" y="0"/>
                </a:lnTo>
                <a:lnTo>
                  <a:pt x="15232" y="763"/>
                </a:lnTo>
                <a:lnTo>
                  <a:pt x="0" y="763"/>
                </a:lnTo>
                <a:lnTo>
                  <a:pt x="0" y="0"/>
                </a:lnTo>
                <a:close/>
              </a:path>
            </a:pathLst>
          </a:custGeom>
          <a:solidFill>
            <a:srgbClr val="279D8F"/>
          </a:solidFill>
          <a:ln w="0">
            <a:noFill/>
          </a:ln>
        </p:spPr>
        <p:txBody>
          <a:bodyPr lIns="90000" tIns="45000" rIns="90000" bIns="45000" anchor="t">
            <a:noAutofit/>
          </a:bodyPr>
          <a:p>
            <a:endParaRPr lang="en-US" sz="1800" b="0" u="none" strike="noStrike">
              <a:solidFill>
                <a:srgbClr val="FFFFFF"/>
              </a:solidFill>
              <a:effectLst/>
              <a:uFillTx/>
              <a:latin typeface="Arial"/>
            </a:endParaRPr>
          </a:p>
        </p:txBody>
      </p:sp>
      <p:sp>
        <p:nvSpPr>
          <p:cNvPr id="240" name=""/>
          <p:cNvSpPr txBox="1"/>
          <p:nvPr/>
        </p:nvSpPr>
        <p:spPr>
          <a:xfrm>
            <a:off x="5963407" y="3602880"/>
            <a:ext cx="731520" cy="347400"/>
          </a:xfrm>
          <a:prstGeom prst="rect">
            <a:avLst/>
          </a:prstGeom>
          <a:noFill/>
          <a:ln w="0">
            <a:noFill/>
          </a:ln>
        </p:spPr>
        <p:txBody>
          <a:bodyPr lIns="90000" tIns="45000" rIns="90000" bIns="45000" anchor="t">
            <a:spAutoFit/>
          </a:bodyPr>
          <a:p>
            <a:r>
              <a:rPr lang="en-US" sz="1200" b="0" u="none" strike="noStrike">
                <a:solidFill>
                  <a:srgbClr val="475265"/>
                </a:solidFill>
                <a:effectLst/>
                <a:uFillTx/>
                <a:latin typeface="Calibri"/>
                <a:ea typeface="Calibri"/>
              </a:rPr>
              <a:t>476</a:t>
            </a:r>
            <a:endParaRPr lang="en-US" sz="1200" b="0" u="none" strike="noStrike">
              <a:solidFill>
                <a:srgbClr val="000000"/>
              </a:solidFill>
              <a:effectLst/>
              <a:uFillTx/>
              <a:latin typeface="Arial"/>
            </a:endParaRPr>
          </a:p>
        </p:txBody>
      </p:sp>
      <p:sp>
        <p:nvSpPr>
          <p:cNvPr id="241" name=""/>
          <p:cNvSpPr txBox="1"/>
          <p:nvPr/>
        </p:nvSpPr>
        <p:spPr>
          <a:xfrm>
            <a:off x="548640" y="4023360"/>
            <a:ext cx="1554480" cy="347400"/>
          </a:xfrm>
          <a:prstGeom prst="rect">
            <a:avLst/>
          </a:prstGeom>
          <a:noFill/>
          <a:ln w="0">
            <a:noFill/>
          </a:ln>
        </p:spPr>
        <p:txBody>
          <a:bodyPr lIns="90000" tIns="45000" rIns="90000" bIns="45000" anchor="t">
            <a:spAutoFit/>
          </a:bodyPr>
          <a:p>
            <a:r>
              <a:rPr lang="en-US" sz="1200" b="1" u="none" strike="noStrike">
                <a:solidFill>
                  <a:srgbClr val="2A3547"/>
                </a:solidFill>
                <a:effectLst/>
                <a:uFillTx/>
                <a:latin typeface="Calibri-Bold"/>
                <a:ea typeface="Calibri-Bold"/>
              </a:rPr>
              <a:t>EHMT1</a:t>
            </a:r>
            <a:endParaRPr lang="en-US" sz="1200" b="0" u="none" strike="noStrike">
              <a:solidFill>
                <a:srgbClr val="000000"/>
              </a:solidFill>
              <a:effectLst/>
              <a:uFillTx/>
              <a:latin typeface="Arial"/>
            </a:endParaRPr>
          </a:p>
        </p:txBody>
      </p:sp>
      <p:sp>
        <p:nvSpPr>
          <p:cNvPr id="242" name=""/>
          <p:cNvSpPr/>
          <p:nvPr/>
        </p:nvSpPr>
        <p:spPr>
          <a:xfrm>
            <a:off x="2194560" y="4069080"/>
            <a:ext cx="3013297" cy="274680"/>
          </a:xfrm>
          <a:custGeom>
            <a:avLst/>
            <a:gdLst/>
            <a:ahLst/>
            <a:rect l="0" t="0" r="r" b="b"/>
            <a:pathLst>
              <a:path w="13458" h="763">
                <a:moveTo>
                  <a:pt x="0" y="0"/>
                </a:moveTo>
                <a:lnTo>
                  <a:pt x="13458" y="0"/>
                </a:lnTo>
                <a:lnTo>
                  <a:pt x="13458" y="763"/>
                </a:lnTo>
                <a:lnTo>
                  <a:pt x="0" y="763"/>
                </a:lnTo>
                <a:lnTo>
                  <a:pt x="0" y="0"/>
                </a:lnTo>
                <a:close/>
              </a:path>
            </a:pathLst>
          </a:custGeom>
          <a:solidFill>
            <a:srgbClr val="279D8F"/>
          </a:solidFill>
          <a:ln w="0">
            <a:noFill/>
          </a:ln>
        </p:spPr>
        <p:txBody>
          <a:bodyPr lIns="90000" tIns="45000" rIns="90000" bIns="45000" anchor="t">
            <a:noAutofit/>
          </a:bodyPr>
          <a:p>
            <a:endParaRPr lang="en-US" sz="1800" b="0" u="none" strike="noStrike">
              <a:solidFill>
                <a:srgbClr val="FFFFFF"/>
              </a:solidFill>
              <a:effectLst/>
              <a:uFillTx/>
              <a:latin typeface="Arial"/>
            </a:endParaRPr>
          </a:p>
        </p:txBody>
      </p:sp>
      <p:sp>
        <p:nvSpPr>
          <p:cNvPr id="243" name=""/>
          <p:cNvSpPr txBox="1"/>
          <p:nvPr/>
        </p:nvSpPr>
        <p:spPr>
          <a:xfrm>
            <a:off x="5298937" y="4023360"/>
            <a:ext cx="731520" cy="347400"/>
          </a:xfrm>
          <a:prstGeom prst="rect">
            <a:avLst/>
          </a:prstGeom>
          <a:noFill/>
          <a:ln w="0">
            <a:noFill/>
          </a:ln>
        </p:spPr>
        <p:txBody>
          <a:bodyPr lIns="90000" tIns="45000" rIns="90000" bIns="45000" anchor="t">
            <a:spAutoFit/>
          </a:bodyPr>
          <a:p>
            <a:r>
              <a:rPr lang="en-US" sz="1200" b="0" u="none" strike="noStrike">
                <a:solidFill>
                  <a:srgbClr val="475265"/>
                </a:solidFill>
                <a:effectLst/>
                <a:uFillTx/>
                <a:latin typeface="Calibri"/>
                <a:ea typeface="Calibri"/>
              </a:rPr>
              <a:t>390</a:t>
            </a:r>
            <a:endParaRPr lang="en-US" sz="1200" b="0" u="none" strike="noStrike">
              <a:solidFill>
                <a:srgbClr val="000000"/>
              </a:solidFill>
              <a:effectLst/>
              <a:uFillTx/>
              <a:latin typeface="Arial"/>
            </a:endParaRPr>
          </a:p>
        </p:txBody>
      </p:sp>
      <p:sp>
        <p:nvSpPr>
          <p:cNvPr id="244" name=""/>
          <p:cNvSpPr txBox="1"/>
          <p:nvPr/>
        </p:nvSpPr>
        <p:spPr>
          <a:xfrm>
            <a:off x="548640" y="4443840"/>
            <a:ext cx="1554480" cy="347400"/>
          </a:xfrm>
          <a:prstGeom prst="rect">
            <a:avLst/>
          </a:prstGeom>
          <a:noFill/>
          <a:ln w="0">
            <a:noFill/>
          </a:ln>
        </p:spPr>
        <p:txBody>
          <a:bodyPr lIns="90000" tIns="45000" rIns="90000" bIns="45000" anchor="t">
            <a:spAutoFit/>
          </a:bodyPr>
          <a:p>
            <a:r>
              <a:rPr lang="en-US" sz="1200" b="1" u="none" strike="noStrike">
                <a:solidFill>
                  <a:srgbClr val="2A3547"/>
                </a:solidFill>
                <a:effectLst/>
                <a:uFillTx/>
                <a:latin typeface="Calibri-Bold"/>
                <a:ea typeface="Calibri-Bold"/>
              </a:rPr>
              <a:t>MECP2</a:t>
            </a:r>
            <a:endParaRPr lang="en-US" sz="1200" b="0" u="none" strike="noStrike">
              <a:solidFill>
                <a:srgbClr val="000000"/>
              </a:solidFill>
              <a:effectLst/>
              <a:uFillTx/>
              <a:latin typeface="Arial"/>
            </a:endParaRPr>
          </a:p>
        </p:txBody>
      </p:sp>
      <p:sp>
        <p:nvSpPr>
          <p:cNvPr id="245" name=""/>
          <p:cNvSpPr/>
          <p:nvPr/>
        </p:nvSpPr>
        <p:spPr>
          <a:xfrm>
            <a:off x="2194560" y="4489560"/>
            <a:ext cx="2781505" cy="274680"/>
          </a:xfrm>
          <a:custGeom>
            <a:avLst/>
            <a:gdLst/>
            <a:ahLst/>
            <a:rect l="0" t="0" r="r" b="b"/>
            <a:pathLst>
              <a:path w="12570" h="763">
                <a:moveTo>
                  <a:pt x="0" y="0"/>
                </a:moveTo>
                <a:lnTo>
                  <a:pt x="12570" y="0"/>
                </a:lnTo>
                <a:lnTo>
                  <a:pt x="12570" y="763"/>
                </a:lnTo>
                <a:lnTo>
                  <a:pt x="0" y="763"/>
                </a:lnTo>
                <a:lnTo>
                  <a:pt x="0" y="0"/>
                </a:lnTo>
                <a:close/>
              </a:path>
            </a:pathLst>
          </a:custGeom>
          <a:solidFill>
            <a:srgbClr val="279D8F"/>
          </a:solidFill>
          <a:ln w="0">
            <a:noFill/>
          </a:ln>
        </p:spPr>
        <p:txBody>
          <a:bodyPr lIns="90000" tIns="45000" rIns="90000" bIns="45000" anchor="t">
            <a:noAutofit/>
          </a:bodyPr>
          <a:p>
            <a:endParaRPr lang="en-US" sz="1800" b="0" u="none" strike="noStrike">
              <a:solidFill>
                <a:srgbClr val="FFFFFF"/>
              </a:solidFill>
              <a:effectLst/>
              <a:uFillTx/>
              <a:latin typeface="Arial"/>
            </a:endParaRPr>
          </a:p>
        </p:txBody>
      </p:sp>
      <p:sp>
        <p:nvSpPr>
          <p:cNvPr id="246" name=""/>
          <p:cNvSpPr txBox="1"/>
          <p:nvPr/>
        </p:nvSpPr>
        <p:spPr>
          <a:xfrm>
            <a:off x="5067145" y="4443840"/>
            <a:ext cx="731520" cy="347400"/>
          </a:xfrm>
          <a:prstGeom prst="rect">
            <a:avLst/>
          </a:prstGeom>
          <a:noFill/>
          <a:ln w="0">
            <a:noFill/>
          </a:ln>
        </p:spPr>
        <p:txBody>
          <a:bodyPr lIns="90000" tIns="45000" rIns="90000" bIns="45000" anchor="t">
            <a:spAutoFit/>
          </a:bodyPr>
          <a:p>
            <a:r>
              <a:rPr lang="en-US" sz="1200" b="0" u="none" strike="noStrike">
                <a:solidFill>
                  <a:srgbClr val="475265"/>
                </a:solidFill>
                <a:effectLst/>
                <a:uFillTx/>
                <a:latin typeface="Calibri"/>
                <a:ea typeface="Calibri"/>
              </a:rPr>
              <a:t>360</a:t>
            </a:r>
            <a:endParaRPr lang="en-US" sz="1200" b="0" u="none" strike="noStrike">
              <a:solidFill>
                <a:srgbClr val="000000"/>
              </a:solidFill>
              <a:effectLst/>
              <a:uFillTx/>
              <a:latin typeface="Arial"/>
            </a:endParaRPr>
          </a:p>
        </p:txBody>
      </p:sp>
      <p:sp>
        <p:nvSpPr>
          <p:cNvPr id="247" name=""/>
          <p:cNvSpPr txBox="1"/>
          <p:nvPr/>
        </p:nvSpPr>
        <p:spPr>
          <a:xfrm>
            <a:off x="548640" y="4864680"/>
            <a:ext cx="1554480" cy="347400"/>
          </a:xfrm>
          <a:prstGeom prst="rect">
            <a:avLst/>
          </a:prstGeom>
          <a:noFill/>
          <a:ln w="0">
            <a:noFill/>
          </a:ln>
        </p:spPr>
        <p:txBody>
          <a:bodyPr lIns="90000" tIns="45000" rIns="90000" bIns="45000" anchor="t">
            <a:spAutoFit/>
          </a:bodyPr>
          <a:p>
            <a:r>
              <a:rPr lang="en-US" sz="1200" b="1" u="none" strike="noStrike">
                <a:solidFill>
                  <a:srgbClr val="2A3547"/>
                </a:solidFill>
                <a:effectLst/>
                <a:uFillTx/>
                <a:latin typeface="Calibri-Bold"/>
                <a:ea typeface="Calibri-Bold"/>
              </a:rPr>
              <a:t>GRIN2B</a:t>
            </a:r>
            <a:endParaRPr lang="en-US" sz="1200" b="0" u="none" strike="noStrike">
              <a:solidFill>
                <a:srgbClr val="000000"/>
              </a:solidFill>
              <a:effectLst/>
              <a:uFillTx/>
              <a:latin typeface="Arial"/>
            </a:endParaRPr>
          </a:p>
        </p:txBody>
      </p:sp>
      <p:sp>
        <p:nvSpPr>
          <p:cNvPr id="248" name=""/>
          <p:cNvSpPr/>
          <p:nvPr/>
        </p:nvSpPr>
        <p:spPr>
          <a:xfrm>
            <a:off x="2194560" y="4910400"/>
            <a:ext cx="2696514" cy="274680"/>
          </a:xfrm>
          <a:custGeom>
            <a:avLst/>
            <a:gdLst/>
            <a:ahLst/>
            <a:rect l="0" t="0" r="r" b="b"/>
            <a:pathLst>
              <a:path w="11092" h="763">
                <a:moveTo>
                  <a:pt x="0" y="0"/>
                </a:moveTo>
                <a:lnTo>
                  <a:pt x="11092" y="0"/>
                </a:lnTo>
                <a:lnTo>
                  <a:pt x="11092" y="763"/>
                </a:lnTo>
                <a:lnTo>
                  <a:pt x="0" y="763"/>
                </a:lnTo>
                <a:lnTo>
                  <a:pt x="0" y="0"/>
                </a:lnTo>
                <a:close/>
              </a:path>
            </a:pathLst>
          </a:custGeom>
          <a:solidFill>
            <a:srgbClr val="279D8F"/>
          </a:solidFill>
          <a:ln w="0">
            <a:noFill/>
          </a:ln>
        </p:spPr>
        <p:txBody>
          <a:bodyPr lIns="90000" tIns="45000" rIns="90000" bIns="45000" anchor="t">
            <a:noAutofit/>
          </a:bodyPr>
          <a:p>
            <a:endParaRPr lang="en-US" sz="1800" b="0" u="none" strike="noStrike">
              <a:solidFill>
                <a:srgbClr val="FFFFFF"/>
              </a:solidFill>
              <a:effectLst/>
              <a:uFillTx/>
              <a:latin typeface="Arial"/>
            </a:endParaRPr>
          </a:p>
        </p:txBody>
      </p:sp>
      <p:sp>
        <p:nvSpPr>
          <p:cNvPr id="249" name=""/>
          <p:cNvSpPr txBox="1"/>
          <p:nvPr/>
        </p:nvSpPr>
        <p:spPr>
          <a:xfrm>
            <a:off x="4982154" y="4864680"/>
            <a:ext cx="731520" cy="347400"/>
          </a:xfrm>
          <a:prstGeom prst="rect">
            <a:avLst/>
          </a:prstGeom>
          <a:noFill/>
          <a:ln w="0">
            <a:noFill/>
          </a:ln>
        </p:spPr>
        <p:txBody>
          <a:bodyPr lIns="90000" tIns="45000" rIns="90000" bIns="45000" anchor="t">
            <a:spAutoFit/>
          </a:bodyPr>
          <a:p>
            <a:r>
              <a:rPr lang="en-US" sz="1200" b="0" u="none" strike="noStrike">
                <a:solidFill>
                  <a:srgbClr val="475265"/>
                </a:solidFill>
                <a:effectLst/>
                <a:uFillTx/>
                <a:latin typeface="Calibri"/>
                <a:ea typeface="Calibri"/>
              </a:rPr>
              <a:t>349</a:t>
            </a:r>
            <a:endParaRPr lang="en-US" sz="1200" b="0" u="none" strike="noStrike">
              <a:solidFill>
                <a:srgbClr val="000000"/>
              </a:solidFill>
              <a:effectLst/>
              <a:uFillTx/>
              <a:latin typeface="Arial"/>
            </a:endParaRPr>
          </a:p>
        </p:txBody>
      </p:sp>
      <p:sp>
        <p:nvSpPr>
          <p:cNvPr id="250" name=""/>
          <p:cNvSpPr txBox="1"/>
          <p:nvPr/>
        </p:nvSpPr>
        <p:spPr>
          <a:xfrm>
            <a:off x="548640" y="5285160"/>
            <a:ext cx="1554480" cy="347400"/>
          </a:xfrm>
          <a:prstGeom prst="rect">
            <a:avLst/>
          </a:prstGeom>
          <a:noFill/>
          <a:ln w="0">
            <a:noFill/>
          </a:ln>
        </p:spPr>
        <p:txBody>
          <a:bodyPr lIns="90000" tIns="45000" rIns="90000" bIns="45000" anchor="t">
            <a:spAutoFit/>
          </a:bodyPr>
          <a:p>
            <a:r>
              <a:rPr lang="en-US" sz="1200" b="1" u="none" strike="noStrike">
                <a:solidFill>
                  <a:srgbClr val="2A3547"/>
                </a:solidFill>
                <a:effectLst/>
                <a:uFillTx/>
                <a:latin typeface="Calibri-Bold"/>
                <a:ea typeface="Calibri-Bold"/>
              </a:rPr>
              <a:t>ATM</a:t>
            </a:r>
            <a:endParaRPr lang="en-US" sz="1200" b="0" u="none" strike="noStrike">
              <a:solidFill>
                <a:srgbClr val="000000"/>
              </a:solidFill>
              <a:effectLst/>
              <a:uFillTx/>
              <a:latin typeface="Arial"/>
            </a:endParaRPr>
          </a:p>
        </p:txBody>
      </p:sp>
      <p:sp>
        <p:nvSpPr>
          <p:cNvPr id="251" name=""/>
          <p:cNvSpPr/>
          <p:nvPr/>
        </p:nvSpPr>
        <p:spPr>
          <a:xfrm>
            <a:off x="2194560" y="5330880"/>
            <a:ext cx="2518807" cy="274680"/>
          </a:xfrm>
          <a:custGeom>
            <a:avLst/>
            <a:gdLst/>
            <a:ahLst/>
            <a:rect l="0" t="0" r="r" b="b"/>
            <a:pathLst>
              <a:path w="9613" h="763">
                <a:moveTo>
                  <a:pt x="0" y="0"/>
                </a:moveTo>
                <a:lnTo>
                  <a:pt x="9613" y="0"/>
                </a:lnTo>
                <a:lnTo>
                  <a:pt x="9613" y="763"/>
                </a:lnTo>
                <a:lnTo>
                  <a:pt x="0" y="763"/>
                </a:lnTo>
                <a:lnTo>
                  <a:pt x="0" y="0"/>
                </a:lnTo>
                <a:close/>
              </a:path>
            </a:pathLst>
          </a:custGeom>
          <a:solidFill>
            <a:srgbClr val="279D8F"/>
          </a:solidFill>
          <a:ln w="0">
            <a:noFill/>
          </a:ln>
        </p:spPr>
        <p:txBody>
          <a:bodyPr lIns="90000" tIns="45000" rIns="90000" bIns="45000" anchor="t">
            <a:noAutofit/>
          </a:bodyPr>
          <a:p>
            <a:endParaRPr lang="en-US" sz="1800" b="0" u="none" strike="noStrike">
              <a:solidFill>
                <a:srgbClr val="FFFFFF"/>
              </a:solidFill>
              <a:effectLst/>
              <a:uFillTx/>
              <a:latin typeface="Arial"/>
            </a:endParaRPr>
          </a:p>
        </p:txBody>
      </p:sp>
      <p:sp>
        <p:nvSpPr>
          <p:cNvPr id="252" name=""/>
          <p:cNvSpPr txBox="1"/>
          <p:nvPr/>
        </p:nvSpPr>
        <p:spPr>
          <a:xfrm>
            <a:off x="4804447" y="5285160"/>
            <a:ext cx="731520" cy="347400"/>
          </a:xfrm>
          <a:prstGeom prst="rect">
            <a:avLst/>
          </a:prstGeom>
          <a:noFill/>
          <a:ln w="0">
            <a:noFill/>
          </a:ln>
        </p:spPr>
        <p:txBody>
          <a:bodyPr lIns="90000" tIns="45000" rIns="90000" bIns="45000" anchor="t">
            <a:spAutoFit/>
          </a:bodyPr>
          <a:p>
            <a:r>
              <a:rPr lang="en-US" sz="1200" b="0" u="none" strike="noStrike">
                <a:solidFill>
                  <a:srgbClr val="475265"/>
                </a:solidFill>
                <a:effectLst/>
                <a:uFillTx/>
                <a:latin typeface="Calibri"/>
                <a:ea typeface="Calibri"/>
              </a:rPr>
              <a:t>326</a:t>
            </a:r>
            <a:endParaRPr lang="en-US" sz="1200" b="0" u="none" strike="noStrike">
              <a:solidFill>
                <a:srgbClr val="000000"/>
              </a:solidFill>
              <a:effectLst/>
              <a:uFillTx/>
              <a:latin typeface="Arial"/>
            </a:endParaRPr>
          </a:p>
        </p:txBody>
      </p:sp>
      <p:sp>
        <p:nvSpPr>
          <p:cNvPr id="253" name=""/>
          <p:cNvSpPr txBox="1"/>
          <p:nvPr/>
        </p:nvSpPr>
        <p:spPr>
          <a:xfrm>
            <a:off x="548640" y="5706000"/>
            <a:ext cx="1554480" cy="347400"/>
          </a:xfrm>
          <a:prstGeom prst="rect">
            <a:avLst/>
          </a:prstGeom>
          <a:noFill/>
          <a:ln w="0">
            <a:noFill/>
          </a:ln>
        </p:spPr>
        <p:txBody>
          <a:bodyPr lIns="90000" tIns="45000" rIns="90000" bIns="45000" anchor="t">
            <a:spAutoFit/>
          </a:bodyPr>
          <a:p>
            <a:r>
              <a:rPr lang="en-US" sz="1200" b="1" u="none" strike="noStrike">
                <a:solidFill>
                  <a:srgbClr val="2A3547"/>
                </a:solidFill>
                <a:effectLst/>
                <a:uFillTx/>
                <a:latin typeface="Calibri-Bold"/>
                <a:ea typeface="Calibri-Bold"/>
              </a:rPr>
              <a:t>MSH2</a:t>
            </a:r>
            <a:endParaRPr lang="en-US" sz="1200" b="0" u="none" strike="noStrike">
              <a:solidFill>
                <a:srgbClr val="000000"/>
              </a:solidFill>
              <a:effectLst/>
              <a:uFillTx/>
              <a:latin typeface="Arial"/>
            </a:endParaRPr>
          </a:p>
        </p:txBody>
      </p:sp>
      <p:sp>
        <p:nvSpPr>
          <p:cNvPr id="254" name=""/>
          <p:cNvSpPr/>
          <p:nvPr/>
        </p:nvSpPr>
        <p:spPr>
          <a:xfrm>
            <a:off x="2194560" y="5751720"/>
            <a:ext cx="2441543" cy="274680"/>
          </a:xfrm>
          <a:custGeom>
            <a:avLst/>
            <a:gdLst/>
            <a:ahLst/>
            <a:rect l="0" t="0" r="r" b="b"/>
            <a:pathLst>
              <a:path w="8578" h="763">
                <a:moveTo>
                  <a:pt x="0" y="0"/>
                </a:moveTo>
                <a:lnTo>
                  <a:pt x="8578" y="0"/>
                </a:lnTo>
                <a:lnTo>
                  <a:pt x="8578" y="763"/>
                </a:lnTo>
                <a:lnTo>
                  <a:pt x="0" y="763"/>
                </a:lnTo>
                <a:lnTo>
                  <a:pt x="0" y="0"/>
                </a:lnTo>
                <a:close/>
              </a:path>
            </a:pathLst>
          </a:custGeom>
          <a:solidFill>
            <a:srgbClr val="279D8F"/>
          </a:solidFill>
          <a:ln w="0">
            <a:noFill/>
          </a:ln>
        </p:spPr>
        <p:txBody>
          <a:bodyPr lIns="90000" tIns="45000" rIns="90000" bIns="45000" anchor="t">
            <a:noAutofit/>
          </a:bodyPr>
          <a:p>
            <a:endParaRPr lang="en-US" sz="1800" b="0" u="none" strike="noStrike">
              <a:solidFill>
                <a:srgbClr val="FFFFFF"/>
              </a:solidFill>
              <a:effectLst/>
              <a:uFillTx/>
              <a:latin typeface="Arial"/>
            </a:endParaRPr>
          </a:p>
        </p:txBody>
      </p:sp>
      <p:sp>
        <p:nvSpPr>
          <p:cNvPr id="255" name=""/>
          <p:cNvSpPr txBox="1"/>
          <p:nvPr/>
        </p:nvSpPr>
        <p:spPr>
          <a:xfrm>
            <a:off x="4727183" y="5706000"/>
            <a:ext cx="731520" cy="347400"/>
          </a:xfrm>
          <a:prstGeom prst="rect">
            <a:avLst/>
          </a:prstGeom>
          <a:noFill/>
          <a:ln w="0">
            <a:noFill/>
          </a:ln>
        </p:spPr>
        <p:txBody>
          <a:bodyPr lIns="90000" tIns="45000" rIns="90000" bIns="45000" anchor="t">
            <a:spAutoFit/>
          </a:bodyPr>
          <a:p>
            <a:r>
              <a:rPr lang="en-US" sz="1200" b="0" u="none" strike="noStrike">
                <a:solidFill>
                  <a:srgbClr val="475265"/>
                </a:solidFill>
                <a:effectLst/>
                <a:uFillTx/>
                <a:latin typeface="Calibri"/>
                <a:ea typeface="Calibri"/>
              </a:rPr>
              <a:t>316</a:t>
            </a:r>
            <a:endParaRPr lang="en-US" sz="1200" b="0" u="none" strike="noStrike">
              <a:solidFill>
                <a:srgbClr val="000000"/>
              </a:solidFill>
              <a:effectLst/>
              <a:uFillTx/>
              <a:latin typeface="Arial"/>
            </a:endParaRPr>
          </a:p>
        </p:txBody>
      </p:sp>
      <p:sp>
        <p:nvSpPr>
          <p:cNvPr id="256" name=""/>
          <p:cNvSpPr txBox="1"/>
          <p:nvPr/>
        </p:nvSpPr>
        <p:spPr>
          <a:xfrm>
            <a:off x="11368840" y="6446520"/>
            <a:ext cx="500000" cy="300000"/>
          </a:xfrm>
          <a:prstGeom prst="rect">
            <a:avLst/>
          </a:prstGeom>
          <a:noFill/>
          <a:ln w="0">
            <a:noFill/>
          </a:ln>
        </p:spPr>
        <p:txBody>
          <a:bodyPr lIns="90000" tIns="45000" rIns="90000" bIns="45000" anchor="t">
            <a:spAutoFit/>
          </a:bodyPr>
          <a:p>
            <a:pPr algn="r"/>
            <a:r>
              <a:rPr lang="en-US" sz="1000" b="0" u="none" strike="noStrike">
                <a:solidFill>
                  <a:srgbClr val="8D99AE"/>
                </a:solidFill>
                <a:effectLst/>
                <a:uFillTx/>
                <a:latin typeface="Calibri"/>
                <a:ea typeface="Calibri"/>
              </a:rPr>
              <a:t>22</a:t>
            </a:r>
            <a:endParaRPr lang="en-US"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57" name=""/>
          <p:cNvSpPr txBox="1"/>
          <p:nvPr/>
        </p:nvSpPr>
        <p:spPr>
          <a:xfrm>
            <a:off x="548640" y="384120"/>
            <a:ext cx="7315200" cy="292680"/>
          </a:xfrm>
          <a:prstGeom prst="rect">
            <a:avLst/>
          </a:prstGeom>
          <a:noFill/>
          <a:ln w="0">
            <a:noFill/>
          </a:ln>
        </p:spPr>
        <p:txBody>
          <a:bodyPr lIns="90000" tIns="45000" rIns="90000" bIns="45000" anchor="t">
            <a:spAutoFit/>
          </a:bodyPr>
          <a:p>
            <a:r>
              <a:rPr lang="en-US" sz="1200" b="1" u="none" spc="201" strike="noStrike">
                <a:solidFill>
                  <a:srgbClr val="E76C4E"/>
                </a:solidFill>
                <a:effectLst/>
                <a:uFillTx/>
                <a:latin typeface="Calibri-Bold"/>
                <a:ea typeface="Calibri-Bold"/>
              </a:rPr>
              <a:t>THE GLOBAL WATCHLIST</a:t>
            </a:r>
            <a:endParaRPr lang="en-US" sz="1200" b="0" u="none" strike="noStrike">
              <a:solidFill>
                <a:srgbClr val="000000"/>
              </a:solidFill>
              <a:effectLst/>
              <a:uFillTx/>
              <a:latin typeface="Arial"/>
            </a:endParaRPr>
          </a:p>
        </p:txBody>
      </p:sp>
      <p:sp>
        <p:nvSpPr>
          <p:cNvPr id="258" name=""/>
          <p:cNvSpPr txBox="1"/>
          <p:nvPr/>
        </p:nvSpPr>
        <p:spPr>
          <a:xfrm>
            <a:off x="548640" y="658440"/>
            <a:ext cx="10789920" cy="777240"/>
          </a:xfrm>
          <a:prstGeom prst="rect">
            <a:avLst/>
          </a:prstGeom>
          <a:noFill/>
          <a:ln w="0">
            <a:noFill/>
          </a:ln>
        </p:spPr>
        <p:txBody>
          <a:bodyPr lIns="90000" tIns="45000" rIns="90000" bIns="45000" anchor="t">
            <a:spAutoFit/>
          </a:bodyPr>
          <a:p>
            <a:r>
              <a:rPr lang="en-US" sz="2700" b="1" u="none" strike="noStrike">
                <a:solidFill>
                  <a:srgbClr val="1F242E"/>
                </a:solidFill>
                <a:effectLst/>
                <a:uFillTx/>
                <a:latin typeface="Cambria-Bold"/>
                <a:ea typeface="Cambria-Bold"/>
              </a:rPr>
              <a:t>Top 20 VUS Most Likely to Reclassify, By Cancer Type</a:t>
            </a:r>
            <a:endParaRPr lang="en-US" sz="2700" b="0" u="none" strike="noStrike">
              <a:solidFill>
                <a:srgbClr val="000000"/>
              </a:solidFill>
              <a:effectLst/>
              <a:uFillTx/>
              <a:latin typeface="Arial"/>
            </a:endParaRPr>
          </a:p>
        </p:txBody>
      </p:sp>
      <p:sp>
        <p:nvSpPr>
          <p:cNvPr id="259" name=""/>
          <p:cNvSpPr txBox="1"/>
          <p:nvPr/>
        </p:nvSpPr>
        <p:spPr>
          <a:xfrm>
            <a:off x="548640" y="1234440"/>
            <a:ext cx="11064240" cy="777240"/>
          </a:xfrm>
          <a:prstGeom prst="rect">
            <a:avLst/>
          </a:prstGeom>
          <a:noFill/>
          <a:ln w="0">
            <a:noFill/>
          </a:ln>
        </p:spPr>
        <p:txBody>
          <a:bodyPr lIns="90000" tIns="45000" rIns="90000" bIns="45000" anchor="t">
            <a:spAutoFit/>
          </a:bodyPr>
          <a:p>
            <a:pPr>
              <a:lnSpc>
                <a:spcPct val="125000"/>
              </a:lnSpc>
            </a:pPr>
            <a:r>
              <a:rPr lang="en-US" sz="1100" b="0" u="none" strike="noStrike">
                <a:solidFill>
                  <a:srgbClr val="475265"/>
                </a:solidFill>
                <a:effectLst/>
                <a:uFillTx/>
                <a:latin typeface="Calibri"/>
                <a:ea typeface="Calibri"/>
              </a:rPr>
              <a:t>Genes actually mutated in this cohort's tumors, cross-referenced against the global ClinVar watchlist and ranked by reclassification score. Cancer type reflects where the gene appears in this project's own training data. ClinVar itself carries no cancer-type label, so a gene mutated in more than one of the 7 cancer types is listed against all of them</a:t>
            </a:r>
            <a:r>
              <a:rPr lang="en-US" sz="1100" b="0" u="none" strike="noStrike">
                <a:solidFill>
                  <a:srgbClr val="475265"/>
                </a:solidFill>
                <a:effectLst/>
                <a:uFillTx/>
                <a:latin typeface="Calibri"/>
                <a:ea typeface="Calibri"/>
              </a:rPr>
              <a:t>.</a:t>
            </a:r>
            <a:endParaRPr lang="en-US" sz="1100" b="0" u="none" strike="noStrike">
              <a:solidFill>
                <a:srgbClr val="000000"/>
              </a:solidFill>
              <a:effectLst/>
              <a:uFillTx/>
              <a:latin typeface="Arial"/>
            </a:endParaRPr>
          </a:p>
        </p:txBody>
      </p:sp>
      <p:graphicFrame>
        <p:nvGraphicFramePr>
          <p:cNvPr id="260" name=""/>
          <p:cNvGraphicFramePr/>
          <p:nvPr/>
        </p:nvGraphicFramePr>
        <p:xfrm>
          <a:off x="548640" y="2057400"/>
          <a:ext cx="11064240" cy="3620880"/>
        </p:xfrm>
        <a:graphic>
          <a:graphicData uri="http://schemas.openxmlformats.org/drawingml/2006/table">
            <a:tbl>
              <a:tblPr/>
              <a:tblGrid>
                <a:gridCol w="1371600"/>
                <a:gridCol w="1371600"/>
                <a:gridCol w="4480560"/>
                <a:gridCol w="1280160"/>
                <a:gridCol w="2560320"/>
              </a:tblGrid>
              <a:tr h="387720">
                <a:tc>
                  <a:txBody>
                    <a:bodyPr lIns="45720" rIns="45720" anchor="t" anchorCtr="1">
                      <a:noAutofit/>
                    </a:bodyPr>
                    <a:p>
                      <a:r>
                        <a:rPr lang="en-US" sz="1000" b="1" u="none" strike="noStrike">
                          <a:solidFill>
                            <a:srgbClr val="FFFFFF"/>
                          </a:solidFill>
                          <a:effectLst/>
                          <a:uFillTx/>
                          <a:latin typeface="Calibri-Bold"/>
                          <a:ea typeface="Calibri-Bold"/>
                        </a:rPr>
                        <a:t>VariationID</a:t>
                      </a:r>
                      <a:endParaRPr lang="en-US" sz="1000" b="0" u="none" strike="noStrike">
                        <a:solidFill>
                          <a:srgbClr val="FFFFFF"/>
                        </a:solidFill>
                        <a:effectLst/>
                        <a:uFillTx/>
                        <a:latin typeface="Arial"/>
                      </a:endParaRPr>
                    </a:p>
                  </a:txBody>
                  <a:tcPr anchor="t" marL="45720" marR="45720" marT="45720" marB="45720">
                    <a:lnL w="12960">
                      <a:solidFill>
                        <a:srgbClr val="E2E7EF"/>
                      </a:solidFill>
                      <a:prstDash val="solid"/>
                    </a:lnL>
                    <a:lnR w="12960">
                      <a:solidFill>
                        <a:srgbClr val="E2E7EF"/>
                      </a:solidFill>
                      <a:prstDash val="solid"/>
                    </a:lnR>
                    <a:lnT w="12960">
                      <a:solidFill>
                        <a:srgbClr val="E2E7EF"/>
                      </a:solidFill>
                      <a:prstDash val="solid"/>
                    </a:lnT>
                    <a:lnB w="12960">
                      <a:solidFill>
                        <a:srgbClr val="E2E7EF"/>
                      </a:solidFill>
                      <a:prstDash val="solid"/>
                    </a:lnB>
                    <a:solidFill>
                      <a:srgbClr val="1C375C"/>
                    </a:solidFill>
                  </a:tcPr>
                </a:tc>
                <a:tc>
                  <a:txBody>
                    <a:bodyPr lIns="45720" rIns="45720" anchor="t" anchorCtr="1">
                      <a:noAutofit/>
                    </a:bodyPr>
                    <a:p>
                      <a:r>
                        <a:rPr lang="en-US" sz="1000" b="1" u="none" strike="noStrike">
                          <a:solidFill>
                            <a:srgbClr val="FFFFFF"/>
                          </a:solidFill>
                          <a:effectLst/>
                          <a:uFillTx/>
                          <a:latin typeface="Calibri-Bold"/>
                          <a:ea typeface="Calibri-Bold"/>
                        </a:rPr>
                        <a:t>Gene</a:t>
                      </a:r>
                      <a:endParaRPr lang="en-US" sz="1000" b="0" u="none" strike="noStrike">
                        <a:solidFill>
                          <a:srgbClr val="FFFFFF"/>
                        </a:solidFill>
                        <a:effectLst/>
                        <a:uFillTx/>
                        <a:latin typeface="Arial"/>
                      </a:endParaRPr>
                    </a:p>
                  </a:txBody>
                  <a:tcPr anchor="t" marL="45720" marR="45720" marT="45720" marB="45720">
                    <a:lnL w="12960">
                      <a:solidFill>
                        <a:srgbClr val="E2E7EF"/>
                      </a:solidFill>
                      <a:prstDash val="solid"/>
                    </a:lnL>
                    <a:lnR w="12960">
                      <a:solidFill>
                        <a:srgbClr val="E2E7EF"/>
                      </a:solidFill>
                      <a:prstDash val="solid"/>
                    </a:lnR>
                    <a:lnT w="12960">
                      <a:solidFill>
                        <a:srgbClr val="E2E7EF"/>
                      </a:solidFill>
                      <a:prstDash val="solid"/>
                    </a:lnT>
                    <a:lnB w="12960">
                      <a:solidFill>
                        <a:srgbClr val="E2E7EF"/>
                      </a:solidFill>
                      <a:prstDash val="solid"/>
                    </a:lnB>
                    <a:solidFill>
                      <a:srgbClr val="1C375C"/>
                    </a:solidFill>
                  </a:tcPr>
                </a:tc>
                <a:tc>
                  <a:txBody>
                    <a:bodyPr lIns="45720" rIns="45720" anchor="t" anchorCtr="1">
                      <a:noAutofit/>
                    </a:bodyPr>
                    <a:p>
                      <a:r>
                        <a:rPr lang="en-US" sz="1000" b="1" u="none" strike="noStrike">
                          <a:solidFill>
                            <a:srgbClr val="FFFFFF"/>
                          </a:solidFill>
                          <a:effectLst/>
                          <a:uFillTx/>
                          <a:latin typeface="Calibri-Bold"/>
                          <a:ea typeface="Calibri-Bold"/>
                        </a:rPr>
                        <a:t>Cancer type(s) in cohort</a:t>
                      </a:r>
                      <a:endParaRPr lang="en-US" sz="1000" b="0" u="none" strike="noStrike">
                        <a:solidFill>
                          <a:srgbClr val="FFFFFF"/>
                        </a:solidFill>
                        <a:effectLst/>
                        <a:uFillTx/>
                        <a:latin typeface="Arial"/>
                      </a:endParaRPr>
                    </a:p>
                  </a:txBody>
                  <a:tcPr anchor="t" marL="45720" marR="45720" marT="45720" marB="45720">
                    <a:lnL w="12960">
                      <a:solidFill>
                        <a:srgbClr val="E2E7EF"/>
                      </a:solidFill>
                      <a:prstDash val="solid"/>
                    </a:lnL>
                    <a:lnR w="12960">
                      <a:solidFill>
                        <a:srgbClr val="E2E7EF"/>
                      </a:solidFill>
                      <a:prstDash val="solid"/>
                    </a:lnR>
                    <a:lnT w="12960">
                      <a:solidFill>
                        <a:srgbClr val="E2E7EF"/>
                      </a:solidFill>
                      <a:prstDash val="solid"/>
                    </a:lnT>
                    <a:lnB w="12960">
                      <a:solidFill>
                        <a:srgbClr val="E2E7EF"/>
                      </a:solidFill>
                      <a:prstDash val="solid"/>
                    </a:lnB>
                    <a:solidFill>
                      <a:srgbClr val="1C375C"/>
                    </a:solidFill>
                  </a:tcPr>
                </a:tc>
                <a:tc>
                  <a:txBody>
                    <a:bodyPr lIns="45720" rIns="45720" anchor="t" anchorCtr="1">
                      <a:noAutofit/>
                    </a:bodyPr>
                    <a:p>
                      <a:r>
                        <a:rPr lang="en-US" sz="1000" b="1" u="none" strike="noStrike">
                          <a:solidFill>
                            <a:srgbClr val="FFFFFF"/>
                          </a:solidFill>
                          <a:effectLst/>
                          <a:uFillTx/>
                          <a:latin typeface="Calibri-Bold"/>
                          <a:ea typeface="Calibri-Bold"/>
                        </a:rPr>
                        <a:t>Score</a:t>
                      </a:r>
                      <a:endParaRPr lang="en-US" sz="1000" b="0" u="none" strike="noStrike">
                        <a:solidFill>
                          <a:srgbClr val="FFFFFF"/>
                        </a:solidFill>
                        <a:effectLst/>
                        <a:uFillTx/>
                        <a:latin typeface="Arial"/>
                      </a:endParaRPr>
                    </a:p>
                  </a:txBody>
                  <a:tcPr anchor="t" marL="45720" marR="45720" marT="45720" marB="45720">
                    <a:lnL w="12960">
                      <a:solidFill>
                        <a:srgbClr val="E2E7EF"/>
                      </a:solidFill>
                      <a:prstDash val="solid"/>
                    </a:lnL>
                    <a:lnR w="12960">
                      <a:solidFill>
                        <a:srgbClr val="E2E7EF"/>
                      </a:solidFill>
                      <a:prstDash val="solid"/>
                    </a:lnR>
                    <a:lnT w="12960">
                      <a:solidFill>
                        <a:srgbClr val="E2E7EF"/>
                      </a:solidFill>
                      <a:prstDash val="solid"/>
                    </a:lnT>
                    <a:lnB w="12960">
                      <a:solidFill>
                        <a:srgbClr val="E2E7EF"/>
                      </a:solidFill>
                      <a:prstDash val="solid"/>
                    </a:lnB>
                    <a:solidFill>
                      <a:srgbClr val="1C375C"/>
                    </a:solidFill>
                  </a:tcPr>
                </a:tc>
                <a:tc>
                  <a:txBody>
                    <a:bodyPr lIns="45720" rIns="45720" anchor="t" anchorCtr="1">
                      <a:noAutofit/>
                    </a:bodyPr>
                    <a:p>
                      <a:r>
                        <a:rPr lang="en-US" sz="1000" b="1" u="none" strike="noStrike">
                          <a:solidFill>
                            <a:srgbClr val="FFFFFF"/>
                          </a:solidFill>
                          <a:effectLst/>
                          <a:uFillTx/>
                          <a:latin typeface="Calibri-Bold"/>
                          <a:ea typeface="Calibri-Bold"/>
                        </a:rPr>
                        <a:t>Probability that it will be reclassified in the next two years</a:t>
                      </a:r>
                      <a:endParaRPr lang="en-US" sz="1000" b="0" u="none" strike="noStrike">
                        <a:solidFill>
                          <a:srgbClr val="FFFFFF"/>
                        </a:solidFill>
                        <a:effectLst/>
                        <a:uFillTx/>
                        <a:latin typeface="Arial"/>
                      </a:endParaRPr>
                    </a:p>
                  </a:txBody>
                  <a:tcPr anchor="t" marL="45720" marR="45720" marT="45720" marB="45720">
                    <a:lnL w="12960">
                      <a:solidFill>
                        <a:srgbClr val="E2E7EF"/>
                      </a:solidFill>
                      <a:prstDash val="solid"/>
                    </a:lnL>
                    <a:lnR w="12960">
                      <a:solidFill>
                        <a:srgbClr val="E2E7EF"/>
                      </a:solidFill>
                      <a:prstDash val="solid"/>
                    </a:lnR>
                    <a:lnT w="12960">
                      <a:solidFill>
                        <a:srgbClr val="E2E7EF"/>
                      </a:solidFill>
                      <a:prstDash val="solid"/>
                    </a:lnT>
                    <a:lnB w="12960">
                      <a:solidFill>
                        <a:srgbClr val="E2E7EF"/>
                      </a:solidFill>
                      <a:prstDash val="solid"/>
                    </a:lnB>
                    <a:solidFill>
                      <a:srgbClr val="1C375C"/>
                    </a:solidFill>
                  </a:tcPr>
                </a:tc>
              </a:tr>
              <a:tr h="323640">
                <a:tc>
                  <a:txBody>
                    <a:bodyPr lIns="45720" rIns="45720" anchor="t" anchorCtr="1">
                      <a:noAutofit/>
                    </a:bodyPr>
                    <a:p>
                      <a:r>
                        <a:t>1510334</a:t>
                      </a:r>
                    </a:p>
                  </a:txBody>
                  <a:tcPr anchor="t" marL="45720" marR="45720" marT="45720" marB="45720">
                    <a:lnL w="12960">
                      <a:solidFill>
                        <a:srgbClr val="E2E7EF"/>
                      </a:solidFill>
                      <a:prstDash val="solid"/>
                    </a:lnL>
                    <a:lnR w="12960">
                      <a:solidFill>
                        <a:srgbClr val="E2E7EF"/>
                      </a:solidFill>
                      <a:prstDash val="solid"/>
                    </a:lnR>
                    <a:lnT w="12960">
                      <a:solidFill>
                        <a:srgbClr val="E2E7EF"/>
                      </a:solidFill>
                      <a:prstDash val="solid"/>
                    </a:lnT>
                    <a:lnB w="12960">
                      <a:solidFill>
                        <a:srgbClr val="E2E7EF"/>
                      </a:solidFill>
                      <a:prstDash val="solid"/>
                    </a:lnB>
                    <a:solidFill>
                      <a:srgbClr val="FFFFFF"/>
                    </a:solidFill>
                  </a:tcPr>
                </a:tc>
                <a:tc>
                  <a:txBody>
                    <a:bodyPr lIns="45720" rIns="45720" anchor="t" anchorCtr="1">
                      <a:noAutofit/>
                    </a:bodyPr>
                    <a:p>
                      <a:r>
                        <a:t>NF1</a:t>
                      </a:r>
                    </a:p>
                  </a:txBody>
                  <a:tcPr anchor="t" marL="45720" marR="45720" marT="45720" marB="45720">
                    <a:lnL w="12960">
                      <a:solidFill>
                        <a:srgbClr val="E2E7EF"/>
                      </a:solidFill>
                      <a:prstDash val="solid"/>
                    </a:lnL>
                    <a:lnR w="12960">
                      <a:solidFill>
                        <a:srgbClr val="E2E7EF"/>
                      </a:solidFill>
                      <a:prstDash val="solid"/>
                    </a:lnR>
                    <a:lnT w="12960">
                      <a:solidFill>
                        <a:srgbClr val="E2E7EF"/>
                      </a:solidFill>
                      <a:prstDash val="solid"/>
                    </a:lnT>
                    <a:lnB w="12960">
                      <a:solidFill>
                        <a:srgbClr val="E2E7EF"/>
                      </a:solidFill>
                      <a:prstDash val="solid"/>
                    </a:lnB>
                    <a:solidFill>
                      <a:srgbClr val="FFFFFF"/>
                    </a:solidFill>
                  </a:tcPr>
                </a:tc>
                <a:tc>
                  <a:txBody>
                    <a:bodyPr lIns="45720" rIns="45720" anchor="t" anchorCtr="1">
                      <a:noAutofit/>
                    </a:bodyPr>
                    <a:p>
                      <a:r>
                        <a:t>BRCA, LUAD, OV, SKCM</a:t>
                      </a:r>
                    </a:p>
                  </a:txBody>
                  <a:tcPr anchor="t" marL="45720" marR="45720" marT="45720" marB="45720">
                    <a:lnL w="12960">
                      <a:solidFill>
                        <a:srgbClr val="E2E7EF"/>
                      </a:solidFill>
                      <a:prstDash val="solid"/>
                    </a:lnL>
                    <a:lnR w="12960">
                      <a:solidFill>
                        <a:srgbClr val="E2E7EF"/>
                      </a:solidFill>
                      <a:prstDash val="solid"/>
                    </a:lnR>
                    <a:lnT w="12960">
                      <a:solidFill>
                        <a:srgbClr val="E2E7EF"/>
                      </a:solidFill>
                      <a:prstDash val="solid"/>
                    </a:lnT>
                    <a:lnB w="12960">
                      <a:solidFill>
                        <a:srgbClr val="E2E7EF"/>
                      </a:solidFill>
                      <a:prstDash val="solid"/>
                    </a:lnB>
                    <a:solidFill>
                      <a:srgbClr val="FFFFFF"/>
                    </a:solidFill>
                  </a:tcPr>
                </a:tc>
                <a:tc>
                  <a:txBody>
                    <a:bodyPr lIns="45720" rIns="45720" anchor="t" anchorCtr="1">
                      <a:noAutofit/>
                    </a:bodyPr>
                    <a:p>
                      <a:r>
                        <a:t>0.997</a:t>
                      </a:r>
                    </a:p>
                  </a:txBody>
                  <a:tcPr anchor="t" marL="45720" marR="45720" marT="45720" marB="45720">
                    <a:lnL w="12960">
                      <a:solidFill>
                        <a:srgbClr val="E2E7EF"/>
                      </a:solidFill>
                      <a:prstDash val="solid"/>
                    </a:lnL>
                    <a:lnR w="12960">
                      <a:solidFill>
                        <a:srgbClr val="E2E7EF"/>
                      </a:solidFill>
                      <a:prstDash val="solid"/>
                    </a:lnR>
                    <a:lnT w="12960">
                      <a:solidFill>
                        <a:srgbClr val="E2E7EF"/>
                      </a:solidFill>
                      <a:prstDash val="solid"/>
                    </a:lnT>
                    <a:lnB w="12960">
                      <a:solidFill>
                        <a:srgbClr val="E2E7EF"/>
                      </a:solidFill>
                      <a:prstDash val="solid"/>
                    </a:lnB>
                    <a:solidFill>
                      <a:srgbClr val="FFFFFF"/>
                    </a:solidFill>
                  </a:tcPr>
                </a:tc>
                <a:tc>
                  <a:txBody>
                    <a:bodyPr lIns="45720" rIns="45720" anchor="t" anchorCtr="1">
                      <a:noAutofit/>
                    </a:bodyPr>
                    <a:p>
                      <a:r>
                        <a:t>3.7%</a:t>
                      </a:r>
                    </a:p>
                  </a:txBody>
                  <a:tcPr anchor="t" marL="45720" marR="45720" marT="45720" marB="45720">
                    <a:lnL w="12960">
                      <a:solidFill>
                        <a:srgbClr val="E2E7EF"/>
                      </a:solidFill>
                      <a:prstDash val="solid"/>
                    </a:lnL>
                    <a:lnR w="12960">
                      <a:solidFill>
                        <a:srgbClr val="E2E7EF"/>
                      </a:solidFill>
                      <a:prstDash val="solid"/>
                    </a:lnR>
                    <a:lnT w="12960">
                      <a:solidFill>
                        <a:srgbClr val="E2E7EF"/>
                      </a:solidFill>
                      <a:prstDash val="solid"/>
                    </a:lnT>
                    <a:lnB w="12960">
                      <a:solidFill>
                        <a:srgbClr val="E2E7EF"/>
                      </a:solidFill>
                      <a:prstDash val="solid"/>
                    </a:lnB>
                    <a:solidFill>
                      <a:srgbClr val="FFFFFF"/>
                    </a:solidFill>
                  </a:tcPr>
                </a:tc>
              </a:tr>
              <a:tr h="323640">
                <a:tc>
                  <a:txBody>
                    <a:bodyPr lIns="45720" rIns="45720" anchor="t" anchorCtr="1">
                      <a:noAutofit/>
                    </a:bodyPr>
                    <a:p>
                      <a:r>
                        <a:t>991919</a:t>
                      </a:r>
                    </a:p>
                  </a:txBody>
                  <a:tcPr anchor="t" marL="45720" marR="45720" marT="45720" marB="45720">
                    <a:lnL w="12960">
                      <a:solidFill>
                        <a:srgbClr val="E2E7EF"/>
                      </a:solidFill>
                      <a:prstDash val="solid"/>
                    </a:lnL>
                    <a:lnR w="12960">
                      <a:solidFill>
                        <a:srgbClr val="E2E7EF"/>
                      </a:solidFill>
                      <a:prstDash val="solid"/>
                    </a:lnR>
                    <a:lnT w="12960">
                      <a:solidFill>
                        <a:srgbClr val="E2E7EF"/>
                      </a:solidFill>
                      <a:prstDash val="solid"/>
                    </a:lnT>
                    <a:lnB w="12960">
                      <a:solidFill>
                        <a:srgbClr val="E2E7EF"/>
                      </a:solidFill>
                      <a:prstDash val="solid"/>
                    </a:lnB>
                    <a:solidFill>
                      <a:srgbClr val="F2F5F9"/>
                    </a:solidFill>
                  </a:tcPr>
                </a:tc>
                <a:tc>
                  <a:txBody>
                    <a:bodyPr lIns="45720" rIns="45720" anchor="t" anchorCtr="1">
                      <a:noAutofit/>
                    </a:bodyPr>
                    <a:p>
                      <a:r>
                        <a:t>CDH23</a:t>
                      </a:r>
                    </a:p>
                  </a:txBody>
                  <a:tcPr anchor="t" marL="45720" marR="45720" marT="45720" marB="45720">
                    <a:lnL w="12960">
                      <a:solidFill>
                        <a:srgbClr val="E2E7EF"/>
                      </a:solidFill>
                      <a:prstDash val="solid"/>
                    </a:lnL>
                    <a:lnR w="12960">
                      <a:solidFill>
                        <a:srgbClr val="E2E7EF"/>
                      </a:solidFill>
                      <a:prstDash val="solid"/>
                    </a:lnR>
                    <a:lnT w="12960">
                      <a:solidFill>
                        <a:srgbClr val="E2E7EF"/>
                      </a:solidFill>
                      <a:prstDash val="solid"/>
                    </a:lnT>
                    <a:lnB w="12960">
                      <a:solidFill>
                        <a:srgbClr val="E2E7EF"/>
                      </a:solidFill>
                      <a:prstDash val="solid"/>
                    </a:lnB>
                    <a:solidFill>
                      <a:srgbClr val="F2F5F9"/>
                    </a:solidFill>
                  </a:tcPr>
                </a:tc>
                <a:tc>
                  <a:txBody>
                    <a:bodyPr lIns="45720" rIns="45720" anchor="t" anchorCtr="1">
                      <a:noAutofit/>
                    </a:bodyPr>
                    <a:p>
                      <a:r>
                        <a:t>BRCA, COAD, LUAD, PRAD, SKCM</a:t>
                      </a:r>
                    </a:p>
                  </a:txBody>
                  <a:tcPr anchor="t" marL="45720" marR="45720" marT="45720" marB="45720">
                    <a:lnL w="12960">
                      <a:solidFill>
                        <a:srgbClr val="E2E7EF"/>
                      </a:solidFill>
                      <a:prstDash val="solid"/>
                    </a:lnL>
                    <a:lnR w="12960">
                      <a:solidFill>
                        <a:srgbClr val="E2E7EF"/>
                      </a:solidFill>
                      <a:prstDash val="solid"/>
                    </a:lnR>
                    <a:lnT w="12960">
                      <a:solidFill>
                        <a:srgbClr val="E2E7EF"/>
                      </a:solidFill>
                      <a:prstDash val="solid"/>
                    </a:lnT>
                    <a:lnB w="12960">
                      <a:solidFill>
                        <a:srgbClr val="E2E7EF"/>
                      </a:solidFill>
                      <a:prstDash val="solid"/>
                    </a:lnB>
                    <a:solidFill>
                      <a:srgbClr val="F2F5F9"/>
                    </a:solidFill>
                  </a:tcPr>
                </a:tc>
                <a:tc>
                  <a:txBody>
                    <a:bodyPr lIns="45720" rIns="45720" anchor="t" anchorCtr="1">
                      <a:noAutofit/>
                    </a:bodyPr>
                    <a:p>
                      <a:r>
                        <a:t>0.996</a:t>
                      </a:r>
                    </a:p>
                  </a:txBody>
                  <a:tcPr anchor="t" marL="45720" marR="45720" marT="45720" marB="45720">
                    <a:lnL w="12960">
                      <a:solidFill>
                        <a:srgbClr val="E2E7EF"/>
                      </a:solidFill>
                      <a:prstDash val="solid"/>
                    </a:lnL>
                    <a:lnR w="12960">
                      <a:solidFill>
                        <a:srgbClr val="E2E7EF"/>
                      </a:solidFill>
                      <a:prstDash val="solid"/>
                    </a:lnR>
                    <a:lnT w="12960">
                      <a:solidFill>
                        <a:srgbClr val="E2E7EF"/>
                      </a:solidFill>
                      <a:prstDash val="solid"/>
                    </a:lnT>
                    <a:lnB w="12960">
                      <a:solidFill>
                        <a:srgbClr val="E2E7EF"/>
                      </a:solidFill>
                      <a:prstDash val="solid"/>
                    </a:lnB>
                    <a:solidFill>
                      <a:srgbClr val="F2F5F9"/>
                    </a:solidFill>
                  </a:tcPr>
                </a:tc>
                <a:tc>
                  <a:txBody>
                    <a:bodyPr lIns="45720" rIns="45720" anchor="t" anchorCtr="1">
                      <a:noAutofit/>
                    </a:bodyPr>
                    <a:p>
                      <a:r>
                        <a:t>3.0%</a:t>
                      </a:r>
                    </a:p>
                  </a:txBody>
                  <a:tcPr anchor="t" marL="45720" marR="45720" marT="45720" marB="45720">
                    <a:lnL w="12960">
                      <a:solidFill>
                        <a:srgbClr val="E2E7EF"/>
                      </a:solidFill>
                      <a:prstDash val="solid"/>
                    </a:lnL>
                    <a:lnR w="12960">
                      <a:solidFill>
                        <a:srgbClr val="E2E7EF"/>
                      </a:solidFill>
                      <a:prstDash val="solid"/>
                    </a:lnR>
                    <a:lnT w="12960">
                      <a:solidFill>
                        <a:srgbClr val="E2E7EF"/>
                      </a:solidFill>
                      <a:prstDash val="solid"/>
                    </a:lnT>
                    <a:lnB w="12960">
                      <a:solidFill>
                        <a:srgbClr val="E2E7EF"/>
                      </a:solidFill>
                      <a:prstDash val="solid"/>
                    </a:lnB>
                    <a:solidFill>
                      <a:srgbClr val="F2F5F9"/>
                    </a:solidFill>
                  </a:tcPr>
                </a:tc>
              </a:tr>
              <a:tr h="323640">
                <a:tc>
                  <a:txBody>
                    <a:bodyPr lIns="45720" rIns="45720" anchor="t" anchorCtr="1">
                      <a:noAutofit/>
                    </a:bodyPr>
                    <a:p>
                      <a:r>
                        <a:t>377085</a:t>
                      </a:r>
                    </a:p>
                  </a:txBody>
                  <a:tcPr anchor="t" marL="45720" marR="45720" marT="45720" marB="45720">
                    <a:lnL w="12960">
                      <a:solidFill>
                        <a:srgbClr val="E2E7EF"/>
                      </a:solidFill>
                      <a:prstDash val="solid"/>
                    </a:lnL>
                    <a:lnR w="12960">
                      <a:solidFill>
                        <a:srgbClr val="E2E7EF"/>
                      </a:solidFill>
                      <a:prstDash val="solid"/>
                    </a:lnR>
                    <a:lnT w="12960">
                      <a:solidFill>
                        <a:srgbClr val="E2E7EF"/>
                      </a:solidFill>
                      <a:prstDash val="solid"/>
                    </a:lnT>
                    <a:lnB w="12960">
                      <a:solidFill>
                        <a:srgbClr val="E2E7EF"/>
                      </a:solidFill>
                      <a:prstDash val="solid"/>
                    </a:lnB>
                    <a:solidFill>
                      <a:srgbClr val="FFFFFF"/>
                    </a:solidFill>
                  </a:tcPr>
                </a:tc>
                <a:tc>
                  <a:txBody>
                    <a:bodyPr lIns="45720" rIns="45720" anchor="t" anchorCtr="1">
                      <a:noAutofit/>
                    </a:bodyPr>
                    <a:p>
                      <a:r>
                        <a:t>SLCO1B3</a:t>
                      </a:r>
                    </a:p>
                  </a:txBody>
                  <a:tcPr anchor="t" marL="45720" marR="45720" marT="45720" marB="45720">
                    <a:lnL w="12960">
                      <a:solidFill>
                        <a:srgbClr val="E2E7EF"/>
                      </a:solidFill>
                      <a:prstDash val="solid"/>
                    </a:lnL>
                    <a:lnR w="12960">
                      <a:solidFill>
                        <a:srgbClr val="E2E7EF"/>
                      </a:solidFill>
                      <a:prstDash val="solid"/>
                    </a:lnR>
                    <a:lnT w="12960">
                      <a:solidFill>
                        <a:srgbClr val="E2E7EF"/>
                      </a:solidFill>
                      <a:prstDash val="solid"/>
                    </a:lnT>
                    <a:lnB w="12960">
                      <a:solidFill>
                        <a:srgbClr val="E2E7EF"/>
                      </a:solidFill>
                      <a:prstDash val="solid"/>
                    </a:lnB>
                    <a:solidFill>
                      <a:srgbClr val="FFFFFF"/>
                    </a:solidFill>
                  </a:tcPr>
                </a:tc>
                <a:tc>
                  <a:txBody>
                    <a:bodyPr lIns="45720" rIns="45720" anchor="t" anchorCtr="1">
                      <a:noAutofit/>
                    </a:bodyPr>
                    <a:p>
                      <a:r>
                        <a:t>SKCM, STAD</a:t>
                      </a:r>
                    </a:p>
                  </a:txBody>
                  <a:tcPr anchor="t" marL="45720" marR="45720" marT="45720" marB="45720">
                    <a:lnL w="12960">
                      <a:solidFill>
                        <a:srgbClr val="E2E7EF"/>
                      </a:solidFill>
                      <a:prstDash val="solid"/>
                    </a:lnL>
                    <a:lnR w="12960">
                      <a:solidFill>
                        <a:srgbClr val="E2E7EF"/>
                      </a:solidFill>
                      <a:prstDash val="solid"/>
                    </a:lnR>
                    <a:lnT w="12960">
                      <a:solidFill>
                        <a:srgbClr val="E2E7EF"/>
                      </a:solidFill>
                      <a:prstDash val="solid"/>
                    </a:lnT>
                    <a:lnB w="12960">
                      <a:solidFill>
                        <a:srgbClr val="E2E7EF"/>
                      </a:solidFill>
                      <a:prstDash val="solid"/>
                    </a:lnB>
                    <a:solidFill>
                      <a:srgbClr val="FFFFFF"/>
                    </a:solidFill>
                  </a:tcPr>
                </a:tc>
                <a:tc>
                  <a:txBody>
                    <a:bodyPr lIns="45720" rIns="45720" anchor="t" anchorCtr="1">
                      <a:noAutofit/>
                    </a:bodyPr>
                    <a:p>
                      <a:r>
                        <a:t>0.995</a:t>
                      </a:r>
                    </a:p>
                  </a:txBody>
                  <a:tcPr anchor="t" marL="45720" marR="45720" marT="45720" marB="45720">
                    <a:lnL w="12960">
                      <a:solidFill>
                        <a:srgbClr val="E2E7EF"/>
                      </a:solidFill>
                      <a:prstDash val="solid"/>
                    </a:lnL>
                    <a:lnR w="12960">
                      <a:solidFill>
                        <a:srgbClr val="E2E7EF"/>
                      </a:solidFill>
                      <a:prstDash val="solid"/>
                    </a:lnR>
                    <a:lnT w="12960">
                      <a:solidFill>
                        <a:srgbClr val="E2E7EF"/>
                      </a:solidFill>
                      <a:prstDash val="solid"/>
                    </a:lnT>
                    <a:lnB w="12960">
                      <a:solidFill>
                        <a:srgbClr val="E2E7EF"/>
                      </a:solidFill>
                      <a:prstDash val="solid"/>
                    </a:lnB>
                    <a:solidFill>
                      <a:srgbClr val="FFFFFF"/>
                    </a:solidFill>
                  </a:tcPr>
                </a:tc>
                <a:tc>
                  <a:txBody>
                    <a:bodyPr lIns="45720" rIns="45720" anchor="t" anchorCtr="1">
                      <a:noAutofit/>
                    </a:bodyPr>
                    <a:p>
                      <a:r>
                        <a:t>2.9%</a:t>
                      </a:r>
                    </a:p>
                  </a:txBody>
                  <a:tcPr anchor="t" marL="45720" marR="45720" marT="45720" marB="45720">
                    <a:lnL w="12960">
                      <a:solidFill>
                        <a:srgbClr val="E2E7EF"/>
                      </a:solidFill>
                      <a:prstDash val="solid"/>
                    </a:lnL>
                    <a:lnR w="12960">
                      <a:solidFill>
                        <a:srgbClr val="E2E7EF"/>
                      </a:solidFill>
                      <a:prstDash val="solid"/>
                    </a:lnR>
                    <a:lnT w="12960">
                      <a:solidFill>
                        <a:srgbClr val="E2E7EF"/>
                      </a:solidFill>
                      <a:prstDash val="solid"/>
                    </a:lnT>
                    <a:lnB w="12960">
                      <a:solidFill>
                        <a:srgbClr val="E2E7EF"/>
                      </a:solidFill>
                      <a:prstDash val="solid"/>
                    </a:lnB>
                    <a:solidFill>
                      <a:srgbClr val="FFFFFF"/>
                    </a:solidFill>
                  </a:tcPr>
                </a:tc>
              </a:tr>
              <a:tr h="323640">
                <a:tc>
                  <a:txBody>
                    <a:bodyPr lIns="45720" rIns="45720" anchor="t" anchorCtr="1">
                      <a:noAutofit/>
                    </a:bodyPr>
                    <a:p>
                      <a:r>
                        <a:t>3072034</a:t>
                      </a:r>
                    </a:p>
                  </a:txBody>
                  <a:tcPr anchor="t" marL="45720" marR="45720" marT="45720" marB="45720">
                    <a:lnL w="12960">
                      <a:solidFill>
                        <a:srgbClr val="E2E7EF"/>
                      </a:solidFill>
                      <a:prstDash val="solid"/>
                    </a:lnL>
                    <a:lnR w="12960">
                      <a:solidFill>
                        <a:srgbClr val="E2E7EF"/>
                      </a:solidFill>
                      <a:prstDash val="solid"/>
                    </a:lnR>
                    <a:lnT w="12960">
                      <a:solidFill>
                        <a:srgbClr val="E2E7EF"/>
                      </a:solidFill>
                      <a:prstDash val="solid"/>
                    </a:lnT>
                    <a:lnB w="12960">
                      <a:solidFill>
                        <a:srgbClr val="E2E7EF"/>
                      </a:solidFill>
                      <a:prstDash val="solid"/>
                    </a:lnB>
                    <a:solidFill>
                      <a:srgbClr val="F2F5F9"/>
                    </a:solidFill>
                  </a:tcPr>
                </a:tc>
                <a:tc>
                  <a:txBody>
                    <a:bodyPr lIns="45720" rIns="45720" anchor="t" anchorCtr="1">
                      <a:noAutofit/>
                    </a:bodyPr>
                    <a:p>
                      <a:r>
                        <a:t>RYR2</a:t>
                      </a:r>
                    </a:p>
                  </a:txBody>
                  <a:tcPr anchor="t" marL="45720" marR="45720" marT="45720" marB="45720">
                    <a:lnL w="12960">
                      <a:solidFill>
                        <a:srgbClr val="E2E7EF"/>
                      </a:solidFill>
                      <a:prstDash val="solid"/>
                    </a:lnL>
                    <a:lnR w="12960">
                      <a:solidFill>
                        <a:srgbClr val="E2E7EF"/>
                      </a:solidFill>
                      <a:prstDash val="solid"/>
                    </a:lnR>
                    <a:lnT w="12960">
                      <a:solidFill>
                        <a:srgbClr val="E2E7EF"/>
                      </a:solidFill>
                      <a:prstDash val="solid"/>
                    </a:lnT>
                    <a:lnB w="12960">
                      <a:solidFill>
                        <a:srgbClr val="E2E7EF"/>
                      </a:solidFill>
                      <a:prstDash val="solid"/>
                    </a:lnB>
                    <a:solidFill>
                      <a:srgbClr val="F2F5F9"/>
                    </a:solidFill>
                  </a:tcPr>
                </a:tc>
                <a:tc>
                  <a:txBody>
                    <a:bodyPr lIns="45720" rIns="45720" anchor="t" anchorCtr="1">
                      <a:noAutofit/>
                    </a:bodyPr>
                    <a:p>
                      <a:r>
                        <a:t>All 7 cohort cancer types</a:t>
                      </a:r>
                    </a:p>
                  </a:txBody>
                  <a:tcPr anchor="t" marL="45720" marR="45720" marT="45720" marB="45720">
                    <a:lnL w="12960">
                      <a:solidFill>
                        <a:srgbClr val="E2E7EF"/>
                      </a:solidFill>
                      <a:prstDash val="solid"/>
                    </a:lnL>
                    <a:lnR w="12960">
                      <a:solidFill>
                        <a:srgbClr val="E2E7EF"/>
                      </a:solidFill>
                      <a:prstDash val="solid"/>
                    </a:lnR>
                    <a:lnT w="12960">
                      <a:solidFill>
                        <a:srgbClr val="E2E7EF"/>
                      </a:solidFill>
                      <a:prstDash val="solid"/>
                    </a:lnT>
                    <a:lnB w="12960">
                      <a:solidFill>
                        <a:srgbClr val="E2E7EF"/>
                      </a:solidFill>
                      <a:prstDash val="solid"/>
                    </a:lnB>
                    <a:solidFill>
                      <a:srgbClr val="F2F5F9"/>
                    </a:solidFill>
                  </a:tcPr>
                </a:tc>
                <a:tc>
                  <a:txBody>
                    <a:bodyPr lIns="45720" rIns="45720" anchor="t" anchorCtr="1">
                      <a:noAutofit/>
                    </a:bodyPr>
                    <a:p>
                      <a:r>
                        <a:t>0.995</a:t>
                      </a:r>
                    </a:p>
                  </a:txBody>
                  <a:tcPr anchor="t" marL="45720" marR="45720" marT="45720" marB="45720">
                    <a:lnL w="12960">
                      <a:solidFill>
                        <a:srgbClr val="E2E7EF"/>
                      </a:solidFill>
                      <a:prstDash val="solid"/>
                    </a:lnL>
                    <a:lnR w="12960">
                      <a:solidFill>
                        <a:srgbClr val="E2E7EF"/>
                      </a:solidFill>
                      <a:prstDash val="solid"/>
                    </a:lnR>
                    <a:lnT w="12960">
                      <a:solidFill>
                        <a:srgbClr val="E2E7EF"/>
                      </a:solidFill>
                      <a:prstDash val="solid"/>
                    </a:lnT>
                    <a:lnB w="12960">
                      <a:solidFill>
                        <a:srgbClr val="E2E7EF"/>
                      </a:solidFill>
                      <a:prstDash val="solid"/>
                    </a:lnB>
                    <a:solidFill>
                      <a:srgbClr val="F2F5F9"/>
                    </a:solidFill>
                  </a:tcPr>
                </a:tc>
                <a:tc>
                  <a:txBody>
                    <a:bodyPr lIns="45720" rIns="45720" anchor="t" anchorCtr="1">
                      <a:noAutofit/>
                    </a:bodyPr>
                    <a:p>
                      <a:r>
                        <a:t>3.2%</a:t>
                      </a:r>
                    </a:p>
                  </a:txBody>
                  <a:tcPr anchor="t" marL="45720" marR="45720" marT="45720" marB="45720">
                    <a:lnL w="12960">
                      <a:solidFill>
                        <a:srgbClr val="E2E7EF"/>
                      </a:solidFill>
                      <a:prstDash val="solid"/>
                    </a:lnL>
                    <a:lnR w="12960">
                      <a:solidFill>
                        <a:srgbClr val="E2E7EF"/>
                      </a:solidFill>
                      <a:prstDash val="solid"/>
                    </a:lnR>
                    <a:lnT w="12960">
                      <a:solidFill>
                        <a:srgbClr val="E2E7EF"/>
                      </a:solidFill>
                      <a:prstDash val="solid"/>
                    </a:lnT>
                    <a:lnB w="12960">
                      <a:solidFill>
                        <a:srgbClr val="E2E7EF"/>
                      </a:solidFill>
                      <a:prstDash val="solid"/>
                    </a:lnB>
                    <a:solidFill>
                      <a:srgbClr val="F2F5F9"/>
                    </a:solidFill>
                  </a:tcPr>
                </a:tc>
              </a:tr>
              <a:tr h="323640">
                <a:tc>
                  <a:txBody>
                    <a:bodyPr lIns="45720" rIns="45720" anchor="t" anchorCtr="1">
                      <a:noAutofit/>
                    </a:bodyPr>
                    <a:p>
                      <a:r>
                        <a:t>2442731</a:t>
                      </a:r>
                    </a:p>
                  </a:txBody>
                  <a:tcPr anchor="t" marL="45720" marR="45720" marT="45720" marB="45720">
                    <a:lnL w="12960">
                      <a:solidFill>
                        <a:srgbClr val="E2E7EF"/>
                      </a:solidFill>
                      <a:prstDash val="solid"/>
                    </a:lnL>
                    <a:lnR w="12960">
                      <a:solidFill>
                        <a:srgbClr val="E2E7EF"/>
                      </a:solidFill>
                      <a:prstDash val="solid"/>
                    </a:lnR>
                    <a:lnT w="12960">
                      <a:solidFill>
                        <a:srgbClr val="E2E7EF"/>
                      </a:solidFill>
                      <a:prstDash val="solid"/>
                    </a:lnT>
                    <a:lnB w="12960">
                      <a:solidFill>
                        <a:srgbClr val="E2E7EF"/>
                      </a:solidFill>
                      <a:prstDash val="solid"/>
                    </a:lnB>
                    <a:solidFill>
                      <a:srgbClr val="FFFFFF"/>
                    </a:solidFill>
                  </a:tcPr>
                </a:tc>
                <a:tc>
                  <a:txBody>
                    <a:bodyPr lIns="45720" rIns="45720" anchor="t" anchorCtr="1">
                      <a:noAutofit/>
                    </a:bodyPr>
                    <a:p>
                      <a:r>
                        <a:t>COL5A1</a:t>
                      </a:r>
                    </a:p>
                  </a:txBody>
                  <a:tcPr anchor="t" marL="45720" marR="45720" marT="45720" marB="45720">
                    <a:lnL w="12960">
                      <a:solidFill>
                        <a:srgbClr val="E2E7EF"/>
                      </a:solidFill>
                      <a:prstDash val="solid"/>
                    </a:lnL>
                    <a:lnR w="12960">
                      <a:solidFill>
                        <a:srgbClr val="E2E7EF"/>
                      </a:solidFill>
                      <a:prstDash val="solid"/>
                    </a:lnR>
                    <a:lnT w="12960">
                      <a:solidFill>
                        <a:srgbClr val="E2E7EF"/>
                      </a:solidFill>
                      <a:prstDash val="solid"/>
                    </a:lnT>
                    <a:lnB w="12960">
                      <a:solidFill>
                        <a:srgbClr val="E2E7EF"/>
                      </a:solidFill>
                      <a:prstDash val="solid"/>
                    </a:lnB>
                    <a:solidFill>
                      <a:srgbClr val="FFFFFF"/>
                    </a:solidFill>
                  </a:tcPr>
                </a:tc>
                <a:tc>
                  <a:txBody>
                    <a:bodyPr lIns="45720" rIns="45720" anchor="t" anchorCtr="1">
                      <a:noAutofit/>
                    </a:bodyPr>
                    <a:p>
                      <a:r>
                        <a:t>BRCA, COAD, LUAD, SKCM</a:t>
                      </a:r>
                    </a:p>
                  </a:txBody>
                  <a:tcPr anchor="t" marL="45720" marR="45720" marT="45720" marB="45720">
                    <a:lnL w="12960">
                      <a:solidFill>
                        <a:srgbClr val="E2E7EF"/>
                      </a:solidFill>
                      <a:prstDash val="solid"/>
                    </a:lnL>
                    <a:lnR w="12960">
                      <a:solidFill>
                        <a:srgbClr val="E2E7EF"/>
                      </a:solidFill>
                      <a:prstDash val="solid"/>
                    </a:lnR>
                    <a:lnT w="12960">
                      <a:solidFill>
                        <a:srgbClr val="E2E7EF"/>
                      </a:solidFill>
                      <a:prstDash val="solid"/>
                    </a:lnT>
                    <a:lnB w="12960">
                      <a:solidFill>
                        <a:srgbClr val="E2E7EF"/>
                      </a:solidFill>
                      <a:prstDash val="solid"/>
                    </a:lnB>
                    <a:solidFill>
                      <a:srgbClr val="FFFFFF"/>
                    </a:solidFill>
                  </a:tcPr>
                </a:tc>
                <a:tc>
                  <a:txBody>
                    <a:bodyPr lIns="45720" rIns="45720" anchor="t" anchorCtr="1">
                      <a:noAutofit/>
                    </a:bodyPr>
                    <a:p>
                      <a:r>
                        <a:t>0.994</a:t>
                      </a:r>
                    </a:p>
                  </a:txBody>
                  <a:tcPr anchor="t" marL="45720" marR="45720" marT="45720" marB="45720">
                    <a:lnL w="12960">
                      <a:solidFill>
                        <a:srgbClr val="E2E7EF"/>
                      </a:solidFill>
                      <a:prstDash val="solid"/>
                    </a:lnL>
                    <a:lnR w="12960">
                      <a:solidFill>
                        <a:srgbClr val="E2E7EF"/>
                      </a:solidFill>
                      <a:prstDash val="solid"/>
                    </a:lnR>
                    <a:lnT w="12960">
                      <a:solidFill>
                        <a:srgbClr val="E2E7EF"/>
                      </a:solidFill>
                      <a:prstDash val="solid"/>
                    </a:lnT>
                    <a:lnB w="12960">
                      <a:solidFill>
                        <a:srgbClr val="E2E7EF"/>
                      </a:solidFill>
                      <a:prstDash val="solid"/>
                    </a:lnB>
                    <a:solidFill>
                      <a:srgbClr val="FFFFFF"/>
                    </a:solidFill>
                  </a:tcPr>
                </a:tc>
                <a:tc>
                  <a:txBody>
                    <a:bodyPr lIns="45720" rIns="45720" anchor="t" anchorCtr="1">
                      <a:noAutofit/>
                    </a:bodyPr>
                    <a:p>
                      <a:r>
                        <a:t>3.0%</a:t>
                      </a:r>
                    </a:p>
                  </a:txBody>
                  <a:tcPr anchor="t" marL="45720" marR="45720" marT="45720" marB="45720">
                    <a:lnL w="12960">
                      <a:solidFill>
                        <a:srgbClr val="E2E7EF"/>
                      </a:solidFill>
                      <a:prstDash val="solid"/>
                    </a:lnL>
                    <a:lnR w="12960">
                      <a:solidFill>
                        <a:srgbClr val="E2E7EF"/>
                      </a:solidFill>
                      <a:prstDash val="solid"/>
                    </a:lnR>
                    <a:lnT w="12960">
                      <a:solidFill>
                        <a:srgbClr val="E2E7EF"/>
                      </a:solidFill>
                      <a:prstDash val="solid"/>
                    </a:lnT>
                    <a:lnB w="12960">
                      <a:solidFill>
                        <a:srgbClr val="E2E7EF"/>
                      </a:solidFill>
                      <a:prstDash val="solid"/>
                    </a:lnB>
                    <a:solidFill>
                      <a:srgbClr val="FFFFFF"/>
                    </a:solidFill>
                  </a:tcPr>
                </a:tc>
              </a:tr>
              <a:tr h="323640">
                <a:tc>
                  <a:txBody>
                    <a:bodyPr lIns="45720" rIns="45720" anchor="t" anchorCtr="1">
                      <a:noAutofit/>
                    </a:bodyPr>
                    <a:p>
                      <a:r>
                        <a:t>1397337</a:t>
                      </a:r>
                    </a:p>
                  </a:txBody>
                  <a:tcPr anchor="t" marL="45720" marR="45720" marT="45720" marB="45720">
                    <a:lnL w="12960">
                      <a:solidFill>
                        <a:srgbClr val="E2E7EF"/>
                      </a:solidFill>
                      <a:prstDash val="solid"/>
                    </a:lnL>
                    <a:lnR w="12960">
                      <a:solidFill>
                        <a:srgbClr val="E2E7EF"/>
                      </a:solidFill>
                      <a:prstDash val="solid"/>
                    </a:lnR>
                    <a:lnT w="12960">
                      <a:solidFill>
                        <a:srgbClr val="E2E7EF"/>
                      </a:solidFill>
                      <a:prstDash val="solid"/>
                    </a:lnT>
                    <a:lnB w="12960">
                      <a:solidFill>
                        <a:srgbClr val="E2E7EF"/>
                      </a:solidFill>
                      <a:prstDash val="solid"/>
                    </a:lnB>
                    <a:solidFill>
                      <a:srgbClr val="F2F5F9"/>
                    </a:solidFill>
                  </a:tcPr>
                </a:tc>
                <a:tc>
                  <a:txBody>
                    <a:bodyPr lIns="45720" rIns="45720" anchor="t" anchorCtr="1">
                      <a:noAutofit/>
                    </a:bodyPr>
                    <a:p>
                      <a:r>
                        <a:t>POLE</a:t>
                      </a:r>
                    </a:p>
                  </a:txBody>
                  <a:tcPr anchor="t" marL="45720" marR="45720" marT="45720" marB="45720">
                    <a:lnL w="12960">
                      <a:solidFill>
                        <a:srgbClr val="E2E7EF"/>
                      </a:solidFill>
                      <a:prstDash val="solid"/>
                    </a:lnL>
                    <a:lnR w="12960">
                      <a:solidFill>
                        <a:srgbClr val="E2E7EF"/>
                      </a:solidFill>
                      <a:prstDash val="solid"/>
                    </a:lnR>
                    <a:lnT w="12960">
                      <a:solidFill>
                        <a:srgbClr val="E2E7EF"/>
                      </a:solidFill>
                      <a:prstDash val="solid"/>
                    </a:lnT>
                    <a:lnB w="12960">
                      <a:solidFill>
                        <a:srgbClr val="E2E7EF"/>
                      </a:solidFill>
                      <a:prstDash val="solid"/>
                    </a:lnB>
                    <a:solidFill>
                      <a:srgbClr val="F2F5F9"/>
                    </a:solidFill>
                  </a:tcPr>
                </a:tc>
                <a:tc>
                  <a:txBody>
                    <a:bodyPr lIns="45720" rIns="45720" anchor="t" anchorCtr="1">
                      <a:noAutofit/>
                    </a:bodyPr>
                    <a:p>
                      <a:r>
                        <a:t>BRCA, LUAD, SKCM, STAD</a:t>
                      </a:r>
                    </a:p>
                  </a:txBody>
                  <a:tcPr anchor="t" marL="45720" marR="45720" marT="45720" marB="45720">
                    <a:lnL w="12960">
                      <a:solidFill>
                        <a:srgbClr val="E2E7EF"/>
                      </a:solidFill>
                      <a:prstDash val="solid"/>
                    </a:lnL>
                    <a:lnR w="12960">
                      <a:solidFill>
                        <a:srgbClr val="E2E7EF"/>
                      </a:solidFill>
                      <a:prstDash val="solid"/>
                    </a:lnR>
                    <a:lnT w="12960">
                      <a:solidFill>
                        <a:srgbClr val="E2E7EF"/>
                      </a:solidFill>
                      <a:prstDash val="solid"/>
                    </a:lnT>
                    <a:lnB w="12960">
                      <a:solidFill>
                        <a:srgbClr val="E2E7EF"/>
                      </a:solidFill>
                      <a:prstDash val="solid"/>
                    </a:lnB>
                    <a:solidFill>
                      <a:srgbClr val="F2F5F9"/>
                    </a:solidFill>
                  </a:tcPr>
                </a:tc>
                <a:tc>
                  <a:txBody>
                    <a:bodyPr lIns="45720" rIns="45720" anchor="t" anchorCtr="1">
                      <a:noAutofit/>
                    </a:bodyPr>
                    <a:p>
                      <a:r>
                        <a:t>0.994</a:t>
                      </a:r>
                    </a:p>
                  </a:txBody>
                  <a:tcPr anchor="t" marL="45720" marR="45720" marT="45720" marB="45720">
                    <a:lnL w="12960">
                      <a:solidFill>
                        <a:srgbClr val="E2E7EF"/>
                      </a:solidFill>
                      <a:prstDash val="solid"/>
                    </a:lnL>
                    <a:lnR w="12960">
                      <a:solidFill>
                        <a:srgbClr val="E2E7EF"/>
                      </a:solidFill>
                      <a:prstDash val="solid"/>
                    </a:lnR>
                    <a:lnT w="12960">
                      <a:solidFill>
                        <a:srgbClr val="E2E7EF"/>
                      </a:solidFill>
                      <a:prstDash val="solid"/>
                    </a:lnT>
                    <a:lnB w="12960">
                      <a:solidFill>
                        <a:srgbClr val="E2E7EF"/>
                      </a:solidFill>
                      <a:prstDash val="solid"/>
                    </a:lnB>
                    <a:solidFill>
                      <a:srgbClr val="F2F5F9"/>
                    </a:solidFill>
                  </a:tcPr>
                </a:tc>
                <a:tc>
                  <a:txBody>
                    <a:bodyPr lIns="45720" rIns="45720" anchor="t" anchorCtr="1">
                      <a:noAutofit/>
                    </a:bodyPr>
                    <a:p>
                      <a:r>
                        <a:t>3.4%</a:t>
                      </a:r>
                    </a:p>
                  </a:txBody>
                  <a:tcPr anchor="t" marL="45720" marR="45720" marT="45720" marB="45720">
                    <a:lnL w="12960">
                      <a:solidFill>
                        <a:srgbClr val="E2E7EF"/>
                      </a:solidFill>
                      <a:prstDash val="solid"/>
                    </a:lnL>
                    <a:lnR w="12960">
                      <a:solidFill>
                        <a:srgbClr val="E2E7EF"/>
                      </a:solidFill>
                      <a:prstDash val="solid"/>
                    </a:lnR>
                    <a:lnT w="12960">
                      <a:solidFill>
                        <a:srgbClr val="E2E7EF"/>
                      </a:solidFill>
                      <a:prstDash val="solid"/>
                    </a:lnT>
                    <a:lnB w="12960">
                      <a:solidFill>
                        <a:srgbClr val="E2E7EF"/>
                      </a:solidFill>
                      <a:prstDash val="solid"/>
                    </a:lnB>
                    <a:solidFill>
                      <a:srgbClr val="F2F5F9"/>
                    </a:solidFill>
                  </a:tcPr>
                </a:tc>
              </a:tr>
              <a:tr h="323640">
                <a:tc>
                  <a:txBody>
                    <a:bodyPr lIns="45720" rIns="45720" anchor="t" anchorCtr="1">
                      <a:noAutofit/>
                    </a:bodyPr>
                    <a:p>
                      <a:r>
                        <a:t>1895446</a:t>
                      </a:r>
                    </a:p>
                  </a:txBody>
                  <a:tcPr anchor="t" marL="45720" marR="45720" marT="45720" marB="45720">
                    <a:lnL w="12960">
                      <a:solidFill>
                        <a:srgbClr val="E2E7EF"/>
                      </a:solidFill>
                      <a:prstDash val="solid"/>
                    </a:lnL>
                    <a:lnR w="12960">
                      <a:solidFill>
                        <a:srgbClr val="E2E7EF"/>
                      </a:solidFill>
                      <a:prstDash val="solid"/>
                    </a:lnR>
                    <a:lnT w="12960">
                      <a:solidFill>
                        <a:srgbClr val="E2E7EF"/>
                      </a:solidFill>
                      <a:prstDash val="solid"/>
                    </a:lnT>
                    <a:lnB w="12960">
                      <a:solidFill>
                        <a:srgbClr val="E2E7EF"/>
                      </a:solidFill>
                      <a:prstDash val="solid"/>
                    </a:lnB>
                    <a:solidFill>
                      <a:srgbClr val="FFFFFF"/>
                    </a:solidFill>
                  </a:tcPr>
                </a:tc>
                <a:tc>
                  <a:txBody>
                    <a:bodyPr lIns="45720" rIns="45720" anchor="t" anchorCtr="1">
                      <a:noAutofit/>
                    </a:bodyPr>
                    <a:p>
                      <a:r>
                        <a:t>NEFL</a:t>
                      </a:r>
                    </a:p>
                  </a:txBody>
                  <a:tcPr anchor="t" marL="45720" marR="45720" marT="45720" marB="45720">
                    <a:lnL w="12960">
                      <a:solidFill>
                        <a:srgbClr val="E2E7EF"/>
                      </a:solidFill>
                      <a:prstDash val="solid"/>
                    </a:lnL>
                    <a:lnR w="12960">
                      <a:solidFill>
                        <a:srgbClr val="E2E7EF"/>
                      </a:solidFill>
                      <a:prstDash val="solid"/>
                    </a:lnR>
                    <a:lnT w="12960">
                      <a:solidFill>
                        <a:srgbClr val="E2E7EF"/>
                      </a:solidFill>
                      <a:prstDash val="solid"/>
                    </a:lnT>
                    <a:lnB w="12960">
                      <a:solidFill>
                        <a:srgbClr val="E2E7EF"/>
                      </a:solidFill>
                      <a:prstDash val="solid"/>
                    </a:lnB>
                    <a:solidFill>
                      <a:srgbClr val="FFFFFF"/>
                    </a:solidFill>
                  </a:tcPr>
                </a:tc>
                <a:tc>
                  <a:txBody>
                    <a:bodyPr lIns="45720" rIns="45720" anchor="t" anchorCtr="1">
                      <a:noAutofit/>
                    </a:bodyPr>
                    <a:p>
                      <a:r>
                        <a:t>BRCA, STAD</a:t>
                      </a:r>
                    </a:p>
                  </a:txBody>
                  <a:tcPr anchor="t" marL="45720" marR="45720" marT="45720" marB="45720">
                    <a:lnL w="12960">
                      <a:solidFill>
                        <a:srgbClr val="E2E7EF"/>
                      </a:solidFill>
                      <a:prstDash val="solid"/>
                    </a:lnL>
                    <a:lnR w="12960">
                      <a:solidFill>
                        <a:srgbClr val="E2E7EF"/>
                      </a:solidFill>
                      <a:prstDash val="solid"/>
                    </a:lnR>
                    <a:lnT w="12960">
                      <a:solidFill>
                        <a:srgbClr val="E2E7EF"/>
                      </a:solidFill>
                      <a:prstDash val="solid"/>
                    </a:lnT>
                    <a:lnB w="12960">
                      <a:solidFill>
                        <a:srgbClr val="E2E7EF"/>
                      </a:solidFill>
                      <a:prstDash val="solid"/>
                    </a:lnB>
                    <a:solidFill>
                      <a:srgbClr val="FFFFFF"/>
                    </a:solidFill>
                  </a:tcPr>
                </a:tc>
                <a:tc>
                  <a:txBody>
                    <a:bodyPr lIns="45720" rIns="45720" anchor="t" anchorCtr="1">
                      <a:noAutofit/>
                    </a:bodyPr>
                    <a:p>
                      <a:r>
                        <a:t>0.994</a:t>
                      </a:r>
                    </a:p>
                  </a:txBody>
                  <a:tcPr anchor="t" marL="45720" marR="45720" marT="45720" marB="45720">
                    <a:lnL w="12960">
                      <a:solidFill>
                        <a:srgbClr val="E2E7EF"/>
                      </a:solidFill>
                      <a:prstDash val="solid"/>
                    </a:lnL>
                    <a:lnR w="12960">
                      <a:solidFill>
                        <a:srgbClr val="E2E7EF"/>
                      </a:solidFill>
                      <a:prstDash val="solid"/>
                    </a:lnR>
                    <a:lnT w="12960">
                      <a:solidFill>
                        <a:srgbClr val="E2E7EF"/>
                      </a:solidFill>
                      <a:prstDash val="solid"/>
                    </a:lnT>
                    <a:lnB w="12960">
                      <a:solidFill>
                        <a:srgbClr val="E2E7EF"/>
                      </a:solidFill>
                      <a:prstDash val="solid"/>
                    </a:lnB>
                    <a:solidFill>
                      <a:srgbClr val="FFFFFF"/>
                    </a:solidFill>
                  </a:tcPr>
                </a:tc>
                <a:tc>
                  <a:txBody>
                    <a:bodyPr lIns="45720" rIns="45720" anchor="t" anchorCtr="1">
                      <a:noAutofit/>
                    </a:bodyPr>
                    <a:p>
                      <a:r>
                        <a:t>3.0%</a:t>
                      </a:r>
                    </a:p>
                  </a:txBody>
                  <a:tcPr anchor="t" marL="45720" marR="45720" marT="45720" marB="45720">
                    <a:lnL w="12960">
                      <a:solidFill>
                        <a:srgbClr val="E2E7EF"/>
                      </a:solidFill>
                      <a:prstDash val="solid"/>
                    </a:lnL>
                    <a:lnR w="12960">
                      <a:solidFill>
                        <a:srgbClr val="E2E7EF"/>
                      </a:solidFill>
                      <a:prstDash val="solid"/>
                    </a:lnR>
                    <a:lnT w="12960">
                      <a:solidFill>
                        <a:srgbClr val="E2E7EF"/>
                      </a:solidFill>
                      <a:prstDash val="solid"/>
                    </a:lnT>
                    <a:lnB w="12960">
                      <a:solidFill>
                        <a:srgbClr val="E2E7EF"/>
                      </a:solidFill>
                      <a:prstDash val="solid"/>
                    </a:lnB>
                    <a:solidFill>
                      <a:srgbClr val="FFFFFF"/>
                    </a:solidFill>
                  </a:tcPr>
                </a:tc>
              </a:tr>
              <a:tr h="323640">
                <a:tc>
                  <a:txBody>
                    <a:bodyPr lIns="45720" rIns="45720" anchor="t" anchorCtr="1">
                      <a:noAutofit/>
                    </a:bodyPr>
                    <a:p>
                      <a:r>
                        <a:t>1049656</a:t>
                      </a:r>
                    </a:p>
                  </a:txBody>
                  <a:tcPr anchor="t" marL="45720" marR="45720" marT="45720" marB="45720">
                    <a:lnL w="12960">
                      <a:solidFill>
                        <a:srgbClr val="E2E7EF"/>
                      </a:solidFill>
                      <a:prstDash val="solid"/>
                    </a:lnL>
                    <a:lnR w="12960">
                      <a:solidFill>
                        <a:srgbClr val="E2E7EF"/>
                      </a:solidFill>
                      <a:prstDash val="solid"/>
                    </a:lnR>
                    <a:lnT w="12960">
                      <a:solidFill>
                        <a:srgbClr val="E2E7EF"/>
                      </a:solidFill>
                      <a:prstDash val="solid"/>
                    </a:lnT>
                    <a:lnB w="12960">
                      <a:solidFill>
                        <a:srgbClr val="E2E7EF"/>
                      </a:solidFill>
                      <a:prstDash val="solid"/>
                    </a:lnB>
                    <a:solidFill>
                      <a:srgbClr val="F2F5F9"/>
                    </a:solidFill>
                  </a:tcPr>
                </a:tc>
                <a:tc>
                  <a:txBody>
                    <a:bodyPr lIns="45720" rIns="45720" anchor="t" anchorCtr="1">
                      <a:noAutofit/>
                    </a:bodyPr>
                    <a:p>
                      <a:r>
                        <a:t>COL12A1</a:t>
                      </a:r>
                    </a:p>
                  </a:txBody>
                  <a:tcPr anchor="t" marL="45720" marR="45720" marT="45720" marB="45720">
                    <a:lnL w="12960">
                      <a:solidFill>
                        <a:srgbClr val="E2E7EF"/>
                      </a:solidFill>
                      <a:prstDash val="solid"/>
                    </a:lnL>
                    <a:lnR w="12960">
                      <a:solidFill>
                        <a:srgbClr val="E2E7EF"/>
                      </a:solidFill>
                      <a:prstDash val="solid"/>
                    </a:lnR>
                    <a:lnT w="12960">
                      <a:solidFill>
                        <a:srgbClr val="E2E7EF"/>
                      </a:solidFill>
                      <a:prstDash val="solid"/>
                    </a:lnT>
                    <a:lnB w="12960">
                      <a:solidFill>
                        <a:srgbClr val="E2E7EF"/>
                      </a:solidFill>
                      <a:prstDash val="solid"/>
                    </a:lnB>
                    <a:solidFill>
                      <a:srgbClr val="F2F5F9"/>
                    </a:solidFill>
                  </a:tcPr>
                </a:tc>
                <a:tc>
                  <a:txBody>
                    <a:bodyPr lIns="45720" rIns="45720" anchor="t" anchorCtr="1">
                      <a:noAutofit/>
                    </a:bodyPr>
                    <a:p>
                      <a:r>
                        <a:t>BRCA, COAD, LUAD, SKCM, STAD</a:t>
                      </a:r>
                    </a:p>
                  </a:txBody>
                  <a:tcPr anchor="t" marL="45720" marR="45720" marT="45720" marB="45720">
                    <a:lnL w="12960">
                      <a:solidFill>
                        <a:srgbClr val="E2E7EF"/>
                      </a:solidFill>
                      <a:prstDash val="solid"/>
                    </a:lnL>
                    <a:lnR w="12960">
                      <a:solidFill>
                        <a:srgbClr val="E2E7EF"/>
                      </a:solidFill>
                      <a:prstDash val="solid"/>
                    </a:lnR>
                    <a:lnT w="12960">
                      <a:solidFill>
                        <a:srgbClr val="E2E7EF"/>
                      </a:solidFill>
                      <a:prstDash val="solid"/>
                    </a:lnT>
                    <a:lnB w="12960">
                      <a:solidFill>
                        <a:srgbClr val="E2E7EF"/>
                      </a:solidFill>
                      <a:prstDash val="solid"/>
                    </a:lnB>
                    <a:solidFill>
                      <a:srgbClr val="F2F5F9"/>
                    </a:solidFill>
                  </a:tcPr>
                </a:tc>
                <a:tc>
                  <a:txBody>
                    <a:bodyPr lIns="45720" rIns="45720" anchor="t" anchorCtr="1">
                      <a:noAutofit/>
                    </a:bodyPr>
                    <a:p>
                      <a:r>
                        <a:t>0.994</a:t>
                      </a:r>
                    </a:p>
                  </a:txBody>
                  <a:tcPr anchor="t" marL="45720" marR="45720" marT="45720" marB="45720">
                    <a:lnL w="12960">
                      <a:solidFill>
                        <a:srgbClr val="E2E7EF"/>
                      </a:solidFill>
                      <a:prstDash val="solid"/>
                    </a:lnL>
                    <a:lnR w="12960">
                      <a:solidFill>
                        <a:srgbClr val="E2E7EF"/>
                      </a:solidFill>
                      <a:prstDash val="solid"/>
                    </a:lnR>
                    <a:lnT w="12960">
                      <a:solidFill>
                        <a:srgbClr val="E2E7EF"/>
                      </a:solidFill>
                      <a:prstDash val="solid"/>
                    </a:lnT>
                    <a:lnB w="12960">
                      <a:solidFill>
                        <a:srgbClr val="E2E7EF"/>
                      </a:solidFill>
                      <a:prstDash val="solid"/>
                    </a:lnB>
                    <a:solidFill>
                      <a:srgbClr val="F2F5F9"/>
                    </a:solidFill>
                  </a:tcPr>
                </a:tc>
                <a:tc>
                  <a:txBody>
                    <a:bodyPr lIns="45720" rIns="45720" anchor="t" anchorCtr="1">
                      <a:noAutofit/>
                    </a:bodyPr>
                    <a:p>
                      <a:r>
                        <a:t>1.5%</a:t>
                      </a:r>
                    </a:p>
                  </a:txBody>
                  <a:tcPr anchor="t" marL="45720" marR="45720" marT="45720" marB="45720">
                    <a:lnL w="12960">
                      <a:solidFill>
                        <a:srgbClr val="E2E7EF"/>
                      </a:solidFill>
                      <a:prstDash val="solid"/>
                    </a:lnL>
                    <a:lnR w="12960">
                      <a:solidFill>
                        <a:srgbClr val="E2E7EF"/>
                      </a:solidFill>
                      <a:prstDash val="solid"/>
                    </a:lnR>
                    <a:lnT w="12960">
                      <a:solidFill>
                        <a:srgbClr val="E2E7EF"/>
                      </a:solidFill>
                      <a:prstDash val="solid"/>
                    </a:lnT>
                    <a:lnB w="12960">
                      <a:solidFill>
                        <a:srgbClr val="E2E7EF"/>
                      </a:solidFill>
                      <a:prstDash val="solid"/>
                    </a:lnB>
                    <a:solidFill>
                      <a:srgbClr val="F2F5F9"/>
                    </a:solidFill>
                  </a:tcPr>
                </a:tc>
              </a:tr>
              <a:tr h="323640">
                <a:tc>
                  <a:txBody>
                    <a:bodyPr lIns="45720" rIns="45720" anchor="t" anchorCtr="1">
                      <a:noAutofit/>
                    </a:bodyPr>
                    <a:p>
                      <a:r>
                        <a:t>1185121</a:t>
                      </a:r>
                    </a:p>
                  </a:txBody>
                  <a:tcPr anchor="t" marL="45720" marR="45720" marT="45720" marB="45720">
                    <a:lnL w="12960">
                      <a:solidFill>
                        <a:srgbClr val="E2E7EF"/>
                      </a:solidFill>
                      <a:prstDash val="solid"/>
                    </a:lnL>
                    <a:lnR w="12960">
                      <a:solidFill>
                        <a:srgbClr val="E2E7EF"/>
                      </a:solidFill>
                      <a:prstDash val="solid"/>
                    </a:lnR>
                    <a:lnT w="12960">
                      <a:solidFill>
                        <a:srgbClr val="E2E7EF"/>
                      </a:solidFill>
                      <a:prstDash val="solid"/>
                    </a:lnT>
                    <a:lnB w="12960">
                      <a:solidFill>
                        <a:srgbClr val="E2E7EF"/>
                      </a:solidFill>
                      <a:prstDash val="solid"/>
                    </a:lnB>
                    <a:solidFill>
                      <a:srgbClr val="FFFFFF"/>
                    </a:solidFill>
                  </a:tcPr>
                </a:tc>
                <a:tc>
                  <a:txBody>
                    <a:bodyPr lIns="45720" rIns="45720" anchor="t" anchorCtr="1">
                      <a:noAutofit/>
                    </a:bodyPr>
                    <a:p>
                      <a:r>
                        <a:t>MYO7A</a:t>
                      </a:r>
                    </a:p>
                  </a:txBody>
                  <a:tcPr anchor="t" marL="45720" marR="45720" marT="45720" marB="45720">
                    <a:lnL w="12960">
                      <a:solidFill>
                        <a:srgbClr val="E2E7EF"/>
                      </a:solidFill>
                      <a:prstDash val="solid"/>
                    </a:lnL>
                    <a:lnR w="12960">
                      <a:solidFill>
                        <a:srgbClr val="E2E7EF"/>
                      </a:solidFill>
                      <a:prstDash val="solid"/>
                    </a:lnR>
                    <a:lnT w="12960">
                      <a:solidFill>
                        <a:srgbClr val="E2E7EF"/>
                      </a:solidFill>
                      <a:prstDash val="solid"/>
                    </a:lnT>
                    <a:lnB w="12960">
                      <a:solidFill>
                        <a:srgbClr val="E2E7EF"/>
                      </a:solidFill>
                      <a:prstDash val="solid"/>
                    </a:lnB>
                    <a:solidFill>
                      <a:srgbClr val="FFFFFF"/>
                    </a:solidFill>
                  </a:tcPr>
                </a:tc>
                <a:tc>
                  <a:txBody>
                    <a:bodyPr lIns="45720" rIns="45720" anchor="t" anchorCtr="1">
                      <a:noAutofit/>
                    </a:bodyPr>
                    <a:p>
                      <a:r>
                        <a:t>BRCA, COAD, SKCM</a:t>
                      </a:r>
                    </a:p>
                  </a:txBody>
                  <a:tcPr anchor="t" marL="45720" marR="45720" marT="45720" marB="45720">
                    <a:lnL w="12960">
                      <a:solidFill>
                        <a:srgbClr val="E2E7EF"/>
                      </a:solidFill>
                      <a:prstDash val="solid"/>
                    </a:lnL>
                    <a:lnR w="12960">
                      <a:solidFill>
                        <a:srgbClr val="E2E7EF"/>
                      </a:solidFill>
                      <a:prstDash val="solid"/>
                    </a:lnR>
                    <a:lnT w="12960">
                      <a:solidFill>
                        <a:srgbClr val="E2E7EF"/>
                      </a:solidFill>
                      <a:prstDash val="solid"/>
                    </a:lnT>
                    <a:lnB w="12960">
                      <a:solidFill>
                        <a:srgbClr val="E2E7EF"/>
                      </a:solidFill>
                      <a:prstDash val="solid"/>
                    </a:lnB>
                    <a:solidFill>
                      <a:srgbClr val="FFFFFF"/>
                    </a:solidFill>
                  </a:tcPr>
                </a:tc>
                <a:tc>
                  <a:txBody>
                    <a:bodyPr lIns="45720" rIns="45720" anchor="t" anchorCtr="1">
                      <a:noAutofit/>
                    </a:bodyPr>
                    <a:p>
                      <a:r>
                        <a:t>0.994</a:t>
                      </a:r>
                    </a:p>
                  </a:txBody>
                  <a:tcPr anchor="t" marL="45720" marR="45720" marT="45720" marB="45720">
                    <a:lnL w="12960">
                      <a:solidFill>
                        <a:srgbClr val="E2E7EF"/>
                      </a:solidFill>
                      <a:prstDash val="solid"/>
                    </a:lnL>
                    <a:lnR w="12960">
                      <a:solidFill>
                        <a:srgbClr val="E2E7EF"/>
                      </a:solidFill>
                      <a:prstDash val="solid"/>
                    </a:lnR>
                    <a:lnT w="12960">
                      <a:solidFill>
                        <a:srgbClr val="E2E7EF"/>
                      </a:solidFill>
                      <a:prstDash val="solid"/>
                    </a:lnT>
                    <a:lnB w="12960">
                      <a:solidFill>
                        <a:srgbClr val="E2E7EF"/>
                      </a:solidFill>
                      <a:prstDash val="solid"/>
                    </a:lnB>
                    <a:solidFill>
                      <a:srgbClr val="FFFFFF"/>
                    </a:solidFill>
                  </a:tcPr>
                </a:tc>
                <a:tc>
                  <a:txBody>
                    <a:bodyPr lIns="45720" rIns="45720" anchor="t" anchorCtr="1">
                      <a:noAutofit/>
                    </a:bodyPr>
                    <a:p>
                      <a:r>
                        <a:t>3.2%</a:t>
                      </a:r>
                    </a:p>
                  </a:txBody>
                  <a:tcPr anchor="t" marL="45720" marR="45720" marT="45720" marB="45720">
                    <a:lnL w="12960">
                      <a:solidFill>
                        <a:srgbClr val="E2E7EF"/>
                      </a:solidFill>
                      <a:prstDash val="solid"/>
                    </a:lnL>
                    <a:lnR w="12960">
                      <a:solidFill>
                        <a:srgbClr val="E2E7EF"/>
                      </a:solidFill>
                      <a:prstDash val="solid"/>
                    </a:lnR>
                    <a:lnT w="12960">
                      <a:solidFill>
                        <a:srgbClr val="E2E7EF"/>
                      </a:solidFill>
                      <a:prstDash val="solid"/>
                    </a:lnT>
                    <a:lnB w="12960">
                      <a:solidFill>
                        <a:srgbClr val="E2E7EF"/>
                      </a:solidFill>
                      <a:prstDash val="solid"/>
                    </a:lnB>
                    <a:solidFill>
                      <a:srgbClr val="FFFFFF"/>
                    </a:solidFill>
                  </a:tcPr>
                </a:tc>
              </a:tr>
              <a:tr h="320400">
                <a:tc>
                  <a:txBody>
                    <a:bodyPr lIns="45720" rIns="45720" anchor="t" anchorCtr="1">
                      <a:noAutofit/>
                    </a:bodyPr>
                    <a:p>
                      <a:r>
                        <a:t>1044100</a:t>
                      </a:r>
                    </a:p>
                  </a:txBody>
                  <a:tcPr anchor="t" marL="45720" marR="45720" marT="45720" marB="45720">
                    <a:lnL w="12960">
                      <a:solidFill>
                        <a:srgbClr val="E2E7EF"/>
                      </a:solidFill>
                      <a:prstDash val="solid"/>
                    </a:lnL>
                    <a:lnR w="12960">
                      <a:solidFill>
                        <a:srgbClr val="E2E7EF"/>
                      </a:solidFill>
                      <a:prstDash val="solid"/>
                    </a:lnR>
                    <a:lnT w="12960">
                      <a:solidFill>
                        <a:srgbClr val="E2E7EF"/>
                      </a:solidFill>
                      <a:prstDash val="solid"/>
                    </a:lnT>
                    <a:lnB w="12960">
                      <a:solidFill>
                        <a:srgbClr val="E2E7EF"/>
                      </a:solidFill>
                      <a:prstDash val="solid"/>
                    </a:lnB>
                    <a:solidFill>
                      <a:srgbClr val="F2F5F9"/>
                    </a:solidFill>
                  </a:tcPr>
                </a:tc>
                <a:tc>
                  <a:txBody>
                    <a:bodyPr lIns="45720" rIns="45720" anchor="t" anchorCtr="1">
                      <a:noAutofit/>
                    </a:bodyPr>
                    <a:p>
                      <a:r>
                        <a:t>APC</a:t>
                      </a:r>
                    </a:p>
                  </a:txBody>
                  <a:tcPr anchor="t" marL="45720" marR="45720" marT="45720" marB="45720">
                    <a:lnL w="12960">
                      <a:solidFill>
                        <a:srgbClr val="E2E7EF"/>
                      </a:solidFill>
                      <a:prstDash val="solid"/>
                    </a:lnL>
                    <a:lnR w="12960">
                      <a:solidFill>
                        <a:srgbClr val="E2E7EF"/>
                      </a:solidFill>
                      <a:prstDash val="solid"/>
                    </a:lnR>
                    <a:lnT w="12960">
                      <a:solidFill>
                        <a:srgbClr val="E2E7EF"/>
                      </a:solidFill>
                      <a:prstDash val="solid"/>
                    </a:lnT>
                    <a:lnB w="12960">
                      <a:solidFill>
                        <a:srgbClr val="E2E7EF"/>
                      </a:solidFill>
                      <a:prstDash val="solid"/>
                    </a:lnB>
                    <a:solidFill>
                      <a:srgbClr val="F2F5F9"/>
                    </a:solidFill>
                  </a:tcPr>
                </a:tc>
                <a:tc>
                  <a:txBody>
                    <a:bodyPr lIns="45720" rIns="45720" anchor="t" anchorCtr="1">
                      <a:noAutofit/>
                    </a:bodyPr>
                    <a:p>
                      <a:r>
                        <a:t>All 7 cohort cancer types</a:t>
                      </a:r>
                    </a:p>
                  </a:txBody>
                  <a:tcPr anchor="t" marL="45720" marR="45720" marT="45720" marB="45720">
                    <a:lnL w="12960">
                      <a:solidFill>
                        <a:srgbClr val="E2E7EF"/>
                      </a:solidFill>
                      <a:prstDash val="solid"/>
                    </a:lnL>
                    <a:lnR w="12960">
                      <a:solidFill>
                        <a:srgbClr val="E2E7EF"/>
                      </a:solidFill>
                      <a:prstDash val="solid"/>
                    </a:lnR>
                    <a:lnT w="12960">
                      <a:solidFill>
                        <a:srgbClr val="E2E7EF"/>
                      </a:solidFill>
                      <a:prstDash val="solid"/>
                    </a:lnT>
                    <a:lnB w="12960">
                      <a:solidFill>
                        <a:srgbClr val="E2E7EF"/>
                      </a:solidFill>
                      <a:prstDash val="solid"/>
                    </a:lnB>
                    <a:solidFill>
                      <a:srgbClr val="F2F5F9"/>
                    </a:solidFill>
                  </a:tcPr>
                </a:tc>
                <a:tc>
                  <a:txBody>
                    <a:bodyPr lIns="45720" rIns="45720" anchor="t" anchorCtr="1">
                      <a:noAutofit/>
                    </a:bodyPr>
                    <a:p>
                      <a:r>
                        <a:t>0.994</a:t>
                      </a:r>
                    </a:p>
                  </a:txBody>
                  <a:tcPr anchor="t" marL="45720" marR="45720" marT="45720" marB="45720">
                    <a:lnL w="12960">
                      <a:solidFill>
                        <a:srgbClr val="E2E7EF"/>
                      </a:solidFill>
                      <a:prstDash val="solid"/>
                    </a:lnL>
                    <a:lnR w="12960">
                      <a:solidFill>
                        <a:srgbClr val="E2E7EF"/>
                      </a:solidFill>
                      <a:prstDash val="solid"/>
                    </a:lnR>
                    <a:lnT w="12960">
                      <a:solidFill>
                        <a:srgbClr val="E2E7EF"/>
                      </a:solidFill>
                      <a:prstDash val="solid"/>
                    </a:lnT>
                    <a:lnB w="12960">
                      <a:solidFill>
                        <a:srgbClr val="E2E7EF"/>
                      </a:solidFill>
                      <a:prstDash val="solid"/>
                    </a:lnB>
                    <a:solidFill>
                      <a:srgbClr val="F2F5F9"/>
                    </a:solidFill>
                  </a:tcPr>
                </a:tc>
                <a:tc>
                  <a:txBody>
                    <a:bodyPr lIns="45720" rIns="45720" anchor="t" anchorCtr="1">
                      <a:noAutofit/>
                    </a:bodyPr>
                    <a:p>
                      <a:r>
                        <a:t>3.7%</a:t>
                      </a:r>
                    </a:p>
                  </a:txBody>
                  <a:tcPr anchor="t" marL="45720" marR="45720" marT="45720" marB="45720">
                    <a:lnL w="12960">
                      <a:solidFill>
                        <a:srgbClr val="E2E7EF"/>
                      </a:solidFill>
                      <a:prstDash val="solid"/>
                    </a:lnL>
                    <a:lnR w="12960">
                      <a:solidFill>
                        <a:srgbClr val="E2E7EF"/>
                      </a:solidFill>
                      <a:prstDash val="solid"/>
                    </a:lnR>
                    <a:lnT w="12960">
                      <a:solidFill>
                        <a:srgbClr val="E2E7EF"/>
                      </a:solidFill>
                      <a:prstDash val="solid"/>
                    </a:lnT>
                    <a:lnB w="12960">
                      <a:solidFill>
                        <a:srgbClr val="E2E7EF"/>
                      </a:solidFill>
                      <a:prstDash val="solid"/>
                    </a:lnB>
                    <a:solidFill>
                      <a:srgbClr val="F2F5F9"/>
                    </a:solidFill>
                  </a:tcPr>
                </a:tc>
              </a:tr>
            </a:tbl>
          </a:graphicData>
        </a:graphic>
      </p:graphicFrame>
      <p:sp>
        <p:nvSpPr>
          <p:cNvPr id="261" name=""/>
          <p:cNvSpPr txBox="1"/>
          <p:nvPr/>
        </p:nvSpPr>
        <p:spPr>
          <a:xfrm>
            <a:off x="548640" y="6172200"/>
            <a:ext cx="3657600" cy="274320"/>
          </a:xfrm>
          <a:prstGeom prst="rect">
            <a:avLst/>
          </a:prstGeom>
          <a:noFill/>
          <a:ln w="0">
            <a:noFill/>
          </a:ln>
        </p:spPr>
        <p:txBody>
          <a:bodyPr lIns="90000" tIns="45000" rIns="90000" bIns="45000" anchor="t">
            <a:spAutoFit/>
          </a:bodyPr>
          <a:p>
            <a:r>
              <a:rPr lang="en-US" sz="1100" b="0" i="1" u="none" strike="noStrike">
                <a:solidFill>
                  <a:srgbClr val="475265"/>
                </a:solidFill>
                <a:effectLst/>
                <a:uFillTx/>
                <a:latin typeface="Calibri-Italic"/>
                <a:ea typeface="Calibri-Italic"/>
              </a:rPr>
              <a:t>Ranked 1 to 10 of 20</a:t>
            </a:r>
            <a:endParaRPr lang="en-US" sz="1100" b="0" u="none" strike="noStrike">
              <a:solidFill>
                <a:srgbClr val="000000"/>
              </a:solidFill>
              <a:effectLst/>
              <a:uFillTx/>
              <a:latin typeface="Arial"/>
            </a:endParaRPr>
          </a:p>
        </p:txBody>
      </p:sp>
      <p:sp>
        <p:nvSpPr>
          <p:cNvPr id="262" name=""/>
          <p:cNvSpPr txBox="1"/>
          <p:nvPr/>
        </p:nvSpPr>
        <p:spPr>
          <a:xfrm>
            <a:off x="11368840" y="6446520"/>
            <a:ext cx="500000" cy="300000"/>
          </a:xfrm>
          <a:prstGeom prst="rect">
            <a:avLst/>
          </a:prstGeom>
          <a:noFill/>
          <a:ln w="0">
            <a:noFill/>
          </a:ln>
        </p:spPr>
        <p:txBody>
          <a:bodyPr lIns="90000" tIns="45000" rIns="90000" bIns="45000" anchor="t">
            <a:spAutoFit/>
          </a:bodyPr>
          <a:p>
            <a:pPr algn="r"/>
            <a:r>
              <a:rPr lang="en-US" sz="1000" b="0" u="none" strike="noStrike">
                <a:solidFill>
                  <a:srgbClr val="8D99AE"/>
                </a:solidFill>
                <a:effectLst/>
                <a:uFillTx/>
                <a:latin typeface="Calibri"/>
                <a:ea typeface="Calibri"/>
              </a:rPr>
              <a:t>2</a:t>
            </a:r>
            <a:r>
              <a:rPr lang="en-US" sz="1000" b="0" u="none" strike="noStrike">
                <a:solidFill>
                  <a:srgbClr val="8D99AE"/>
                </a:solidFill>
                <a:effectLst/>
                <a:uFillTx/>
                <a:latin typeface="Calibri"/>
                <a:ea typeface="Calibri"/>
              </a:rPr>
              <a:t>3</a:t>
            </a:r>
            <a:endParaRPr lang="en-US"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63" name=""/>
          <p:cNvSpPr txBox="1"/>
          <p:nvPr/>
        </p:nvSpPr>
        <p:spPr>
          <a:xfrm>
            <a:off x="548640" y="384120"/>
            <a:ext cx="7315200" cy="292680"/>
          </a:xfrm>
          <a:prstGeom prst="rect">
            <a:avLst/>
          </a:prstGeom>
          <a:noFill/>
          <a:ln w="0">
            <a:noFill/>
          </a:ln>
        </p:spPr>
        <p:txBody>
          <a:bodyPr lIns="90000" tIns="45000" rIns="90000" bIns="45000" anchor="t">
            <a:spAutoFit/>
          </a:bodyPr>
          <a:p>
            <a:r>
              <a:rPr lang="en-US" sz="1200" b="1" u="none" spc="201" strike="noStrike">
                <a:solidFill>
                  <a:srgbClr val="E76C4E"/>
                </a:solidFill>
                <a:effectLst/>
                <a:uFillTx/>
                <a:latin typeface="Calibri-Bold"/>
                <a:ea typeface="Calibri-Bold"/>
              </a:rPr>
              <a:t>THE GLOBAL WATCHLIST</a:t>
            </a:r>
            <a:endParaRPr lang="en-US" sz="1200" b="0" u="none" strike="noStrike">
              <a:solidFill>
                <a:srgbClr val="000000"/>
              </a:solidFill>
              <a:effectLst/>
              <a:uFillTx/>
              <a:latin typeface="Arial"/>
            </a:endParaRPr>
          </a:p>
        </p:txBody>
      </p:sp>
      <p:sp>
        <p:nvSpPr>
          <p:cNvPr id="264" name=""/>
          <p:cNvSpPr txBox="1"/>
          <p:nvPr/>
        </p:nvSpPr>
        <p:spPr>
          <a:xfrm>
            <a:off x="548640" y="658440"/>
            <a:ext cx="10789920" cy="777240"/>
          </a:xfrm>
          <a:prstGeom prst="rect">
            <a:avLst/>
          </a:prstGeom>
          <a:noFill/>
          <a:ln w="0">
            <a:noFill/>
          </a:ln>
        </p:spPr>
        <p:txBody>
          <a:bodyPr lIns="90000" tIns="45000" rIns="90000" bIns="45000" anchor="t">
            <a:spAutoFit/>
          </a:bodyPr>
          <a:p>
            <a:r>
              <a:rPr lang="en-US" sz="2700" b="1" u="none" strike="noStrike">
                <a:solidFill>
                  <a:srgbClr val="1F242E"/>
                </a:solidFill>
                <a:effectLst/>
                <a:uFillTx/>
                <a:latin typeface="Cambria-Bold"/>
                <a:ea typeface="Cambria-Bold"/>
              </a:rPr>
              <a:t>Top 20 VUS Most Likely to Reclassify, By Cancer Type</a:t>
            </a:r>
            <a:endParaRPr lang="en-US" sz="2700" b="0" u="none" strike="noStrike">
              <a:solidFill>
                <a:srgbClr val="000000"/>
              </a:solidFill>
              <a:effectLst/>
              <a:uFillTx/>
              <a:latin typeface="Arial"/>
            </a:endParaRPr>
          </a:p>
        </p:txBody>
      </p:sp>
      <p:graphicFrame>
        <p:nvGraphicFramePr>
          <p:cNvPr id="265" name=""/>
          <p:cNvGraphicFramePr/>
          <p:nvPr/>
        </p:nvGraphicFramePr>
        <p:xfrm>
          <a:off x="548640" y="1691640"/>
          <a:ext cx="11064240" cy="3218760"/>
        </p:xfrm>
        <a:graphic>
          <a:graphicData uri="http://schemas.openxmlformats.org/drawingml/2006/table">
            <a:tbl>
              <a:tblPr/>
              <a:tblGrid>
                <a:gridCol w="1371600"/>
                <a:gridCol w="1371600"/>
                <a:gridCol w="4480560"/>
                <a:gridCol w="1280160"/>
                <a:gridCol w="2560320"/>
              </a:tblGrid>
              <a:tr h="351000">
                <a:tc>
                  <a:txBody>
                    <a:bodyPr lIns="27360" tIns="27360" rIns="27360" bIns="27360" anchor="t" anchorCtr="1">
                      <a:noAutofit/>
                    </a:bodyPr>
                    <a:p>
                      <a:r>
                        <a:rPr lang="en-US" sz="1000" b="1" u="none" strike="noStrike">
                          <a:solidFill>
                            <a:srgbClr val="FFFFFF"/>
                          </a:solidFill>
                          <a:effectLst/>
                          <a:uFillTx/>
                          <a:latin typeface="Calibri-Bold"/>
                          <a:ea typeface="Calibri-Bold"/>
                        </a:rPr>
                        <a:t>VariationID</a:t>
                      </a:r>
                      <a:endParaRPr lang="en-US" sz="1000" b="0" u="none" strike="noStrike">
                        <a:solidFill>
                          <a:srgbClr val="FFFFFF"/>
                        </a:solidFill>
                        <a:effectLst/>
                        <a:uFillTx/>
                        <a:latin typeface="Arial"/>
                      </a:endParaRPr>
                    </a:p>
                  </a:txBody>
                  <a:tcPr anchor="t" marL="27360" marR="27360" marT="27360" marB="27360">
                    <a:lnL w="12960">
                      <a:solidFill>
                        <a:srgbClr val="E2E7EF"/>
                      </a:solidFill>
                      <a:prstDash val="solid"/>
                    </a:lnL>
                    <a:lnR w="12960">
                      <a:solidFill>
                        <a:srgbClr val="E2E7EF"/>
                      </a:solidFill>
                      <a:prstDash val="solid"/>
                    </a:lnR>
                    <a:lnT w="12960">
                      <a:solidFill>
                        <a:srgbClr val="E2E7EF"/>
                      </a:solidFill>
                      <a:prstDash val="solid"/>
                    </a:lnT>
                    <a:lnB w="12960">
                      <a:solidFill>
                        <a:srgbClr val="E2E7EF"/>
                      </a:solidFill>
                      <a:prstDash val="solid"/>
                    </a:lnB>
                    <a:solidFill>
                      <a:srgbClr val="1C375C"/>
                    </a:solidFill>
                  </a:tcPr>
                </a:tc>
                <a:tc>
                  <a:txBody>
                    <a:bodyPr lIns="27360" tIns="27360" rIns="27360" bIns="27360" anchor="t" anchorCtr="1">
                      <a:noAutofit/>
                    </a:bodyPr>
                    <a:p>
                      <a:r>
                        <a:rPr lang="en-US" sz="1000" b="1" u="none" strike="noStrike">
                          <a:solidFill>
                            <a:srgbClr val="FFFFFF"/>
                          </a:solidFill>
                          <a:effectLst/>
                          <a:uFillTx/>
                          <a:latin typeface="Calibri-Bold"/>
                          <a:ea typeface="Calibri-Bold"/>
                        </a:rPr>
                        <a:t>Gene</a:t>
                      </a:r>
                      <a:endParaRPr lang="en-US" sz="1000" b="0" u="none" strike="noStrike">
                        <a:solidFill>
                          <a:srgbClr val="FFFFFF"/>
                        </a:solidFill>
                        <a:effectLst/>
                        <a:uFillTx/>
                        <a:latin typeface="Arial"/>
                      </a:endParaRPr>
                    </a:p>
                  </a:txBody>
                  <a:tcPr anchor="t" marL="27360" marR="27360" marT="27360" marB="27360">
                    <a:lnL w="12960">
                      <a:solidFill>
                        <a:srgbClr val="E2E7EF"/>
                      </a:solidFill>
                      <a:prstDash val="solid"/>
                    </a:lnL>
                    <a:lnR w="12960">
                      <a:solidFill>
                        <a:srgbClr val="E2E7EF"/>
                      </a:solidFill>
                      <a:prstDash val="solid"/>
                    </a:lnR>
                    <a:lnT w="12960">
                      <a:solidFill>
                        <a:srgbClr val="E2E7EF"/>
                      </a:solidFill>
                      <a:prstDash val="solid"/>
                    </a:lnT>
                    <a:lnB w="12960">
                      <a:solidFill>
                        <a:srgbClr val="E2E7EF"/>
                      </a:solidFill>
                      <a:prstDash val="solid"/>
                    </a:lnB>
                    <a:solidFill>
                      <a:srgbClr val="1C375C"/>
                    </a:solidFill>
                  </a:tcPr>
                </a:tc>
                <a:tc>
                  <a:txBody>
                    <a:bodyPr lIns="27360" tIns="27360" rIns="27360" bIns="27360" anchor="t" anchorCtr="1">
                      <a:noAutofit/>
                    </a:bodyPr>
                    <a:p>
                      <a:r>
                        <a:rPr lang="en-US" sz="1000" b="1" u="none" strike="noStrike">
                          <a:solidFill>
                            <a:srgbClr val="FFFFFF"/>
                          </a:solidFill>
                          <a:effectLst/>
                          <a:uFillTx/>
                          <a:latin typeface="Calibri-Bold"/>
                          <a:ea typeface="Calibri-Bold"/>
                        </a:rPr>
                        <a:t>Cancer type(s) in cohort</a:t>
                      </a:r>
                      <a:endParaRPr lang="en-US" sz="1000" b="0" u="none" strike="noStrike">
                        <a:solidFill>
                          <a:srgbClr val="FFFFFF"/>
                        </a:solidFill>
                        <a:effectLst/>
                        <a:uFillTx/>
                        <a:latin typeface="Arial"/>
                      </a:endParaRPr>
                    </a:p>
                  </a:txBody>
                  <a:tcPr anchor="t" marL="27360" marR="27360" marT="27360" marB="27360">
                    <a:lnL w="12960">
                      <a:solidFill>
                        <a:srgbClr val="E2E7EF"/>
                      </a:solidFill>
                      <a:prstDash val="solid"/>
                    </a:lnL>
                    <a:lnR w="12960">
                      <a:solidFill>
                        <a:srgbClr val="E2E7EF"/>
                      </a:solidFill>
                      <a:prstDash val="solid"/>
                    </a:lnR>
                    <a:lnT w="12960">
                      <a:solidFill>
                        <a:srgbClr val="E2E7EF"/>
                      </a:solidFill>
                      <a:prstDash val="solid"/>
                    </a:lnT>
                    <a:lnB w="12960">
                      <a:solidFill>
                        <a:srgbClr val="E2E7EF"/>
                      </a:solidFill>
                      <a:prstDash val="solid"/>
                    </a:lnB>
                    <a:solidFill>
                      <a:srgbClr val="1C375C"/>
                    </a:solidFill>
                  </a:tcPr>
                </a:tc>
                <a:tc>
                  <a:txBody>
                    <a:bodyPr lIns="27360" tIns="27360" rIns="27360" bIns="27360" anchor="t" anchorCtr="1">
                      <a:noAutofit/>
                    </a:bodyPr>
                    <a:p>
                      <a:r>
                        <a:rPr lang="en-US" sz="1000" b="1" u="none" strike="noStrike">
                          <a:solidFill>
                            <a:srgbClr val="FFFFFF"/>
                          </a:solidFill>
                          <a:effectLst/>
                          <a:uFillTx/>
                          <a:latin typeface="Calibri-Bold"/>
                          <a:ea typeface="Calibri-Bold"/>
                        </a:rPr>
                        <a:t>Score</a:t>
                      </a:r>
                      <a:endParaRPr lang="en-US" sz="1000" b="0" u="none" strike="noStrike">
                        <a:solidFill>
                          <a:srgbClr val="FFFFFF"/>
                        </a:solidFill>
                        <a:effectLst/>
                        <a:uFillTx/>
                        <a:latin typeface="Arial"/>
                      </a:endParaRPr>
                    </a:p>
                  </a:txBody>
                  <a:tcPr anchor="t" marL="27360" marR="27360" marT="27360" marB="27360">
                    <a:lnL w="12960">
                      <a:solidFill>
                        <a:srgbClr val="E2E7EF"/>
                      </a:solidFill>
                      <a:prstDash val="solid"/>
                    </a:lnL>
                    <a:lnR w="12960">
                      <a:solidFill>
                        <a:srgbClr val="E2E7EF"/>
                      </a:solidFill>
                      <a:prstDash val="solid"/>
                    </a:lnR>
                    <a:lnT w="12960">
                      <a:solidFill>
                        <a:srgbClr val="E2E7EF"/>
                      </a:solidFill>
                      <a:prstDash val="solid"/>
                    </a:lnT>
                    <a:lnB w="12960">
                      <a:solidFill>
                        <a:srgbClr val="E2E7EF"/>
                      </a:solidFill>
                      <a:prstDash val="solid"/>
                    </a:lnB>
                    <a:solidFill>
                      <a:srgbClr val="1C375C"/>
                    </a:solidFill>
                  </a:tcPr>
                </a:tc>
                <a:tc>
                  <a:txBody>
                    <a:bodyPr lIns="27360" tIns="27360" rIns="27360" bIns="27360" anchor="t" anchorCtr="1">
                      <a:noAutofit/>
                    </a:bodyPr>
                    <a:p>
                      <a:r>
                        <a:rPr lang="en-US" sz="1000" b="1" u="none" strike="noStrike">
                          <a:solidFill>
                            <a:srgbClr val="FFFFFF"/>
                          </a:solidFill>
                          <a:effectLst/>
                          <a:uFillTx/>
                          <a:latin typeface="Calibri-Bold"/>
                          <a:ea typeface="Calibri-Bold"/>
                        </a:rPr>
                        <a:t>Probability that it will be reclassified in the next two years</a:t>
                      </a:r>
                      <a:endParaRPr lang="en-US" sz="1000" b="0" u="none" strike="noStrike">
                        <a:solidFill>
                          <a:srgbClr val="FFFFFF"/>
                        </a:solidFill>
                        <a:effectLst/>
                        <a:uFillTx/>
                        <a:latin typeface="Arial"/>
                      </a:endParaRPr>
                    </a:p>
                  </a:txBody>
                  <a:tcPr anchor="t" marL="27360" marR="27360" marT="27360" marB="27360">
                    <a:lnL w="12960">
                      <a:solidFill>
                        <a:srgbClr val="E2E7EF"/>
                      </a:solidFill>
                      <a:prstDash val="solid"/>
                    </a:lnL>
                    <a:lnR w="12960">
                      <a:solidFill>
                        <a:srgbClr val="E2E7EF"/>
                      </a:solidFill>
                      <a:prstDash val="solid"/>
                    </a:lnR>
                    <a:lnT w="12960">
                      <a:solidFill>
                        <a:srgbClr val="E2E7EF"/>
                      </a:solidFill>
                      <a:prstDash val="solid"/>
                    </a:lnT>
                    <a:lnB w="12960">
                      <a:solidFill>
                        <a:srgbClr val="E2E7EF"/>
                      </a:solidFill>
                      <a:prstDash val="solid"/>
                    </a:lnB>
                    <a:solidFill>
                      <a:srgbClr val="1C375C"/>
                    </a:solidFill>
                  </a:tcPr>
                </a:tc>
              </a:tr>
              <a:tr h="286920">
                <a:tc>
                  <a:txBody>
                    <a:bodyPr lIns="27360" tIns="27360" rIns="27360" bIns="27360" anchor="t" anchorCtr="1">
                      <a:noAutofit/>
                    </a:bodyPr>
                    <a:p>
                      <a:r>
                        <a:t>64893</a:t>
                      </a:r>
                    </a:p>
                  </a:txBody>
                  <a:tcPr anchor="t" marL="27360" marR="27360" marT="27360" marB="27360">
                    <a:lnL w="12960">
                      <a:solidFill>
                        <a:srgbClr val="E2E7EF"/>
                      </a:solidFill>
                      <a:prstDash val="solid"/>
                    </a:lnL>
                    <a:lnR w="12960">
                      <a:solidFill>
                        <a:srgbClr val="E2E7EF"/>
                      </a:solidFill>
                      <a:prstDash val="solid"/>
                    </a:lnR>
                    <a:lnT w="12960">
                      <a:solidFill>
                        <a:srgbClr val="E2E7EF"/>
                      </a:solidFill>
                      <a:prstDash val="solid"/>
                    </a:lnT>
                    <a:lnB w="12960">
                      <a:solidFill>
                        <a:srgbClr val="E2E7EF"/>
                      </a:solidFill>
                      <a:prstDash val="solid"/>
                    </a:lnB>
                    <a:solidFill>
                      <a:srgbClr val="FFFFFF"/>
                    </a:solidFill>
                  </a:tcPr>
                </a:tc>
                <a:tc>
                  <a:txBody>
                    <a:bodyPr lIns="27360" tIns="27360" rIns="27360" bIns="27360" anchor="t" anchorCtr="1">
                      <a:noAutofit/>
                    </a:bodyPr>
                    <a:p>
                      <a:r>
                        <a:t>TSC2</a:t>
                      </a:r>
                    </a:p>
                  </a:txBody>
                  <a:tcPr anchor="t" marL="27360" marR="27360" marT="27360" marB="27360">
                    <a:lnL w="12960">
                      <a:solidFill>
                        <a:srgbClr val="E2E7EF"/>
                      </a:solidFill>
                      <a:prstDash val="solid"/>
                    </a:lnL>
                    <a:lnR w="12960">
                      <a:solidFill>
                        <a:srgbClr val="E2E7EF"/>
                      </a:solidFill>
                      <a:prstDash val="solid"/>
                    </a:lnR>
                    <a:lnT w="12960">
                      <a:solidFill>
                        <a:srgbClr val="E2E7EF"/>
                      </a:solidFill>
                      <a:prstDash val="solid"/>
                    </a:lnT>
                    <a:lnB w="12960">
                      <a:solidFill>
                        <a:srgbClr val="E2E7EF"/>
                      </a:solidFill>
                      <a:prstDash val="solid"/>
                    </a:lnB>
                    <a:solidFill>
                      <a:srgbClr val="FFFFFF"/>
                    </a:solidFill>
                  </a:tcPr>
                </a:tc>
                <a:tc>
                  <a:txBody>
                    <a:bodyPr lIns="27360" tIns="27360" rIns="27360" bIns="27360" anchor="t" anchorCtr="1">
                      <a:noAutofit/>
                    </a:bodyPr>
                    <a:p>
                      <a:r>
                        <a:t>COAD, OV, PRAD, SKCM, STAD</a:t>
                      </a:r>
                    </a:p>
                  </a:txBody>
                  <a:tcPr anchor="t" marL="27360" marR="27360" marT="27360" marB="27360">
                    <a:lnL w="12960">
                      <a:solidFill>
                        <a:srgbClr val="E2E7EF"/>
                      </a:solidFill>
                      <a:prstDash val="solid"/>
                    </a:lnL>
                    <a:lnR w="12960">
                      <a:solidFill>
                        <a:srgbClr val="E2E7EF"/>
                      </a:solidFill>
                      <a:prstDash val="solid"/>
                    </a:lnR>
                    <a:lnT w="12960">
                      <a:solidFill>
                        <a:srgbClr val="E2E7EF"/>
                      </a:solidFill>
                      <a:prstDash val="solid"/>
                    </a:lnT>
                    <a:lnB w="12960">
                      <a:solidFill>
                        <a:srgbClr val="E2E7EF"/>
                      </a:solidFill>
                      <a:prstDash val="solid"/>
                    </a:lnB>
                    <a:solidFill>
                      <a:srgbClr val="FFFFFF"/>
                    </a:solidFill>
                  </a:tcPr>
                </a:tc>
                <a:tc>
                  <a:txBody>
                    <a:bodyPr lIns="27360" tIns="27360" rIns="27360" bIns="27360" anchor="t" anchorCtr="1">
                      <a:noAutofit/>
                    </a:bodyPr>
                    <a:p>
                      <a:r>
                        <a:t>0.993</a:t>
                      </a:r>
                    </a:p>
                  </a:txBody>
                  <a:tcPr anchor="t" marL="27360" marR="27360" marT="27360" marB="27360">
                    <a:lnL w="12960">
                      <a:solidFill>
                        <a:srgbClr val="E2E7EF"/>
                      </a:solidFill>
                      <a:prstDash val="solid"/>
                    </a:lnL>
                    <a:lnR w="12960">
                      <a:solidFill>
                        <a:srgbClr val="E2E7EF"/>
                      </a:solidFill>
                      <a:prstDash val="solid"/>
                    </a:lnR>
                    <a:lnT w="12960">
                      <a:solidFill>
                        <a:srgbClr val="E2E7EF"/>
                      </a:solidFill>
                      <a:prstDash val="solid"/>
                    </a:lnT>
                    <a:lnB w="12960">
                      <a:solidFill>
                        <a:srgbClr val="E2E7EF"/>
                      </a:solidFill>
                      <a:prstDash val="solid"/>
                    </a:lnB>
                    <a:solidFill>
                      <a:srgbClr val="FFFFFF"/>
                    </a:solidFill>
                  </a:tcPr>
                </a:tc>
                <a:tc>
                  <a:txBody>
                    <a:bodyPr lIns="27360" tIns="27360" rIns="27360" bIns="27360" anchor="t" anchorCtr="1">
                      <a:noAutofit/>
                    </a:bodyPr>
                    <a:p>
                      <a:r>
                        <a:t>3.4%</a:t>
                      </a:r>
                    </a:p>
                  </a:txBody>
                  <a:tcPr anchor="t" marL="27360" marR="27360" marT="27360" marB="27360">
                    <a:lnL w="12960">
                      <a:solidFill>
                        <a:srgbClr val="E2E7EF"/>
                      </a:solidFill>
                      <a:prstDash val="solid"/>
                    </a:lnL>
                    <a:lnR w="12960">
                      <a:solidFill>
                        <a:srgbClr val="E2E7EF"/>
                      </a:solidFill>
                      <a:prstDash val="solid"/>
                    </a:lnR>
                    <a:lnT w="12960">
                      <a:solidFill>
                        <a:srgbClr val="E2E7EF"/>
                      </a:solidFill>
                      <a:prstDash val="solid"/>
                    </a:lnT>
                    <a:lnB w="12960">
                      <a:solidFill>
                        <a:srgbClr val="E2E7EF"/>
                      </a:solidFill>
                      <a:prstDash val="solid"/>
                    </a:lnB>
                    <a:solidFill>
                      <a:srgbClr val="FFFFFF"/>
                    </a:solidFill>
                  </a:tcPr>
                </a:tc>
              </a:tr>
              <a:tr h="286920">
                <a:tc>
                  <a:txBody>
                    <a:bodyPr lIns="27360" tIns="27360" rIns="27360" bIns="27360" anchor="t" anchorCtr="1">
                      <a:noAutofit/>
                    </a:bodyPr>
                    <a:p>
                      <a:r>
                        <a:t>2500065</a:t>
                      </a:r>
                    </a:p>
                  </a:txBody>
                  <a:tcPr anchor="t" marL="27360" marR="27360" marT="27360" marB="27360">
                    <a:lnL w="12960">
                      <a:solidFill>
                        <a:srgbClr val="E2E7EF"/>
                      </a:solidFill>
                      <a:prstDash val="solid"/>
                    </a:lnL>
                    <a:lnR w="12960">
                      <a:solidFill>
                        <a:srgbClr val="E2E7EF"/>
                      </a:solidFill>
                      <a:prstDash val="solid"/>
                    </a:lnR>
                    <a:lnT w="12960">
                      <a:solidFill>
                        <a:srgbClr val="E2E7EF"/>
                      </a:solidFill>
                      <a:prstDash val="solid"/>
                    </a:lnT>
                    <a:lnB w="12960">
                      <a:solidFill>
                        <a:srgbClr val="E2E7EF"/>
                      </a:solidFill>
                      <a:prstDash val="solid"/>
                    </a:lnB>
                    <a:solidFill>
                      <a:srgbClr val="F2F5F9"/>
                    </a:solidFill>
                  </a:tcPr>
                </a:tc>
                <a:tc>
                  <a:txBody>
                    <a:bodyPr lIns="27360" tIns="27360" rIns="27360" bIns="27360" anchor="t" anchorCtr="1">
                      <a:noAutofit/>
                    </a:bodyPr>
                    <a:p>
                      <a:r>
                        <a:t>NEDD4L</a:t>
                      </a:r>
                    </a:p>
                  </a:txBody>
                  <a:tcPr anchor="t" marL="27360" marR="27360" marT="27360" marB="27360">
                    <a:lnL w="12960">
                      <a:solidFill>
                        <a:srgbClr val="E2E7EF"/>
                      </a:solidFill>
                      <a:prstDash val="solid"/>
                    </a:lnL>
                    <a:lnR w="12960">
                      <a:solidFill>
                        <a:srgbClr val="E2E7EF"/>
                      </a:solidFill>
                      <a:prstDash val="solid"/>
                    </a:lnR>
                    <a:lnT w="12960">
                      <a:solidFill>
                        <a:srgbClr val="E2E7EF"/>
                      </a:solidFill>
                      <a:prstDash val="solid"/>
                    </a:lnT>
                    <a:lnB w="12960">
                      <a:solidFill>
                        <a:srgbClr val="E2E7EF"/>
                      </a:solidFill>
                      <a:prstDash val="solid"/>
                    </a:lnB>
                    <a:solidFill>
                      <a:srgbClr val="F2F5F9"/>
                    </a:solidFill>
                  </a:tcPr>
                </a:tc>
                <a:tc>
                  <a:txBody>
                    <a:bodyPr lIns="27360" tIns="27360" rIns="27360" bIns="27360" anchor="t" anchorCtr="1">
                      <a:noAutofit/>
                    </a:bodyPr>
                    <a:p>
                      <a:r>
                        <a:t>SKCM</a:t>
                      </a:r>
                    </a:p>
                  </a:txBody>
                  <a:tcPr anchor="t" marL="27360" marR="27360" marT="27360" marB="27360">
                    <a:lnL w="12960">
                      <a:solidFill>
                        <a:srgbClr val="E2E7EF"/>
                      </a:solidFill>
                      <a:prstDash val="solid"/>
                    </a:lnL>
                    <a:lnR w="12960">
                      <a:solidFill>
                        <a:srgbClr val="E2E7EF"/>
                      </a:solidFill>
                      <a:prstDash val="solid"/>
                    </a:lnR>
                    <a:lnT w="12960">
                      <a:solidFill>
                        <a:srgbClr val="E2E7EF"/>
                      </a:solidFill>
                      <a:prstDash val="solid"/>
                    </a:lnT>
                    <a:lnB w="12960">
                      <a:solidFill>
                        <a:srgbClr val="E2E7EF"/>
                      </a:solidFill>
                      <a:prstDash val="solid"/>
                    </a:lnB>
                    <a:solidFill>
                      <a:srgbClr val="F2F5F9"/>
                    </a:solidFill>
                  </a:tcPr>
                </a:tc>
                <a:tc>
                  <a:txBody>
                    <a:bodyPr lIns="27360" tIns="27360" rIns="27360" bIns="27360" anchor="t" anchorCtr="1">
                      <a:noAutofit/>
                    </a:bodyPr>
                    <a:p>
                      <a:r>
                        <a:t>0.993</a:t>
                      </a:r>
                    </a:p>
                  </a:txBody>
                  <a:tcPr anchor="t" marL="27360" marR="27360" marT="27360" marB="27360">
                    <a:lnL w="12960">
                      <a:solidFill>
                        <a:srgbClr val="E2E7EF"/>
                      </a:solidFill>
                      <a:prstDash val="solid"/>
                    </a:lnL>
                    <a:lnR w="12960">
                      <a:solidFill>
                        <a:srgbClr val="E2E7EF"/>
                      </a:solidFill>
                      <a:prstDash val="solid"/>
                    </a:lnR>
                    <a:lnT w="12960">
                      <a:solidFill>
                        <a:srgbClr val="E2E7EF"/>
                      </a:solidFill>
                      <a:prstDash val="solid"/>
                    </a:lnT>
                    <a:lnB w="12960">
                      <a:solidFill>
                        <a:srgbClr val="E2E7EF"/>
                      </a:solidFill>
                      <a:prstDash val="solid"/>
                    </a:lnB>
                    <a:solidFill>
                      <a:srgbClr val="F2F5F9"/>
                    </a:solidFill>
                  </a:tcPr>
                </a:tc>
                <a:tc>
                  <a:txBody>
                    <a:bodyPr lIns="27360" tIns="27360" rIns="27360" bIns="27360" anchor="t" anchorCtr="1">
                      <a:noAutofit/>
                    </a:bodyPr>
                    <a:p>
                      <a:r>
                        <a:t>1.6%</a:t>
                      </a:r>
                    </a:p>
                  </a:txBody>
                  <a:tcPr anchor="t" marL="27360" marR="27360" marT="27360" marB="27360">
                    <a:lnL w="12960">
                      <a:solidFill>
                        <a:srgbClr val="E2E7EF"/>
                      </a:solidFill>
                      <a:prstDash val="solid"/>
                    </a:lnL>
                    <a:lnR w="12960">
                      <a:solidFill>
                        <a:srgbClr val="E2E7EF"/>
                      </a:solidFill>
                      <a:prstDash val="solid"/>
                    </a:lnR>
                    <a:lnT w="12960">
                      <a:solidFill>
                        <a:srgbClr val="E2E7EF"/>
                      </a:solidFill>
                      <a:prstDash val="solid"/>
                    </a:lnT>
                    <a:lnB w="12960">
                      <a:solidFill>
                        <a:srgbClr val="E2E7EF"/>
                      </a:solidFill>
                      <a:prstDash val="solid"/>
                    </a:lnB>
                    <a:solidFill>
                      <a:srgbClr val="F2F5F9"/>
                    </a:solidFill>
                  </a:tcPr>
                </a:tc>
              </a:tr>
              <a:tr h="286920">
                <a:tc>
                  <a:txBody>
                    <a:bodyPr lIns="27360" tIns="27360" rIns="27360" bIns="27360" anchor="t" anchorCtr="1">
                      <a:noAutofit/>
                    </a:bodyPr>
                    <a:p>
                      <a:r>
                        <a:t>1519256</a:t>
                      </a:r>
                    </a:p>
                  </a:txBody>
                  <a:tcPr anchor="t" marL="27360" marR="27360" marT="27360" marB="27360">
                    <a:lnL w="12960">
                      <a:solidFill>
                        <a:srgbClr val="E2E7EF"/>
                      </a:solidFill>
                      <a:prstDash val="solid"/>
                    </a:lnL>
                    <a:lnR w="12960">
                      <a:solidFill>
                        <a:srgbClr val="E2E7EF"/>
                      </a:solidFill>
                      <a:prstDash val="solid"/>
                    </a:lnR>
                    <a:lnT w="12960">
                      <a:solidFill>
                        <a:srgbClr val="E2E7EF"/>
                      </a:solidFill>
                      <a:prstDash val="solid"/>
                    </a:lnT>
                    <a:lnB w="12960">
                      <a:solidFill>
                        <a:srgbClr val="E2E7EF"/>
                      </a:solidFill>
                      <a:prstDash val="solid"/>
                    </a:lnB>
                    <a:solidFill>
                      <a:srgbClr val="FFFFFF"/>
                    </a:solidFill>
                  </a:tcPr>
                </a:tc>
                <a:tc>
                  <a:txBody>
                    <a:bodyPr lIns="27360" tIns="27360" rIns="27360" bIns="27360" anchor="t" anchorCtr="1">
                      <a:noAutofit/>
                    </a:bodyPr>
                    <a:p>
                      <a:r>
                        <a:t>MTOR</a:t>
                      </a:r>
                    </a:p>
                  </a:txBody>
                  <a:tcPr anchor="t" marL="27360" marR="27360" marT="27360" marB="27360">
                    <a:lnL w="12960">
                      <a:solidFill>
                        <a:srgbClr val="E2E7EF"/>
                      </a:solidFill>
                      <a:prstDash val="solid"/>
                    </a:lnL>
                    <a:lnR w="12960">
                      <a:solidFill>
                        <a:srgbClr val="E2E7EF"/>
                      </a:solidFill>
                      <a:prstDash val="solid"/>
                    </a:lnR>
                    <a:lnT w="12960">
                      <a:solidFill>
                        <a:srgbClr val="E2E7EF"/>
                      </a:solidFill>
                      <a:prstDash val="solid"/>
                    </a:lnT>
                    <a:lnB w="12960">
                      <a:solidFill>
                        <a:srgbClr val="E2E7EF"/>
                      </a:solidFill>
                      <a:prstDash val="solid"/>
                    </a:lnB>
                    <a:solidFill>
                      <a:srgbClr val="FFFFFF"/>
                    </a:solidFill>
                  </a:tcPr>
                </a:tc>
                <a:tc>
                  <a:txBody>
                    <a:bodyPr lIns="27360" tIns="27360" rIns="27360" bIns="27360" anchor="t" anchorCtr="1">
                      <a:noAutofit/>
                    </a:bodyPr>
                    <a:p>
                      <a:r>
                        <a:t>BRCA, COAD, OV</a:t>
                      </a:r>
                    </a:p>
                  </a:txBody>
                  <a:tcPr anchor="t" marL="27360" marR="27360" marT="27360" marB="27360">
                    <a:lnL w="12960">
                      <a:solidFill>
                        <a:srgbClr val="E2E7EF"/>
                      </a:solidFill>
                      <a:prstDash val="solid"/>
                    </a:lnL>
                    <a:lnR w="12960">
                      <a:solidFill>
                        <a:srgbClr val="E2E7EF"/>
                      </a:solidFill>
                      <a:prstDash val="solid"/>
                    </a:lnR>
                    <a:lnT w="12960">
                      <a:solidFill>
                        <a:srgbClr val="E2E7EF"/>
                      </a:solidFill>
                      <a:prstDash val="solid"/>
                    </a:lnT>
                    <a:lnB w="12960">
                      <a:solidFill>
                        <a:srgbClr val="E2E7EF"/>
                      </a:solidFill>
                      <a:prstDash val="solid"/>
                    </a:lnB>
                    <a:solidFill>
                      <a:srgbClr val="FFFFFF"/>
                    </a:solidFill>
                  </a:tcPr>
                </a:tc>
                <a:tc>
                  <a:txBody>
                    <a:bodyPr lIns="27360" tIns="27360" rIns="27360" bIns="27360" anchor="t" anchorCtr="1">
                      <a:noAutofit/>
                    </a:bodyPr>
                    <a:p>
                      <a:r>
                        <a:t>0.993</a:t>
                      </a:r>
                    </a:p>
                  </a:txBody>
                  <a:tcPr anchor="t" marL="27360" marR="27360" marT="27360" marB="27360">
                    <a:lnL w="12960">
                      <a:solidFill>
                        <a:srgbClr val="E2E7EF"/>
                      </a:solidFill>
                      <a:prstDash val="solid"/>
                    </a:lnL>
                    <a:lnR w="12960">
                      <a:solidFill>
                        <a:srgbClr val="E2E7EF"/>
                      </a:solidFill>
                      <a:prstDash val="solid"/>
                    </a:lnR>
                    <a:lnT w="12960">
                      <a:solidFill>
                        <a:srgbClr val="E2E7EF"/>
                      </a:solidFill>
                      <a:prstDash val="solid"/>
                    </a:lnT>
                    <a:lnB w="12960">
                      <a:solidFill>
                        <a:srgbClr val="E2E7EF"/>
                      </a:solidFill>
                      <a:prstDash val="solid"/>
                    </a:lnB>
                    <a:solidFill>
                      <a:srgbClr val="FFFFFF"/>
                    </a:solidFill>
                  </a:tcPr>
                </a:tc>
                <a:tc>
                  <a:txBody>
                    <a:bodyPr lIns="27360" tIns="27360" rIns="27360" bIns="27360" anchor="t" anchorCtr="1">
                      <a:noAutofit/>
                    </a:bodyPr>
                    <a:p>
                      <a:r>
                        <a:t>4.5%</a:t>
                      </a:r>
                    </a:p>
                  </a:txBody>
                  <a:tcPr anchor="t" marL="27360" marR="27360" marT="27360" marB="27360">
                    <a:lnL w="12960">
                      <a:solidFill>
                        <a:srgbClr val="E2E7EF"/>
                      </a:solidFill>
                      <a:prstDash val="solid"/>
                    </a:lnL>
                    <a:lnR w="12960">
                      <a:solidFill>
                        <a:srgbClr val="E2E7EF"/>
                      </a:solidFill>
                      <a:prstDash val="solid"/>
                    </a:lnR>
                    <a:lnT w="12960">
                      <a:solidFill>
                        <a:srgbClr val="E2E7EF"/>
                      </a:solidFill>
                      <a:prstDash val="solid"/>
                    </a:lnT>
                    <a:lnB w="12960">
                      <a:solidFill>
                        <a:srgbClr val="E2E7EF"/>
                      </a:solidFill>
                      <a:prstDash val="solid"/>
                    </a:lnB>
                    <a:solidFill>
                      <a:srgbClr val="FFFFFF"/>
                    </a:solidFill>
                  </a:tcPr>
                </a:tc>
              </a:tr>
              <a:tr h="286920">
                <a:tc>
                  <a:txBody>
                    <a:bodyPr lIns="27360" tIns="27360" rIns="27360" bIns="27360" anchor="t" anchorCtr="1">
                      <a:noAutofit/>
                    </a:bodyPr>
                    <a:p>
                      <a:r>
                        <a:t>2128490</a:t>
                      </a:r>
                    </a:p>
                  </a:txBody>
                  <a:tcPr anchor="t" marL="27360" marR="27360" marT="27360" marB="27360">
                    <a:lnL w="12960">
                      <a:solidFill>
                        <a:srgbClr val="E2E7EF"/>
                      </a:solidFill>
                      <a:prstDash val="solid"/>
                    </a:lnL>
                    <a:lnR w="12960">
                      <a:solidFill>
                        <a:srgbClr val="E2E7EF"/>
                      </a:solidFill>
                      <a:prstDash val="solid"/>
                    </a:lnR>
                    <a:lnT w="12960">
                      <a:solidFill>
                        <a:srgbClr val="E2E7EF"/>
                      </a:solidFill>
                      <a:prstDash val="solid"/>
                    </a:lnT>
                    <a:lnB w="12960">
                      <a:solidFill>
                        <a:srgbClr val="E2E7EF"/>
                      </a:solidFill>
                      <a:prstDash val="solid"/>
                    </a:lnB>
                    <a:solidFill>
                      <a:srgbClr val="F2F5F9"/>
                    </a:solidFill>
                  </a:tcPr>
                </a:tc>
                <a:tc>
                  <a:txBody>
                    <a:bodyPr lIns="27360" tIns="27360" rIns="27360" bIns="27360" anchor="t" anchorCtr="1">
                      <a:noAutofit/>
                    </a:bodyPr>
                    <a:p>
                      <a:r>
                        <a:t>MTOR</a:t>
                      </a:r>
                    </a:p>
                  </a:txBody>
                  <a:tcPr anchor="t" marL="27360" marR="27360" marT="27360" marB="27360">
                    <a:lnL w="12960">
                      <a:solidFill>
                        <a:srgbClr val="E2E7EF"/>
                      </a:solidFill>
                      <a:prstDash val="solid"/>
                    </a:lnL>
                    <a:lnR w="12960">
                      <a:solidFill>
                        <a:srgbClr val="E2E7EF"/>
                      </a:solidFill>
                      <a:prstDash val="solid"/>
                    </a:lnR>
                    <a:lnT w="12960">
                      <a:solidFill>
                        <a:srgbClr val="E2E7EF"/>
                      </a:solidFill>
                      <a:prstDash val="solid"/>
                    </a:lnT>
                    <a:lnB w="12960">
                      <a:solidFill>
                        <a:srgbClr val="E2E7EF"/>
                      </a:solidFill>
                      <a:prstDash val="solid"/>
                    </a:lnB>
                    <a:solidFill>
                      <a:srgbClr val="F2F5F9"/>
                    </a:solidFill>
                  </a:tcPr>
                </a:tc>
                <a:tc>
                  <a:txBody>
                    <a:bodyPr lIns="27360" tIns="27360" rIns="27360" bIns="27360" anchor="t" anchorCtr="1">
                      <a:noAutofit/>
                    </a:bodyPr>
                    <a:p>
                      <a:r>
                        <a:t>BRCA, COAD, OV</a:t>
                      </a:r>
                    </a:p>
                  </a:txBody>
                  <a:tcPr anchor="t" marL="27360" marR="27360" marT="27360" marB="27360">
                    <a:lnL w="12960">
                      <a:solidFill>
                        <a:srgbClr val="E2E7EF"/>
                      </a:solidFill>
                      <a:prstDash val="solid"/>
                    </a:lnL>
                    <a:lnR w="12960">
                      <a:solidFill>
                        <a:srgbClr val="E2E7EF"/>
                      </a:solidFill>
                      <a:prstDash val="solid"/>
                    </a:lnR>
                    <a:lnT w="12960">
                      <a:solidFill>
                        <a:srgbClr val="E2E7EF"/>
                      </a:solidFill>
                      <a:prstDash val="solid"/>
                    </a:lnT>
                    <a:lnB w="12960">
                      <a:solidFill>
                        <a:srgbClr val="E2E7EF"/>
                      </a:solidFill>
                      <a:prstDash val="solid"/>
                    </a:lnB>
                    <a:solidFill>
                      <a:srgbClr val="F2F5F9"/>
                    </a:solidFill>
                  </a:tcPr>
                </a:tc>
                <a:tc>
                  <a:txBody>
                    <a:bodyPr lIns="27360" tIns="27360" rIns="27360" bIns="27360" anchor="t" anchorCtr="1">
                      <a:noAutofit/>
                    </a:bodyPr>
                    <a:p>
                      <a:r>
                        <a:t>0.993</a:t>
                      </a:r>
                    </a:p>
                  </a:txBody>
                  <a:tcPr anchor="t" marL="27360" marR="27360" marT="27360" marB="27360">
                    <a:lnL w="12960">
                      <a:solidFill>
                        <a:srgbClr val="E2E7EF"/>
                      </a:solidFill>
                      <a:prstDash val="solid"/>
                    </a:lnL>
                    <a:lnR w="12960">
                      <a:solidFill>
                        <a:srgbClr val="E2E7EF"/>
                      </a:solidFill>
                      <a:prstDash val="solid"/>
                    </a:lnR>
                    <a:lnT w="12960">
                      <a:solidFill>
                        <a:srgbClr val="E2E7EF"/>
                      </a:solidFill>
                      <a:prstDash val="solid"/>
                    </a:lnT>
                    <a:lnB w="12960">
                      <a:solidFill>
                        <a:srgbClr val="E2E7EF"/>
                      </a:solidFill>
                      <a:prstDash val="solid"/>
                    </a:lnB>
                    <a:solidFill>
                      <a:srgbClr val="F2F5F9"/>
                    </a:solidFill>
                  </a:tcPr>
                </a:tc>
                <a:tc>
                  <a:txBody>
                    <a:bodyPr lIns="27360" tIns="27360" rIns="27360" bIns="27360" anchor="t" anchorCtr="1">
                      <a:noAutofit/>
                    </a:bodyPr>
                    <a:p>
                      <a:r>
                        <a:t>4.5%</a:t>
                      </a:r>
                    </a:p>
                  </a:txBody>
                  <a:tcPr anchor="t" marL="27360" marR="27360" marT="27360" marB="27360">
                    <a:lnL w="12960">
                      <a:solidFill>
                        <a:srgbClr val="E2E7EF"/>
                      </a:solidFill>
                      <a:prstDash val="solid"/>
                    </a:lnL>
                    <a:lnR w="12960">
                      <a:solidFill>
                        <a:srgbClr val="E2E7EF"/>
                      </a:solidFill>
                      <a:prstDash val="solid"/>
                    </a:lnR>
                    <a:lnT w="12960">
                      <a:solidFill>
                        <a:srgbClr val="E2E7EF"/>
                      </a:solidFill>
                      <a:prstDash val="solid"/>
                    </a:lnT>
                    <a:lnB w="12960">
                      <a:solidFill>
                        <a:srgbClr val="E2E7EF"/>
                      </a:solidFill>
                      <a:prstDash val="solid"/>
                    </a:lnB>
                    <a:solidFill>
                      <a:srgbClr val="F2F5F9"/>
                    </a:solidFill>
                  </a:tcPr>
                </a:tc>
              </a:tr>
              <a:tr h="286920">
                <a:tc>
                  <a:txBody>
                    <a:bodyPr lIns="27360" tIns="27360" rIns="27360" bIns="27360" anchor="t" anchorCtr="1">
                      <a:noAutofit/>
                    </a:bodyPr>
                    <a:p>
                      <a:r>
                        <a:t>1017291</a:t>
                      </a:r>
                    </a:p>
                  </a:txBody>
                  <a:tcPr anchor="t" marL="27360" marR="27360" marT="27360" marB="27360">
                    <a:lnL w="12960">
                      <a:solidFill>
                        <a:srgbClr val="E2E7EF"/>
                      </a:solidFill>
                      <a:prstDash val="solid"/>
                    </a:lnL>
                    <a:lnR w="12960">
                      <a:solidFill>
                        <a:srgbClr val="E2E7EF"/>
                      </a:solidFill>
                      <a:prstDash val="solid"/>
                    </a:lnR>
                    <a:lnT w="12960">
                      <a:solidFill>
                        <a:srgbClr val="E2E7EF"/>
                      </a:solidFill>
                      <a:prstDash val="solid"/>
                    </a:lnT>
                    <a:lnB w="12960">
                      <a:solidFill>
                        <a:srgbClr val="E2E7EF"/>
                      </a:solidFill>
                      <a:prstDash val="solid"/>
                    </a:lnB>
                    <a:solidFill>
                      <a:srgbClr val="FFFFFF"/>
                    </a:solidFill>
                  </a:tcPr>
                </a:tc>
                <a:tc>
                  <a:txBody>
                    <a:bodyPr lIns="27360" tIns="27360" rIns="27360" bIns="27360" anchor="t" anchorCtr="1">
                      <a:noAutofit/>
                    </a:bodyPr>
                    <a:p>
                      <a:r>
                        <a:t>MTOR</a:t>
                      </a:r>
                    </a:p>
                  </a:txBody>
                  <a:tcPr anchor="t" marL="27360" marR="27360" marT="27360" marB="27360">
                    <a:lnL w="12960">
                      <a:solidFill>
                        <a:srgbClr val="E2E7EF"/>
                      </a:solidFill>
                      <a:prstDash val="solid"/>
                    </a:lnL>
                    <a:lnR w="12960">
                      <a:solidFill>
                        <a:srgbClr val="E2E7EF"/>
                      </a:solidFill>
                      <a:prstDash val="solid"/>
                    </a:lnR>
                    <a:lnT w="12960">
                      <a:solidFill>
                        <a:srgbClr val="E2E7EF"/>
                      </a:solidFill>
                      <a:prstDash val="solid"/>
                    </a:lnT>
                    <a:lnB w="12960">
                      <a:solidFill>
                        <a:srgbClr val="E2E7EF"/>
                      </a:solidFill>
                      <a:prstDash val="solid"/>
                    </a:lnB>
                    <a:solidFill>
                      <a:srgbClr val="FFFFFF"/>
                    </a:solidFill>
                  </a:tcPr>
                </a:tc>
                <a:tc>
                  <a:txBody>
                    <a:bodyPr lIns="27360" tIns="27360" rIns="27360" bIns="27360" anchor="t" anchorCtr="1">
                      <a:noAutofit/>
                    </a:bodyPr>
                    <a:p>
                      <a:r>
                        <a:t>BRCA, COAD, OV</a:t>
                      </a:r>
                    </a:p>
                  </a:txBody>
                  <a:tcPr anchor="t" marL="27360" marR="27360" marT="27360" marB="27360">
                    <a:lnL w="12960">
                      <a:solidFill>
                        <a:srgbClr val="E2E7EF"/>
                      </a:solidFill>
                      <a:prstDash val="solid"/>
                    </a:lnL>
                    <a:lnR w="12960">
                      <a:solidFill>
                        <a:srgbClr val="E2E7EF"/>
                      </a:solidFill>
                      <a:prstDash val="solid"/>
                    </a:lnR>
                    <a:lnT w="12960">
                      <a:solidFill>
                        <a:srgbClr val="E2E7EF"/>
                      </a:solidFill>
                      <a:prstDash val="solid"/>
                    </a:lnT>
                    <a:lnB w="12960">
                      <a:solidFill>
                        <a:srgbClr val="E2E7EF"/>
                      </a:solidFill>
                      <a:prstDash val="solid"/>
                    </a:lnB>
                    <a:solidFill>
                      <a:srgbClr val="FFFFFF"/>
                    </a:solidFill>
                  </a:tcPr>
                </a:tc>
                <a:tc>
                  <a:txBody>
                    <a:bodyPr lIns="27360" tIns="27360" rIns="27360" bIns="27360" anchor="t" anchorCtr="1">
                      <a:noAutofit/>
                    </a:bodyPr>
                    <a:p>
                      <a:r>
                        <a:t>0.993</a:t>
                      </a:r>
                    </a:p>
                  </a:txBody>
                  <a:tcPr anchor="t" marL="27360" marR="27360" marT="27360" marB="27360">
                    <a:lnL w="12960">
                      <a:solidFill>
                        <a:srgbClr val="E2E7EF"/>
                      </a:solidFill>
                      <a:prstDash val="solid"/>
                    </a:lnL>
                    <a:lnR w="12960">
                      <a:solidFill>
                        <a:srgbClr val="E2E7EF"/>
                      </a:solidFill>
                      <a:prstDash val="solid"/>
                    </a:lnR>
                    <a:lnT w="12960">
                      <a:solidFill>
                        <a:srgbClr val="E2E7EF"/>
                      </a:solidFill>
                      <a:prstDash val="solid"/>
                    </a:lnT>
                    <a:lnB w="12960">
                      <a:solidFill>
                        <a:srgbClr val="E2E7EF"/>
                      </a:solidFill>
                      <a:prstDash val="solid"/>
                    </a:lnB>
                    <a:solidFill>
                      <a:srgbClr val="FFFFFF"/>
                    </a:solidFill>
                  </a:tcPr>
                </a:tc>
                <a:tc>
                  <a:txBody>
                    <a:bodyPr lIns="27360" tIns="27360" rIns="27360" bIns="27360" anchor="t" anchorCtr="1">
                      <a:noAutofit/>
                    </a:bodyPr>
                    <a:p>
                      <a:r>
                        <a:t>4.5%</a:t>
                      </a:r>
                    </a:p>
                  </a:txBody>
                  <a:tcPr anchor="t" marL="27360" marR="27360" marT="27360" marB="27360">
                    <a:lnL w="12960">
                      <a:solidFill>
                        <a:srgbClr val="E2E7EF"/>
                      </a:solidFill>
                      <a:prstDash val="solid"/>
                    </a:lnL>
                    <a:lnR w="12960">
                      <a:solidFill>
                        <a:srgbClr val="E2E7EF"/>
                      </a:solidFill>
                      <a:prstDash val="solid"/>
                    </a:lnR>
                    <a:lnT w="12960">
                      <a:solidFill>
                        <a:srgbClr val="E2E7EF"/>
                      </a:solidFill>
                      <a:prstDash val="solid"/>
                    </a:lnT>
                    <a:lnB w="12960">
                      <a:solidFill>
                        <a:srgbClr val="E2E7EF"/>
                      </a:solidFill>
                      <a:prstDash val="solid"/>
                    </a:lnB>
                    <a:solidFill>
                      <a:srgbClr val="FFFFFF"/>
                    </a:solidFill>
                  </a:tcPr>
                </a:tc>
              </a:tr>
              <a:tr h="286920">
                <a:tc>
                  <a:txBody>
                    <a:bodyPr lIns="27360" tIns="27360" rIns="27360" bIns="27360" anchor="t" anchorCtr="1">
                      <a:noAutofit/>
                    </a:bodyPr>
                    <a:p>
                      <a:r>
                        <a:t>991092</a:t>
                      </a:r>
                    </a:p>
                  </a:txBody>
                  <a:tcPr anchor="t" marL="27360" marR="27360" marT="27360" marB="27360">
                    <a:lnL w="12960">
                      <a:solidFill>
                        <a:srgbClr val="E2E7EF"/>
                      </a:solidFill>
                      <a:prstDash val="solid"/>
                    </a:lnL>
                    <a:lnR w="12960">
                      <a:solidFill>
                        <a:srgbClr val="E2E7EF"/>
                      </a:solidFill>
                      <a:prstDash val="solid"/>
                    </a:lnR>
                    <a:lnT w="12960">
                      <a:solidFill>
                        <a:srgbClr val="E2E7EF"/>
                      </a:solidFill>
                      <a:prstDash val="solid"/>
                    </a:lnT>
                    <a:lnB w="12960">
                      <a:solidFill>
                        <a:srgbClr val="E2E7EF"/>
                      </a:solidFill>
                      <a:prstDash val="solid"/>
                    </a:lnB>
                    <a:solidFill>
                      <a:srgbClr val="F2F5F9"/>
                    </a:solidFill>
                  </a:tcPr>
                </a:tc>
                <a:tc>
                  <a:txBody>
                    <a:bodyPr lIns="27360" tIns="27360" rIns="27360" bIns="27360" anchor="t" anchorCtr="1">
                      <a:noAutofit/>
                    </a:bodyPr>
                    <a:p>
                      <a:r>
                        <a:t>EYS</a:t>
                      </a:r>
                    </a:p>
                  </a:txBody>
                  <a:tcPr anchor="t" marL="27360" marR="27360" marT="27360" marB="27360">
                    <a:lnL w="12960">
                      <a:solidFill>
                        <a:srgbClr val="E2E7EF"/>
                      </a:solidFill>
                      <a:prstDash val="solid"/>
                    </a:lnL>
                    <a:lnR w="12960">
                      <a:solidFill>
                        <a:srgbClr val="E2E7EF"/>
                      </a:solidFill>
                      <a:prstDash val="solid"/>
                    </a:lnR>
                    <a:lnT w="12960">
                      <a:solidFill>
                        <a:srgbClr val="E2E7EF"/>
                      </a:solidFill>
                      <a:prstDash val="solid"/>
                    </a:lnT>
                    <a:lnB w="12960">
                      <a:solidFill>
                        <a:srgbClr val="E2E7EF"/>
                      </a:solidFill>
                      <a:prstDash val="solid"/>
                    </a:lnB>
                    <a:solidFill>
                      <a:srgbClr val="F2F5F9"/>
                    </a:solidFill>
                  </a:tcPr>
                </a:tc>
                <a:tc>
                  <a:txBody>
                    <a:bodyPr lIns="27360" tIns="27360" rIns="27360" bIns="27360" anchor="t" anchorCtr="1">
                      <a:noAutofit/>
                    </a:bodyPr>
                    <a:p>
                      <a:r>
                        <a:t>LUAD</a:t>
                      </a:r>
                    </a:p>
                  </a:txBody>
                  <a:tcPr anchor="t" marL="27360" marR="27360" marT="27360" marB="27360">
                    <a:lnL w="12960">
                      <a:solidFill>
                        <a:srgbClr val="E2E7EF"/>
                      </a:solidFill>
                      <a:prstDash val="solid"/>
                    </a:lnL>
                    <a:lnR w="12960">
                      <a:solidFill>
                        <a:srgbClr val="E2E7EF"/>
                      </a:solidFill>
                      <a:prstDash val="solid"/>
                    </a:lnR>
                    <a:lnT w="12960">
                      <a:solidFill>
                        <a:srgbClr val="E2E7EF"/>
                      </a:solidFill>
                      <a:prstDash val="solid"/>
                    </a:lnT>
                    <a:lnB w="12960">
                      <a:solidFill>
                        <a:srgbClr val="E2E7EF"/>
                      </a:solidFill>
                      <a:prstDash val="solid"/>
                    </a:lnB>
                    <a:solidFill>
                      <a:srgbClr val="F2F5F9"/>
                    </a:solidFill>
                  </a:tcPr>
                </a:tc>
                <a:tc>
                  <a:txBody>
                    <a:bodyPr lIns="27360" tIns="27360" rIns="27360" bIns="27360" anchor="t" anchorCtr="1">
                      <a:noAutofit/>
                    </a:bodyPr>
                    <a:p>
                      <a:r>
                        <a:t>0.993</a:t>
                      </a:r>
                    </a:p>
                  </a:txBody>
                  <a:tcPr anchor="t" marL="27360" marR="27360" marT="27360" marB="27360">
                    <a:lnL w="12960">
                      <a:solidFill>
                        <a:srgbClr val="E2E7EF"/>
                      </a:solidFill>
                      <a:prstDash val="solid"/>
                    </a:lnL>
                    <a:lnR w="12960">
                      <a:solidFill>
                        <a:srgbClr val="E2E7EF"/>
                      </a:solidFill>
                      <a:prstDash val="solid"/>
                    </a:lnR>
                    <a:lnT w="12960">
                      <a:solidFill>
                        <a:srgbClr val="E2E7EF"/>
                      </a:solidFill>
                      <a:prstDash val="solid"/>
                    </a:lnT>
                    <a:lnB w="12960">
                      <a:solidFill>
                        <a:srgbClr val="E2E7EF"/>
                      </a:solidFill>
                      <a:prstDash val="solid"/>
                    </a:lnB>
                    <a:solidFill>
                      <a:srgbClr val="F2F5F9"/>
                    </a:solidFill>
                  </a:tcPr>
                </a:tc>
                <a:tc>
                  <a:txBody>
                    <a:bodyPr lIns="27360" tIns="27360" rIns="27360" bIns="27360" anchor="t" anchorCtr="1">
                      <a:noAutofit/>
                    </a:bodyPr>
                    <a:p>
                      <a:r>
                        <a:t>3.0%</a:t>
                      </a:r>
                    </a:p>
                  </a:txBody>
                  <a:tcPr anchor="t" marL="27360" marR="27360" marT="27360" marB="27360">
                    <a:lnL w="12960">
                      <a:solidFill>
                        <a:srgbClr val="E2E7EF"/>
                      </a:solidFill>
                      <a:prstDash val="solid"/>
                    </a:lnL>
                    <a:lnR w="12960">
                      <a:solidFill>
                        <a:srgbClr val="E2E7EF"/>
                      </a:solidFill>
                      <a:prstDash val="solid"/>
                    </a:lnR>
                    <a:lnT w="12960">
                      <a:solidFill>
                        <a:srgbClr val="E2E7EF"/>
                      </a:solidFill>
                      <a:prstDash val="solid"/>
                    </a:lnT>
                    <a:lnB w="12960">
                      <a:solidFill>
                        <a:srgbClr val="E2E7EF"/>
                      </a:solidFill>
                      <a:prstDash val="solid"/>
                    </a:lnB>
                    <a:solidFill>
                      <a:srgbClr val="F2F5F9"/>
                    </a:solidFill>
                  </a:tcPr>
                </a:tc>
              </a:tr>
              <a:tr h="286920">
                <a:tc>
                  <a:txBody>
                    <a:bodyPr lIns="27360" tIns="27360" rIns="27360" bIns="27360" anchor="t" anchorCtr="1">
                      <a:noAutofit/>
                    </a:bodyPr>
                    <a:p>
                      <a:r>
                        <a:t>3054827</a:t>
                      </a:r>
                    </a:p>
                  </a:txBody>
                  <a:tcPr anchor="t" marL="27360" marR="27360" marT="27360" marB="27360">
                    <a:lnL w="12960">
                      <a:solidFill>
                        <a:srgbClr val="E2E7EF"/>
                      </a:solidFill>
                      <a:prstDash val="solid"/>
                    </a:lnL>
                    <a:lnR w="12960">
                      <a:solidFill>
                        <a:srgbClr val="E2E7EF"/>
                      </a:solidFill>
                      <a:prstDash val="solid"/>
                    </a:lnR>
                    <a:lnT w="12960">
                      <a:solidFill>
                        <a:srgbClr val="E2E7EF"/>
                      </a:solidFill>
                      <a:prstDash val="solid"/>
                    </a:lnT>
                    <a:lnB w="12960">
                      <a:solidFill>
                        <a:srgbClr val="E2E7EF"/>
                      </a:solidFill>
                      <a:prstDash val="solid"/>
                    </a:lnB>
                    <a:solidFill>
                      <a:srgbClr val="FFFFFF"/>
                    </a:solidFill>
                  </a:tcPr>
                </a:tc>
                <a:tc>
                  <a:txBody>
                    <a:bodyPr lIns="27360" tIns="27360" rIns="27360" bIns="27360" anchor="t" anchorCtr="1">
                      <a:noAutofit/>
                    </a:bodyPr>
                    <a:p>
                      <a:r>
                        <a:t>COL5A1</a:t>
                      </a:r>
                    </a:p>
                  </a:txBody>
                  <a:tcPr anchor="t" marL="27360" marR="27360" marT="27360" marB="27360">
                    <a:lnL w="12960">
                      <a:solidFill>
                        <a:srgbClr val="E2E7EF"/>
                      </a:solidFill>
                      <a:prstDash val="solid"/>
                    </a:lnL>
                    <a:lnR w="12960">
                      <a:solidFill>
                        <a:srgbClr val="E2E7EF"/>
                      </a:solidFill>
                      <a:prstDash val="solid"/>
                    </a:lnR>
                    <a:lnT w="12960">
                      <a:solidFill>
                        <a:srgbClr val="E2E7EF"/>
                      </a:solidFill>
                      <a:prstDash val="solid"/>
                    </a:lnT>
                    <a:lnB w="12960">
                      <a:solidFill>
                        <a:srgbClr val="E2E7EF"/>
                      </a:solidFill>
                      <a:prstDash val="solid"/>
                    </a:lnB>
                    <a:solidFill>
                      <a:srgbClr val="FFFFFF"/>
                    </a:solidFill>
                  </a:tcPr>
                </a:tc>
                <a:tc>
                  <a:txBody>
                    <a:bodyPr lIns="27360" tIns="27360" rIns="27360" bIns="27360" anchor="t" anchorCtr="1">
                      <a:noAutofit/>
                    </a:bodyPr>
                    <a:p>
                      <a:r>
                        <a:t>BRCA, COAD, LUAD, SKCM</a:t>
                      </a:r>
                    </a:p>
                  </a:txBody>
                  <a:tcPr anchor="t" marL="27360" marR="27360" marT="27360" marB="27360">
                    <a:lnL w="12960">
                      <a:solidFill>
                        <a:srgbClr val="E2E7EF"/>
                      </a:solidFill>
                      <a:prstDash val="solid"/>
                    </a:lnL>
                    <a:lnR w="12960">
                      <a:solidFill>
                        <a:srgbClr val="E2E7EF"/>
                      </a:solidFill>
                      <a:prstDash val="solid"/>
                    </a:lnR>
                    <a:lnT w="12960">
                      <a:solidFill>
                        <a:srgbClr val="E2E7EF"/>
                      </a:solidFill>
                      <a:prstDash val="solid"/>
                    </a:lnT>
                    <a:lnB w="12960">
                      <a:solidFill>
                        <a:srgbClr val="E2E7EF"/>
                      </a:solidFill>
                      <a:prstDash val="solid"/>
                    </a:lnB>
                    <a:solidFill>
                      <a:srgbClr val="FFFFFF"/>
                    </a:solidFill>
                  </a:tcPr>
                </a:tc>
                <a:tc>
                  <a:txBody>
                    <a:bodyPr lIns="27360" tIns="27360" rIns="27360" bIns="27360" anchor="t" anchorCtr="1">
                      <a:noAutofit/>
                    </a:bodyPr>
                    <a:p>
                      <a:r>
                        <a:t>0.993</a:t>
                      </a:r>
                    </a:p>
                  </a:txBody>
                  <a:tcPr anchor="t" marL="27360" marR="27360" marT="27360" marB="27360">
                    <a:lnL w="12960">
                      <a:solidFill>
                        <a:srgbClr val="E2E7EF"/>
                      </a:solidFill>
                      <a:prstDash val="solid"/>
                    </a:lnL>
                    <a:lnR w="12960">
                      <a:solidFill>
                        <a:srgbClr val="E2E7EF"/>
                      </a:solidFill>
                      <a:prstDash val="solid"/>
                    </a:lnR>
                    <a:lnT w="12960">
                      <a:solidFill>
                        <a:srgbClr val="E2E7EF"/>
                      </a:solidFill>
                      <a:prstDash val="solid"/>
                    </a:lnT>
                    <a:lnB w="12960">
                      <a:solidFill>
                        <a:srgbClr val="E2E7EF"/>
                      </a:solidFill>
                      <a:prstDash val="solid"/>
                    </a:lnB>
                    <a:solidFill>
                      <a:srgbClr val="FFFFFF"/>
                    </a:solidFill>
                  </a:tcPr>
                </a:tc>
                <a:tc>
                  <a:txBody>
                    <a:bodyPr lIns="27360" tIns="27360" rIns="27360" bIns="27360" anchor="t" anchorCtr="1">
                      <a:noAutofit/>
                    </a:bodyPr>
                    <a:p>
                      <a:r>
                        <a:t>2.9%</a:t>
                      </a:r>
                    </a:p>
                  </a:txBody>
                  <a:tcPr anchor="t" marL="27360" marR="27360" marT="27360" marB="27360">
                    <a:lnL w="12960">
                      <a:solidFill>
                        <a:srgbClr val="E2E7EF"/>
                      </a:solidFill>
                      <a:prstDash val="solid"/>
                    </a:lnL>
                    <a:lnR w="12960">
                      <a:solidFill>
                        <a:srgbClr val="E2E7EF"/>
                      </a:solidFill>
                      <a:prstDash val="solid"/>
                    </a:lnR>
                    <a:lnT w="12960">
                      <a:solidFill>
                        <a:srgbClr val="E2E7EF"/>
                      </a:solidFill>
                      <a:prstDash val="solid"/>
                    </a:lnT>
                    <a:lnB w="12960">
                      <a:solidFill>
                        <a:srgbClr val="E2E7EF"/>
                      </a:solidFill>
                      <a:prstDash val="solid"/>
                    </a:lnB>
                    <a:solidFill>
                      <a:srgbClr val="FFFFFF"/>
                    </a:solidFill>
                  </a:tcPr>
                </a:tc>
              </a:tr>
              <a:tr h="286920">
                <a:tc>
                  <a:txBody>
                    <a:bodyPr lIns="27360" tIns="27360" rIns="27360" bIns="27360" anchor="t" anchorCtr="1">
                      <a:noAutofit/>
                    </a:bodyPr>
                    <a:p>
                      <a:r>
                        <a:t>1393465</a:t>
                      </a:r>
                    </a:p>
                  </a:txBody>
                  <a:tcPr anchor="t" marL="27360" marR="27360" marT="27360" marB="27360">
                    <a:lnL w="12960">
                      <a:solidFill>
                        <a:srgbClr val="E2E7EF"/>
                      </a:solidFill>
                      <a:prstDash val="solid"/>
                    </a:lnL>
                    <a:lnR w="12960">
                      <a:solidFill>
                        <a:srgbClr val="E2E7EF"/>
                      </a:solidFill>
                      <a:prstDash val="solid"/>
                    </a:lnR>
                    <a:lnT w="12960">
                      <a:solidFill>
                        <a:srgbClr val="E2E7EF"/>
                      </a:solidFill>
                      <a:prstDash val="solid"/>
                    </a:lnT>
                    <a:lnB w="12960">
                      <a:solidFill>
                        <a:srgbClr val="E2E7EF"/>
                      </a:solidFill>
                      <a:prstDash val="solid"/>
                    </a:lnB>
                    <a:solidFill>
                      <a:srgbClr val="F2F5F9"/>
                    </a:solidFill>
                  </a:tcPr>
                </a:tc>
                <a:tc>
                  <a:txBody>
                    <a:bodyPr lIns="27360" tIns="27360" rIns="27360" bIns="27360" anchor="t" anchorCtr="1">
                      <a:noAutofit/>
                    </a:bodyPr>
                    <a:p>
                      <a:r>
                        <a:t>APC</a:t>
                      </a:r>
                    </a:p>
                  </a:txBody>
                  <a:tcPr anchor="t" marL="27360" marR="27360" marT="27360" marB="27360">
                    <a:lnL w="12960">
                      <a:solidFill>
                        <a:srgbClr val="E2E7EF"/>
                      </a:solidFill>
                      <a:prstDash val="solid"/>
                    </a:lnL>
                    <a:lnR w="12960">
                      <a:solidFill>
                        <a:srgbClr val="E2E7EF"/>
                      </a:solidFill>
                      <a:prstDash val="solid"/>
                    </a:lnR>
                    <a:lnT w="12960">
                      <a:solidFill>
                        <a:srgbClr val="E2E7EF"/>
                      </a:solidFill>
                      <a:prstDash val="solid"/>
                    </a:lnT>
                    <a:lnB w="12960">
                      <a:solidFill>
                        <a:srgbClr val="E2E7EF"/>
                      </a:solidFill>
                      <a:prstDash val="solid"/>
                    </a:lnB>
                    <a:solidFill>
                      <a:srgbClr val="F2F5F9"/>
                    </a:solidFill>
                  </a:tcPr>
                </a:tc>
                <a:tc>
                  <a:txBody>
                    <a:bodyPr lIns="27360" tIns="27360" rIns="27360" bIns="27360" anchor="t" anchorCtr="1">
                      <a:noAutofit/>
                    </a:bodyPr>
                    <a:p>
                      <a:r>
                        <a:t>All 7 cohort cancer types</a:t>
                      </a:r>
                    </a:p>
                  </a:txBody>
                  <a:tcPr anchor="t" marL="27360" marR="27360" marT="27360" marB="27360">
                    <a:lnL w="12960">
                      <a:solidFill>
                        <a:srgbClr val="E2E7EF"/>
                      </a:solidFill>
                      <a:prstDash val="solid"/>
                    </a:lnL>
                    <a:lnR w="12960">
                      <a:solidFill>
                        <a:srgbClr val="E2E7EF"/>
                      </a:solidFill>
                      <a:prstDash val="solid"/>
                    </a:lnR>
                    <a:lnT w="12960">
                      <a:solidFill>
                        <a:srgbClr val="E2E7EF"/>
                      </a:solidFill>
                      <a:prstDash val="solid"/>
                    </a:lnT>
                    <a:lnB w="12960">
                      <a:solidFill>
                        <a:srgbClr val="E2E7EF"/>
                      </a:solidFill>
                      <a:prstDash val="solid"/>
                    </a:lnB>
                    <a:solidFill>
                      <a:srgbClr val="F2F5F9"/>
                    </a:solidFill>
                  </a:tcPr>
                </a:tc>
                <a:tc>
                  <a:txBody>
                    <a:bodyPr lIns="27360" tIns="27360" rIns="27360" bIns="27360" anchor="t" anchorCtr="1">
                      <a:noAutofit/>
                    </a:bodyPr>
                    <a:p>
                      <a:r>
                        <a:t>0.993</a:t>
                      </a:r>
                    </a:p>
                  </a:txBody>
                  <a:tcPr anchor="t" marL="27360" marR="27360" marT="27360" marB="27360">
                    <a:lnL w="12960">
                      <a:solidFill>
                        <a:srgbClr val="E2E7EF"/>
                      </a:solidFill>
                      <a:prstDash val="solid"/>
                    </a:lnL>
                    <a:lnR w="12960">
                      <a:solidFill>
                        <a:srgbClr val="E2E7EF"/>
                      </a:solidFill>
                      <a:prstDash val="solid"/>
                    </a:lnR>
                    <a:lnT w="12960">
                      <a:solidFill>
                        <a:srgbClr val="E2E7EF"/>
                      </a:solidFill>
                      <a:prstDash val="solid"/>
                    </a:lnT>
                    <a:lnB w="12960">
                      <a:solidFill>
                        <a:srgbClr val="E2E7EF"/>
                      </a:solidFill>
                      <a:prstDash val="solid"/>
                    </a:lnB>
                    <a:solidFill>
                      <a:srgbClr val="F2F5F9"/>
                    </a:solidFill>
                  </a:tcPr>
                </a:tc>
                <a:tc>
                  <a:txBody>
                    <a:bodyPr lIns="27360" tIns="27360" rIns="27360" bIns="27360" anchor="t" anchorCtr="1">
                      <a:noAutofit/>
                    </a:bodyPr>
                    <a:p>
                      <a:r>
                        <a:t>3.7%</a:t>
                      </a:r>
                    </a:p>
                  </a:txBody>
                  <a:tcPr anchor="t" marL="27360" marR="27360" marT="27360" marB="27360">
                    <a:lnL w="12960">
                      <a:solidFill>
                        <a:srgbClr val="E2E7EF"/>
                      </a:solidFill>
                      <a:prstDash val="solid"/>
                    </a:lnL>
                    <a:lnR w="12960">
                      <a:solidFill>
                        <a:srgbClr val="E2E7EF"/>
                      </a:solidFill>
                      <a:prstDash val="solid"/>
                    </a:lnR>
                    <a:lnT w="12960">
                      <a:solidFill>
                        <a:srgbClr val="E2E7EF"/>
                      </a:solidFill>
                      <a:prstDash val="solid"/>
                    </a:lnT>
                    <a:lnB w="12960">
                      <a:solidFill>
                        <a:srgbClr val="E2E7EF"/>
                      </a:solidFill>
                      <a:prstDash val="solid"/>
                    </a:lnB>
                    <a:solidFill>
                      <a:srgbClr val="F2F5F9"/>
                    </a:solidFill>
                  </a:tcPr>
                </a:tc>
              </a:tr>
              <a:tr h="286920">
                <a:tc>
                  <a:txBody>
                    <a:bodyPr lIns="27360" tIns="27360" rIns="27360" bIns="27360" anchor="t" anchorCtr="1">
                      <a:noAutofit/>
                    </a:bodyPr>
                    <a:p>
                      <a:r>
                        <a:t>1034907</a:t>
                      </a:r>
                    </a:p>
                  </a:txBody>
                  <a:tcPr anchor="t" marL="27360" marR="27360" marT="27360" marB="27360">
                    <a:lnL w="12960">
                      <a:solidFill>
                        <a:srgbClr val="E2E7EF"/>
                      </a:solidFill>
                      <a:prstDash val="solid"/>
                    </a:lnL>
                    <a:lnR w="12960">
                      <a:solidFill>
                        <a:srgbClr val="E2E7EF"/>
                      </a:solidFill>
                      <a:prstDash val="solid"/>
                    </a:lnR>
                    <a:lnT w="12960">
                      <a:solidFill>
                        <a:srgbClr val="E2E7EF"/>
                      </a:solidFill>
                      <a:prstDash val="solid"/>
                    </a:lnT>
                    <a:lnB w="12960">
                      <a:solidFill>
                        <a:srgbClr val="E2E7EF"/>
                      </a:solidFill>
                      <a:prstDash val="solid"/>
                    </a:lnB>
                    <a:solidFill>
                      <a:srgbClr val="FFFFFF"/>
                    </a:solidFill>
                  </a:tcPr>
                </a:tc>
                <a:tc>
                  <a:txBody>
                    <a:bodyPr lIns="27360" tIns="27360" rIns="27360" bIns="27360" anchor="t" anchorCtr="1">
                      <a:noAutofit/>
                    </a:bodyPr>
                    <a:p>
                      <a:r>
                        <a:t>POLE</a:t>
                      </a:r>
                    </a:p>
                  </a:txBody>
                  <a:tcPr anchor="t" marL="27360" marR="27360" marT="27360" marB="27360">
                    <a:lnL w="12960">
                      <a:solidFill>
                        <a:srgbClr val="E2E7EF"/>
                      </a:solidFill>
                      <a:prstDash val="solid"/>
                    </a:lnL>
                    <a:lnR w="12960">
                      <a:solidFill>
                        <a:srgbClr val="E2E7EF"/>
                      </a:solidFill>
                      <a:prstDash val="solid"/>
                    </a:lnR>
                    <a:lnT w="12960">
                      <a:solidFill>
                        <a:srgbClr val="E2E7EF"/>
                      </a:solidFill>
                      <a:prstDash val="solid"/>
                    </a:lnT>
                    <a:lnB w="12960">
                      <a:solidFill>
                        <a:srgbClr val="E2E7EF"/>
                      </a:solidFill>
                      <a:prstDash val="solid"/>
                    </a:lnB>
                    <a:solidFill>
                      <a:srgbClr val="FFFFFF"/>
                    </a:solidFill>
                  </a:tcPr>
                </a:tc>
                <a:tc>
                  <a:txBody>
                    <a:bodyPr lIns="27360" tIns="27360" rIns="27360" bIns="27360" anchor="t" anchorCtr="1">
                      <a:noAutofit/>
                    </a:bodyPr>
                    <a:p>
                      <a:r>
                        <a:t>BRCA, LUAD, SKCM, STAD</a:t>
                      </a:r>
                    </a:p>
                  </a:txBody>
                  <a:tcPr anchor="t" marL="27360" marR="27360" marT="27360" marB="27360">
                    <a:lnL w="12960">
                      <a:solidFill>
                        <a:srgbClr val="E2E7EF"/>
                      </a:solidFill>
                      <a:prstDash val="solid"/>
                    </a:lnL>
                    <a:lnR w="12960">
                      <a:solidFill>
                        <a:srgbClr val="E2E7EF"/>
                      </a:solidFill>
                      <a:prstDash val="solid"/>
                    </a:lnR>
                    <a:lnT w="12960">
                      <a:solidFill>
                        <a:srgbClr val="E2E7EF"/>
                      </a:solidFill>
                      <a:prstDash val="solid"/>
                    </a:lnT>
                    <a:lnB w="12960">
                      <a:solidFill>
                        <a:srgbClr val="E2E7EF"/>
                      </a:solidFill>
                      <a:prstDash val="solid"/>
                    </a:lnB>
                    <a:solidFill>
                      <a:srgbClr val="FFFFFF"/>
                    </a:solidFill>
                  </a:tcPr>
                </a:tc>
                <a:tc>
                  <a:txBody>
                    <a:bodyPr lIns="27360" tIns="27360" rIns="27360" bIns="27360" anchor="t" anchorCtr="1">
                      <a:noAutofit/>
                    </a:bodyPr>
                    <a:p>
                      <a:r>
                        <a:t>0.992</a:t>
                      </a:r>
                    </a:p>
                  </a:txBody>
                  <a:tcPr anchor="t" marL="27360" marR="27360" marT="27360" marB="27360">
                    <a:lnL w="12960">
                      <a:solidFill>
                        <a:srgbClr val="E2E7EF"/>
                      </a:solidFill>
                      <a:prstDash val="solid"/>
                    </a:lnL>
                    <a:lnR w="12960">
                      <a:solidFill>
                        <a:srgbClr val="E2E7EF"/>
                      </a:solidFill>
                      <a:prstDash val="solid"/>
                    </a:lnR>
                    <a:lnT w="12960">
                      <a:solidFill>
                        <a:srgbClr val="E2E7EF"/>
                      </a:solidFill>
                      <a:prstDash val="solid"/>
                    </a:lnT>
                    <a:lnB w="12960">
                      <a:solidFill>
                        <a:srgbClr val="E2E7EF"/>
                      </a:solidFill>
                      <a:prstDash val="solid"/>
                    </a:lnB>
                    <a:solidFill>
                      <a:srgbClr val="FFFFFF"/>
                    </a:solidFill>
                  </a:tcPr>
                </a:tc>
                <a:tc>
                  <a:txBody>
                    <a:bodyPr lIns="27360" tIns="27360" rIns="27360" bIns="27360" anchor="t" anchorCtr="1">
                      <a:noAutofit/>
                    </a:bodyPr>
                    <a:p>
                      <a:r>
                        <a:t>3.4%</a:t>
                      </a:r>
                    </a:p>
                  </a:txBody>
                  <a:tcPr anchor="t" marL="27360" marR="27360" marT="27360" marB="27360">
                    <a:lnL w="12960">
                      <a:solidFill>
                        <a:srgbClr val="E2E7EF"/>
                      </a:solidFill>
                      <a:prstDash val="solid"/>
                    </a:lnL>
                    <a:lnR w="12960">
                      <a:solidFill>
                        <a:srgbClr val="E2E7EF"/>
                      </a:solidFill>
                      <a:prstDash val="solid"/>
                    </a:lnR>
                    <a:lnT w="12960">
                      <a:solidFill>
                        <a:srgbClr val="E2E7EF"/>
                      </a:solidFill>
                      <a:prstDash val="solid"/>
                    </a:lnT>
                    <a:lnB w="12960">
                      <a:solidFill>
                        <a:srgbClr val="E2E7EF"/>
                      </a:solidFill>
                      <a:prstDash val="solid"/>
                    </a:lnB>
                    <a:solidFill>
                      <a:srgbClr val="FFFFFF"/>
                    </a:solidFill>
                  </a:tcPr>
                </a:tc>
              </a:tr>
              <a:tr h="285480">
                <a:tc>
                  <a:txBody>
                    <a:bodyPr lIns="27360" tIns="27360" rIns="27360" bIns="27360" anchor="t" anchorCtr="1">
                      <a:noAutofit/>
                    </a:bodyPr>
                    <a:p>
                      <a:r>
                        <a:t>3069490</a:t>
                      </a:r>
                    </a:p>
                  </a:txBody>
                  <a:tcPr anchor="t" marL="27360" marR="27360" marT="27360" marB="27360">
                    <a:lnL w="12960">
                      <a:solidFill>
                        <a:srgbClr val="E2E7EF"/>
                      </a:solidFill>
                      <a:prstDash val="solid"/>
                    </a:lnL>
                    <a:lnR w="12960">
                      <a:solidFill>
                        <a:srgbClr val="E2E7EF"/>
                      </a:solidFill>
                      <a:prstDash val="solid"/>
                    </a:lnR>
                    <a:lnT w="12960">
                      <a:solidFill>
                        <a:srgbClr val="E2E7EF"/>
                      </a:solidFill>
                      <a:prstDash val="solid"/>
                    </a:lnT>
                    <a:lnB w="12960">
                      <a:solidFill>
                        <a:srgbClr val="E2E7EF"/>
                      </a:solidFill>
                      <a:prstDash val="solid"/>
                    </a:lnB>
                    <a:solidFill>
                      <a:srgbClr val="F2F5F9"/>
                    </a:solidFill>
                  </a:tcPr>
                </a:tc>
                <a:tc>
                  <a:txBody>
                    <a:bodyPr lIns="27360" tIns="27360" rIns="27360" bIns="27360" anchor="t" anchorCtr="1">
                      <a:noAutofit/>
                    </a:bodyPr>
                    <a:p>
                      <a:r>
                        <a:t>MYH7</a:t>
                      </a:r>
                    </a:p>
                  </a:txBody>
                  <a:tcPr anchor="t" marL="27360" marR="27360" marT="27360" marB="27360">
                    <a:lnL w="12960">
                      <a:solidFill>
                        <a:srgbClr val="E2E7EF"/>
                      </a:solidFill>
                      <a:prstDash val="solid"/>
                    </a:lnL>
                    <a:lnR w="12960">
                      <a:solidFill>
                        <a:srgbClr val="E2E7EF"/>
                      </a:solidFill>
                      <a:prstDash val="solid"/>
                    </a:lnR>
                    <a:lnT w="12960">
                      <a:solidFill>
                        <a:srgbClr val="E2E7EF"/>
                      </a:solidFill>
                      <a:prstDash val="solid"/>
                    </a:lnT>
                    <a:lnB w="12960">
                      <a:solidFill>
                        <a:srgbClr val="E2E7EF"/>
                      </a:solidFill>
                      <a:prstDash val="solid"/>
                    </a:lnB>
                    <a:solidFill>
                      <a:srgbClr val="F2F5F9"/>
                    </a:solidFill>
                  </a:tcPr>
                </a:tc>
                <a:tc>
                  <a:txBody>
                    <a:bodyPr lIns="27360" tIns="27360" rIns="27360" bIns="27360" anchor="t" anchorCtr="1">
                      <a:noAutofit/>
                    </a:bodyPr>
                    <a:p>
                      <a:r>
                        <a:t>COAD, LUAD, OV, SKCM</a:t>
                      </a:r>
                    </a:p>
                  </a:txBody>
                  <a:tcPr anchor="t" marL="27360" marR="27360" marT="27360" marB="27360">
                    <a:lnL w="12960">
                      <a:solidFill>
                        <a:srgbClr val="E2E7EF"/>
                      </a:solidFill>
                      <a:prstDash val="solid"/>
                    </a:lnL>
                    <a:lnR w="12960">
                      <a:solidFill>
                        <a:srgbClr val="E2E7EF"/>
                      </a:solidFill>
                      <a:prstDash val="solid"/>
                    </a:lnR>
                    <a:lnT w="12960">
                      <a:solidFill>
                        <a:srgbClr val="E2E7EF"/>
                      </a:solidFill>
                      <a:prstDash val="solid"/>
                    </a:lnT>
                    <a:lnB w="12960">
                      <a:solidFill>
                        <a:srgbClr val="E2E7EF"/>
                      </a:solidFill>
                      <a:prstDash val="solid"/>
                    </a:lnB>
                    <a:solidFill>
                      <a:srgbClr val="F2F5F9"/>
                    </a:solidFill>
                  </a:tcPr>
                </a:tc>
                <a:tc>
                  <a:txBody>
                    <a:bodyPr lIns="27360" tIns="27360" rIns="27360" bIns="27360" anchor="t" anchorCtr="1">
                      <a:noAutofit/>
                    </a:bodyPr>
                    <a:p>
                      <a:r>
                        <a:t>0.992</a:t>
                      </a:r>
                    </a:p>
                  </a:txBody>
                  <a:tcPr anchor="t" marL="27360" marR="27360" marT="27360" marB="27360">
                    <a:lnL w="12960">
                      <a:solidFill>
                        <a:srgbClr val="E2E7EF"/>
                      </a:solidFill>
                      <a:prstDash val="solid"/>
                    </a:lnL>
                    <a:lnR w="12960">
                      <a:solidFill>
                        <a:srgbClr val="E2E7EF"/>
                      </a:solidFill>
                      <a:prstDash val="solid"/>
                    </a:lnR>
                    <a:lnT w="12960">
                      <a:solidFill>
                        <a:srgbClr val="E2E7EF"/>
                      </a:solidFill>
                      <a:prstDash val="solid"/>
                    </a:lnT>
                    <a:lnB w="12960">
                      <a:solidFill>
                        <a:srgbClr val="E2E7EF"/>
                      </a:solidFill>
                      <a:prstDash val="solid"/>
                    </a:lnB>
                    <a:solidFill>
                      <a:srgbClr val="F2F5F9"/>
                    </a:solidFill>
                  </a:tcPr>
                </a:tc>
                <a:tc>
                  <a:txBody>
                    <a:bodyPr lIns="27360" tIns="27360" rIns="27360" bIns="27360" anchor="t" anchorCtr="1">
                      <a:noAutofit/>
                    </a:bodyPr>
                    <a:p>
                      <a:r>
                        <a:t>3.3%</a:t>
                      </a:r>
                    </a:p>
                  </a:txBody>
                  <a:tcPr anchor="t" marL="27360" marR="27360" marT="27360" marB="27360">
                    <a:lnL w="12960">
                      <a:solidFill>
                        <a:srgbClr val="E2E7EF"/>
                      </a:solidFill>
                      <a:prstDash val="solid"/>
                    </a:lnL>
                    <a:lnR w="12960">
                      <a:solidFill>
                        <a:srgbClr val="E2E7EF"/>
                      </a:solidFill>
                      <a:prstDash val="solid"/>
                    </a:lnR>
                    <a:lnT w="12960">
                      <a:solidFill>
                        <a:srgbClr val="E2E7EF"/>
                      </a:solidFill>
                      <a:prstDash val="solid"/>
                    </a:lnT>
                    <a:lnB w="12960">
                      <a:solidFill>
                        <a:srgbClr val="E2E7EF"/>
                      </a:solidFill>
                      <a:prstDash val="solid"/>
                    </a:lnB>
                    <a:solidFill>
                      <a:srgbClr val="F2F5F9"/>
                    </a:solidFill>
                  </a:tcPr>
                </a:tc>
              </a:tr>
            </a:tbl>
          </a:graphicData>
        </a:graphic>
      </p:graphicFrame>
      <p:sp>
        <p:nvSpPr>
          <p:cNvPr id="266" name=""/>
          <p:cNvSpPr txBox="1"/>
          <p:nvPr/>
        </p:nvSpPr>
        <p:spPr>
          <a:xfrm>
            <a:off x="548640" y="5623560"/>
            <a:ext cx="11064240" cy="914400"/>
          </a:xfrm>
          <a:prstGeom prst="rect">
            <a:avLst/>
          </a:prstGeom>
          <a:noFill/>
          <a:ln w="0">
            <a:noFill/>
          </a:ln>
        </p:spPr>
        <p:txBody>
          <a:bodyPr lIns="90000" tIns="45000" rIns="90000" bIns="45000" anchor="t">
            <a:spAutoFit/>
          </a:bodyPr>
          <a:p>
            <a:pPr>
              <a:lnSpc>
                <a:spcPct val="125000"/>
              </a:lnSpc>
            </a:pPr>
            <a:r>
              <a:rPr lang="en-US" sz="1100" b="0" u="none" strike="noStrike">
                <a:solidFill>
                  <a:srgbClr val="475265"/>
                </a:solidFill>
                <a:effectLst/>
                <a:uFillTx/>
                <a:latin typeface="Calibri"/>
                <a:ea typeface="Calibri"/>
              </a:rPr>
              <a:t>Several genes in this list, including APC, POLE, MTOR, NF1, and TSC2, are well-established cancer genes with known clinical relevance. Others, like the collagen genes COL5A1 and COL12A1 or the hearing- and cardiac-linked genes MYO7A, CDH23, RYR2, and MYH7, carry high-confidence resolution signal in the model without a familiar cancer role, which is itself a useful finding: statistical resolution signal and clinical familiarity are not the same thing.</a:t>
            </a:r>
            <a:endParaRPr lang="en-US" sz="1100" b="0" u="none" strike="noStrike">
              <a:solidFill>
                <a:srgbClr val="000000"/>
              </a:solidFill>
              <a:effectLst/>
              <a:uFillTx/>
              <a:latin typeface="Arial"/>
            </a:endParaRPr>
          </a:p>
        </p:txBody>
      </p:sp>
      <p:sp>
        <p:nvSpPr>
          <p:cNvPr id="267" name=""/>
          <p:cNvSpPr txBox="1"/>
          <p:nvPr/>
        </p:nvSpPr>
        <p:spPr>
          <a:xfrm>
            <a:off x="11368840" y="6446520"/>
            <a:ext cx="500000" cy="300000"/>
          </a:xfrm>
          <a:prstGeom prst="rect">
            <a:avLst/>
          </a:prstGeom>
          <a:noFill/>
          <a:ln w="0">
            <a:noFill/>
          </a:ln>
        </p:spPr>
        <p:txBody>
          <a:bodyPr lIns="90000" tIns="45000" rIns="90000" bIns="45000" anchor="t">
            <a:spAutoFit/>
          </a:bodyPr>
          <a:p>
            <a:pPr algn="r"/>
            <a:r>
              <a:rPr lang="en-US" sz="1000" b="0" u="none" strike="noStrike">
                <a:solidFill>
                  <a:srgbClr val="8D99AE"/>
                </a:solidFill>
                <a:effectLst/>
                <a:uFillTx/>
                <a:latin typeface="Calibri"/>
                <a:ea typeface="Calibri"/>
              </a:rPr>
              <a:t>2</a:t>
            </a:r>
            <a:r>
              <a:rPr lang="en-US" sz="1000" b="0" u="none" strike="noStrike">
                <a:solidFill>
                  <a:srgbClr val="8D99AE"/>
                </a:solidFill>
                <a:effectLst/>
                <a:uFillTx/>
                <a:latin typeface="Calibri"/>
                <a:ea typeface="Calibri"/>
              </a:rPr>
              <a:t>4</a:t>
            </a:r>
            <a:endParaRPr lang="en-US"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68" name=""/>
          <p:cNvSpPr txBox="1"/>
          <p:nvPr/>
        </p:nvSpPr>
        <p:spPr>
          <a:xfrm>
            <a:off x="548640" y="384120"/>
            <a:ext cx="7315200" cy="292680"/>
          </a:xfrm>
          <a:prstGeom prst="rect">
            <a:avLst/>
          </a:prstGeom>
          <a:noFill/>
          <a:ln w="0">
            <a:noFill/>
          </a:ln>
        </p:spPr>
        <p:txBody>
          <a:bodyPr lIns="90000" tIns="45000" rIns="90000" bIns="45000" anchor="t">
            <a:spAutoFit/>
          </a:bodyPr>
          <a:p>
            <a:r>
              <a:rPr lang="en-US" sz="1200" b="1" u="none" spc="201" strike="noStrike">
                <a:solidFill>
                  <a:srgbClr val="E76C4E"/>
                </a:solidFill>
                <a:effectLst/>
                <a:uFillTx/>
                <a:latin typeface="Calibri-Bold"/>
                <a:ea typeface="Calibri-Bold"/>
              </a:rPr>
              <a:t>THE GLOBAL WATCHLIST</a:t>
            </a:r>
            <a:endParaRPr lang="en-US" sz="1200" b="0" u="none" strike="noStrike">
              <a:solidFill>
                <a:srgbClr val="000000"/>
              </a:solidFill>
              <a:effectLst/>
              <a:uFillTx/>
              <a:latin typeface="Arial"/>
            </a:endParaRPr>
          </a:p>
        </p:txBody>
      </p:sp>
      <p:sp>
        <p:nvSpPr>
          <p:cNvPr id="269" name=""/>
          <p:cNvSpPr txBox="1"/>
          <p:nvPr/>
        </p:nvSpPr>
        <p:spPr>
          <a:xfrm>
            <a:off x="548640" y="658440"/>
            <a:ext cx="10789920" cy="777240"/>
          </a:xfrm>
          <a:prstGeom prst="rect">
            <a:avLst/>
          </a:prstGeom>
          <a:noFill/>
          <a:ln w="0">
            <a:noFill/>
          </a:ln>
        </p:spPr>
        <p:txBody>
          <a:bodyPr lIns="90000" tIns="45000" rIns="90000" bIns="45000" anchor="t">
            <a:spAutoFit/>
          </a:bodyPr>
          <a:p>
            <a:r>
              <a:rPr lang="en-US" sz="3000" b="1" u="none" strike="noStrike">
                <a:solidFill>
                  <a:srgbClr val="1F242E"/>
                </a:solidFill>
                <a:effectLst/>
                <a:uFillTx/>
                <a:latin typeface="Cambria-Bold"/>
                <a:ea typeface="Cambria-Bold"/>
              </a:rPr>
              <a:t>Which Genes Historically Resolve Fastest</a:t>
            </a:r>
            <a:endParaRPr lang="en-US" sz="3000" b="0" u="none" strike="noStrike">
              <a:solidFill>
                <a:srgbClr val="000000"/>
              </a:solidFill>
              <a:effectLst/>
              <a:uFillTx/>
              <a:latin typeface="Arial"/>
            </a:endParaRPr>
          </a:p>
        </p:txBody>
      </p:sp>
      <p:sp>
        <p:nvSpPr>
          <p:cNvPr id="270" name=""/>
          <p:cNvSpPr txBox="1"/>
          <p:nvPr/>
        </p:nvSpPr>
        <p:spPr>
          <a:xfrm>
            <a:off x="548640" y="1417320"/>
            <a:ext cx="10789920" cy="640080"/>
          </a:xfrm>
          <a:prstGeom prst="rect">
            <a:avLst/>
          </a:prstGeom>
          <a:noFill/>
          <a:ln w="0">
            <a:noFill/>
          </a:ln>
        </p:spPr>
        <p:txBody>
          <a:bodyPr lIns="90000" tIns="45000" rIns="90000" bIns="45000" anchor="t">
            <a:spAutoFit/>
          </a:bodyPr>
          <a:p>
            <a:pPr>
              <a:lnSpc>
                <a:spcPct val="125000"/>
              </a:lnSpc>
            </a:pPr>
            <a:r>
              <a:rPr lang="en-US" sz="1200" b="0" u="none" strike="noStrike">
                <a:solidFill>
                  <a:srgbClr val="475265"/>
                </a:solidFill>
                <a:effectLst/>
                <a:uFillTx/>
                <a:latin typeface="Calibri"/>
                <a:ea typeface="Calibri"/>
              </a:rPr>
              <a:t>Gene-level resolution rate is the single biggest lever in the model. Leaderboard restricted to genes with ≥ 2 historical ClinVar submissions, so the rate reflects real submission volume rather than a one-off</a:t>
            </a:r>
            <a:r>
              <a:rPr lang="en-US" sz="1200" b="0" u="none" strike="noStrike">
                <a:solidFill>
                  <a:srgbClr val="475265"/>
                </a:solidFill>
                <a:effectLst/>
                <a:uFillTx/>
                <a:latin typeface="Calibri"/>
                <a:ea typeface="Calibri"/>
              </a:rPr>
              <a:t>:</a:t>
            </a:r>
            <a:endParaRPr lang="en-US" sz="1200" b="0" u="none" strike="noStrike">
              <a:solidFill>
                <a:srgbClr val="000000"/>
              </a:solidFill>
              <a:effectLst/>
              <a:uFillTx/>
              <a:latin typeface="Arial"/>
            </a:endParaRPr>
          </a:p>
        </p:txBody>
      </p:sp>
      <p:sp>
        <p:nvSpPr>
          <p:cNvPr id="271" name=""/>
          <p:cNvSpPr txBox="1"/>
          <p:nvPr/>
        </p:nvSpPr>
        <p:spPr>
          <a:xfrm>
            <a:off x="548640" y="2286000"/>
            <a:ext cx="1554480" cy="329040"/>
          </a:xfrm>
          <a:prstGeom prst="rect">
            <a:avLst/>
          </a:prstGeom>
          <a:noFill/>
          <a:ln w="0">
            <a:noFill/>
          </a:ln>
        </p:spPr>
        <p:txBody>
          <a:bodyPr lIns="90000" tIns="45000" rIns="90000" bIns="45000" anchor="t">
            <a:spAutoFit/>
          </a:bodyPr>
          <a:p>
            <a:r>
              <a:rPr lang="en-US" sz="1200" b="1" u="none" strike="noStrike">
                <a:solidFill>
                  <a:srgbClr val="2A3547"/>
                </a:solidFill>
                <a:effectLst/>
                <a:uFillTx/>
                <a:latin typeface="Calibri-Bold"/>
                <a:ea typeface="Calibri-Bold"/>
              </a:rPr>
              <a:t>PNPLA8</a:t>
            </a:r>
            <a:endParaRPr lang="en-US" sz="1200" b="0" u="none" strike="noStrike">
              <a:solidFill>
                <a:srgbClr val="000000"/>
              </a:solidFill>
              <a:effectLst/>
              <a:uFillTx/>
              <a:latin typeface="Arial"/>
            </a:endParaRPr>
          </a:p>
        </p:txBody>
      </p:sp>
      <p:sp>
        <p:nvSpPr>
          <p:cNvPr id="272" name=""/>
          <p:cNvSpPr/>
          <p:nvPr/>
        </p:nvSpPr>
        <p:spPr>
          <a:xfrm>
            <a:off x="2194560" y="2331720"/>
            <a:ext cx="7498440" cy="256320"/>
          </a:xfrm>
          <a:custGeom>
            <a:avLst/>
            <a:gdLst/>
            <a:ahLst/>
            <a:rect l="0" t="0" r="r" b="b"/>
            <a:pathLst>
              <a:path w="20829" h="712">
                <a:moveTo>
                  <a:pt x="0" y="0"/>
                </a:moveTo>
                <a:lnTo>
                  <a:pt x="20829" y="0"/>
                </a:lnTo>
                <a:lnTo>
                  <a:pt x="20829" y="712"/>
                </a:lnTo>
                <a:lnTo>
                  <a:pt x="0" y="712"/>
                </a:lnTo>
                <a:lnTo>
                  <a:pt x="0" y="0"/>
                </a:lnTo>
                <a:close/>
              </a:path>
            </a:pathLst>
          </a:custGeom>
          <a:solidFill>
            <a:srgbClr val="E9C467"/>
          </a:solidFill>
          <a:ln w="0">
            <a:noFill/>
          </a:ln>
        </p:spPr>
        <p:txBody>
          <a:bodyPr lIns="90000" tIns="45000" rIns="90000" bIns="45000" anchor="t">
            <a:noAutofit/>
          </a:bodyPr>
          <a:p>
            <a:endParaRPr lang="en-US" sz="1800" b="0" u="none" strike="noStrike">
              <a:solidFill>
                <a:srgbClr val="000000"/>
              </a:solidFill>
              <a:effectLst/>
              <a:uFillTx/>
              <a:latin typeface="Arial"/>
            </a:endParaRPr>
          </a:p>
        </p:txBody>
      </p:sp>
      <p:sp>
        <p:nvSpPr>
          <p:cNvPr id="273" name=""/>
          <p:cNvSpPr txBox="1"/>
          <p:nvPr/>
        </p:nvSpPr>
        <p:spPr>
          <a:xfrm>
            <a:off x="9784080" y="2286000"/>
            <a:ext cx="731520" cy="329040"/>
          </a:xfrm>
          <a:prstGeom prst="rect">
            <a:avLst/>
          </a:prstGeom>
          <a:noFill/>
          <a:ln w="0">
            <a:noFill/>
          </a:ln>
        </p:spPr>
        <p:txBody>
          <a:bodyPr lIns="90000" tIns="45000" rIns="90000" bIns="45000" anchor="t">
            <a:spAutoFit/>
          </a:bodyPr>
          <a:p>
            <a:r>
              <a:rPr lang="en-US" sz="1100" b="0" u="none" strike="noStrike">
                <a:solidFill>
                  <a:srgbClr val="475265"/>
                </a:solidFill>
                <a:effectLst/>
                <a:uFillTx/>
                <a:latin typeface="Calibri"/>
                <a:ea typeface="Calibri"/>
              </a:rPr>
              <a:t>11.4%</a:t>
            </a:r>
            <a:endParaRPr lang="en-US" sz="1100" b="0" u="none" strike="noStrike">
              <a:solidFill>
                <a:srgbClr val="000000"/>
              </a:solidFill>
              <a:effectLst/>
              <a:uFillTx/>
              <a:latin typeface="Arial"/>
            </a:endParaRPr>
          </a:p>
        </p:txBody>
      </p:sp>
      <p:sp>
        <p:nvSpPr>
          <p:cNvPr id="274" name=""/>
          <p:cNvSpPr txBox="1"/>
          <p:nvPr/>
        </p:nvSpPr>
        <p:spPr>
          <a:xfrm>
            <a:off x="548640" y="2670120"/>
            <a:ext cx="1554480" cy="329040"/>
          </a:xfrm>
          <a:prstGeom prst="rect">
            <a:avLst/>
          </a:prstGeom>
          <a:noFill/>
          <a:ln w="0">
            <a:noFill/>
          </a:ln>
        </p:spPr>
        <p:txBody>
          <a:bodyPr lIns="90000" tIns="45000" rIns="90000" bIns="45000" anchor="t">
            <a:spAutoFit/>
          </a:bodyPr>
          <a:p>
            <a:r>
              <a:rPr lang="en-US" sz="1200" b="1" u="none" strike="noStrike">
                <a:solidFill>
                  <a:srgbClr val="2A3547"/>
                </a:solidFill>
                <a:effectLst/>
                <a:uFillTx/>
                <a:latin typeface="Calibri-Bold"/>
                <a:ea typeface="Calibri-Bold"/>
              </a:rPr>
              <a:t>MICOS13</a:t>
            </a:r>
            <a:endParaRPr lang="en-US" sz="1200" b="0" u="none" strike="noStrike">
              <a:solidFill>
                <a:srgbClr val="000000"/>
              </a:solidFill>
              <a:effectLst/>
              <a:uFillTx/>
              <a:latin typeface="Arial"/>
            </a:endParaRPr>
          </a:p>
        </p:txBody>
      </p:sp>
      <p:sp>
        <p:nvSpPr>
          <p:cNvPr id="275" name=""/>
          <p:cNvSpPr/>
          <p:nvPr/>
        </p:nvSpPr>
        <p:spPr>
          <a:xfrm>
            <a:off x="2194560" y="2715840"/>
            <a:ext cx="7498440" cy="256320"/>
          </a:xfrm>
          <a:custGeom>
            <a:avLst/>
            <a:gdLst/>
            <a:ahLst/>
            <a:rect l="0" t="0" r="r" b="b"/>
            <a:pathLst>
              <a:path w="20829" h="712">
                <a:moveTo>
                  <a:pt x="0" y="0"/>
                </a:moveTo>
                <a:lnTo>
                  <a:pt x="20829" y="0"/>
                </a:lnTo>
                <a:lnTo>
                  <a:pt x="20829" y="712"/>
                </a:lnTo>
                <a:lnTo>
                  <a:pt x="0" y="712"/>
                </a:lnTo>
                <a:lnTo>
                  <a:pt x="0" y="0"/>
                </a:lnTo>
                <a:close/>
              </a:path>
            </a:pathLst>
          </a:custGeom>
          <a:solidFill>
            <a:srgbClr val="E9C467"/>
          </a:solidFill>
          <a:ln w="0">
            <a:noFill/>
          </a:ln>
        </p:spPr>
        <p:txBody>
          <a:bodyPr lIns="90000" tIns="45000" rIns="90000" bIns="45000" anchor="t">
            <a:noAutofit/>
          </a:bodyPr>
          <a:p>
            <a:endParaRPr lang="en-US" sz="1800" b="0" u="none" strike="noStrike">
              <a:solidFill>
                <a:srgbClr val="000000"/>
              </a:solidFill>
              <a:effectLst/>
              <a:uFillTx/>
              <a:latin typeface="Arial"/>
            </a:endParaRPr>
          </a:p>
        </p:txBody>
      </p:sp>
      <p:sp>
        <p:nvSpPr>
          <p:cNvPr id="276" name=""/>
          <p:cNvSpPr txBox="1"/>
          <p:nvPr/>
        </p:nvSpPr>
        <p:spPr>
          <a:xfrm>
            <a:off x="9784080" y="2670120"/>
            <a:ext cx="731520" cy="329040"/>
          </a:xfrm>
          <a:prstGeom prst="rect">
            <a:avLst/>
          </a:prstGeom>
          <a:noFill/>
          <a:ln w="0">
            <a:noFill/>
          </a:ln>
        </p:spPr>
        <p:txBody>
          <a:bodyPr lIns="90000" tIns="45000" rIns="90000" bIns="45000" anchor="t">
            <a:spAutoFit/>
          </a:bodyPr>
          <a:p>
            <a:r>
              <a:rPr lang="en-US" sz="1100" b="0" u="none" strike="noStrike">
                <a:solidFill>
                  <a:srgbClr val="475265"/>
                </a:solidFill>
                <a:effectLst/>
                <a:uFillTx/>
                <a:latin typeface="Calibri"/>
                <a:ea typeface="Calibri"/>
              </a:rPr>
              <a:t>11.4%</a:t>
            </a:r>
            <a:endParaRPr lang="en-US" sz="1100" b="0" u="none" strike="noStrike">
              <a:solidFill>
                <a:srgbClr val="000000"/>
              </a:solidFill>
              <a:effectLst/>
              <a:uFillTx/>
              <a:latin typeface="Arial"/>
            </a:endParaRPr>
          </a:p>
        </p:txBody>
      </p:sp>
      <p:sp>
        <p:nvSpPr>
          <p:cNvPr id="277" name=""/>
          <p:cNvSpPr txBox="1"/>
          <p:nvPr/>
        </p:nvSpPr>
        <p:spPr>
          <a:xfrm>
            <a:off x="548640" y="3054240"/>
            <a:ext cx="1554480" cy="329040"/>
          </a:xfrm>
          <a:prstGeom prst="rect">
            <a:avLst/>
          </a:prstGeom>
          <a:noFill/>
          <a:ln w="0">
            <a:noFill/>
          </a:ln>
        </p:spPr>
        <p:txBody>
          <a:bodyPr lIns="90000" tIns="45000" rIns="90000" bIns="45000" anchor="t">
            <a:spAutoFit/>
          </a:bodyPr>
          <a:p>
            <a:r>
              <a:rPr lang="en-US" sz="1200" b="1" u="none" strike="noStrike">
                <a:solidFill>
                  <a:srgbClr val="2A3547"/>
                </a:solidFill>
                <a:effectLst/>
                <a:uFillTx/>
                <a:latin typeface="Calibri-Bold"/>
                <a:ea typeface="Calibri-Bold"/>
              </a:rPr>
              <a:t>MSH2</a:t>
            </a:r>
            <a:endParaRPr lang="en-US" sz="1200" b="0" u="none" strike="noStrike">
              <a:solidFill>
                <a:srgbClr val="000000"/>
              </a:solidFill>
              <a:effectLst/>
              <a:uFillTx/>
              <a:latin typeface="Arial"/>
            </a:endParaRPr>
          </a:p>
        </p:txBody>
      </p:sp>
      <p:sp>
        <p:nvSpPr>
          <p:cNvPr id="278" name=""/>
          <p:cNvSpPr/>
          <p:nvPr/>
        </p:nvSpPr>
        <p:spPr>
          <a:xfrm>
            <a:off x="2194560" y="3099960"/>
            <a:ext cx="4604400" cy="256320"/>
          </a:xfrm>
          <a:custGeom>
            <a:avLst/>
            <a:gdLst/>
            <a:ahLst/>
            <a:rect l="0" t="0" r="r" b="b"/>
            <a:pathLst>
              <a:path w="12790" h="712">
                <a:moveTo>
                  <a:pt x="0" y="0"/>
                </a:moveTo>
                <a:lnTo>
                  <a:pt x="12790" y="0"/>
                </a:lnTo>
                <a:lnTo>
                  <a:pt x="12790" y="712"/>
                </a:lnTo>
                <a:lnTo>
                  <a:pt x="0" y="712"/>
                </a:lnTo>
                <a:lnTo>
                  <a:pt x="0" y="0"/>
                </a:lnTo>
                <a:close/>
              </a:path>
            </a:pathLst>
          </a:custGeom>
          <a:solidFill>
            <a:srgbClr val="E9C467"/>
          </a:solidFill>
          <a:ln w="0">
            <a:noFill/>
          </a:ln>
        </p:spPr>
        <p:txBody>
          <a:bodyPr lIns="90000" tIns="45000" rIns="90000" bIns="45000" anchor="t">
            <a:noAutofit/>
          </a:bodyPr>
          <a:p>
            <a:endParaRPr lang="en-US" sz="1800" b="0" u="none" strike="noStrike">
              <a:solidFill>
                <a:srgbClr val="000000"/>
              </a:solidFill>
              <a:effectLst/>
              <a:uFillTx/>
              <a:latin typeface="Arial"/>
            </a:endParaRPr>
          </a:p>
        </p:txBody>
      </p:sp>
      <p:sp>
        <p:nvSpPr>
          <p:cNvPr id="279" name=""/>
          <p:cNvSpPr txBox="1"/>
          <p:nvPr/>
        </p:nvSpPr>
        <p:spPr>
          <a:xfrm>
            <a:off x="6890040" y="3054240"/>
            <a:ext cx="731520" cy="329040"/>
          </a:xfrm>
          <a:prstGeom prst="rect">
            <a:avLst/>
          </a:prstGeom>
          <a:noFill/>
          <a:ln w="0">
            <a:noFill/>
          </a:ln>
        </p:spPr>
        <p:txBody>
          <a:bodyPr lIns="90000" tIns="45000" rIns="90000" bIns="45000" anchor="t">
            <a:spAutoFit/>
          </a:bodyPr>
          <a:p>
            <a:r>
              <a:rPr lang="en-US" sz="1100" b="0" u="none" strike="noStrike">
                <a:solidFill>
                  <a:srgbClr val="475265"/>
                </a:solidFill>
                <a:effectLst/>
                <a:uFillTx/>
                <a:latin typeface="Calibri"/>
                <a:ea typeface="Calibri"/>
              </a:rPr>
              <a:t>7.0%</a:t>
            </a:r>
            <a:endParaRPr lang="en-US" sz="1100" b="0" u="none" strike="noStrike">
              <a:solidFill>
                <a:srgbClr val="000000"/>
              </a:solidFill>
              <a:effectLst/>
              <a:uFillTx/>
              <a:latin typeface="Arial"/>
            </a:endParaRPr>
          </a:p>
        </p:txBody>
      </p:sp>
      <p:sp>
        <p:nvSpPr>
          <p:cNvPr id="280" name=""/>
          <p:cNvSpPr txBox="1"/>
          <p:nvPr/>
        </p:nvSpPr>
        <p:spPr>
          <a:xfrm>
            <a:off x="548640" y="3438000"/>
            <a:ext cx="1554480" cy="329040"/>
          </a:xfrm>
          <a:prstGeom prst="rect">
            <a:avLst/>
          </a:prstGeom>
          <a:noFill/>
          <a:ln w="0">
            <a:noFill/>
          </a:ln>
        </p:spPr>
        <p:txBody>
          <a:bodyPr lIns="90000" tIns="45000" rIns="90000" bIns="45000" anchor="t">
            <a:spAutoFit/>
          </a:bodyPr>
          <a:p>
            <a:r>
              <a:rPr lang="en-US" sz="1200" b="1" u="none" strike="noStrike">
                <a:solidFill>
                  <a:srgbClr val="2A3547"/>
                </a:solidFill>
                <a:effectLst/>
                <a:uFillTx/>
                <a:latin typeface="Calibri-Bold"/>
                <a:ea typeface="Calibri-Bold"/>
              </a:rPr>
              <a:t>RIPPLY2</a:t>
            </a:r>
            <a:endParaRPr lang="en-US" sz="1200" b="0" u="none" strike="noStrike">
              <a:solidFill>
                <a:srgbClr val="000000"/>
              </a:solidFill>
              <a:effectLst/>
              <a:uFillTx/>
              <a:latin typeface="Arial"/>
            </a:endParaRPr>
          </a:p>
        </p:txBody>
      </p:sp>
      <p:sp>
        <p:nvSpPr>
          <p:cNvPr id="281" name=""/>
          <p:cNvSpPr/>
          <p:nvPr/>
        </p:nvSpPr>
        <p:spPr>
          <a:xfrm>
            <a:off x="2194560" y="3483720"/>
            <a:ext cx="4341240" cy="256320"/>
          </a:xfrm>
          <a:custGeom>
            <a:avLst/>
            <a:gdLst/>
            <a:ahLst/>
            <a:rect l="0" t="0" r="r" b="b"/>
            <a:pathLst>
              <a:path w="12059" h="712">
                <a:moveTo>
                  <a:pt x="0" y="0"/>
                </a:moveTo>
                <a:lnTo>
                  <a:pt x="12059" y="0"/>
                </a:lnTo>
                <a:lnTo>
                  <a:pt x="12059" y="712"/>
                </a:lnTo>
                <a:lnTo>
                  <a:pt x="0" y="712"/>
                </a:lnTo>
                <a:lnTo>
                  <a:pt x="0" y="0"/>
                </a:lnTo>
                <a:close/>
              </a:path>
            </a:pathLst>
          </a:custGeom>
          <a:solidFill>
            <a:srgbClr val="E9C467"/>
          </a:solidFill>
          <a:ln w="0">
            <a:noFill/>
          </a:ln>
        </p:spPr>
        <p:txBody>
          <a:bodyPr lIns="90000" tIns="45000" rIns="90000" bIns="45000" anchor="t">
            <a:noAutofit/>
          </a:bodyPr>
          <a:p>
            <a:endParaRPr lang="en-US" sz="1800" b="0" u="none" strike="noStrike">
              <a:solidFill>
                <a:srgbClr val="000000"/>
              </a:solidFill>
              <a:effectLst/>
              <a:uFillTx/>
              <a:latin typeface="Arial"/>
            </a:endParaRPr>
          </a:p>
        </p:txBody>
      </p:sp>
      <p:sp>
        <p:nvSpPr>
          <p:cNvPr id="282" name=""/>
          <p:cNvSpPr txBox="1"/>
          <p:nvPr/>
        </p:nvSpPr>
        <p:spPr>
          <a:xfrm>
            <a:off x="6626880" y="3438000"/>
            <a:ext cx="731520" cy="329040"/>
          </a:xfrm>
          <a:prstGeom prst="rect">
            <a:avLst/>
          </a:prstGeom>
          <a:noFill/>
          <a:ln w="0">
            <a:noFill/>
          </a:ln>
        </p:spPr>
        <p:txBody>
          <a:bodyPr lIns="90000" tIns="45000" rIns="90000" bIns="45000" anchor="t">
            <a:spAutoFit/>
          </a:bodyPr>
          <a:p>
            <a:r>
              <a:rPr lang="en-US" sz="1100" b="0" u="none" strike="noStrike">
                <a:solidFill>
                  <a:srgbClr val="475265"/>
                </a:solidFill>
                <a:effectLst/>
                <a:uFillTx/>
                <a:latin typeface="Calibri"/>
                <a:ea typeface="Calibri"/>
              </a:rPr>
              <a:t>6.6%</a:t>
            </a:r>
            <a:endParaRPr lang="en-US" sz="1100" b="0" u="none" strike="noStrike">
              <a:solidFill>
                <a:srgbClr val="000000"/>
              </a:solidFill>
              <a:effectLst/>
              <a:uFillTx/>
              <a:latin typeface="Arial"/>
            </a:endParaRPr>
          </a:p>
        </p:txBody>
      </p:sp>
      <p:sp>
        <p:nvSpPr>
          <p:cNvPr id="283" name=""/>
          <p:cNvSpPr txBox="1"/>
          <p:nvPr/>
        </p:nvSpPr>
        <p:spPr>
          <a:xfrm>
            <a:off x="548640" y="3822120"/>
            <a:ext cx="1554480" cy="329040"/>
          </a:xfrm>
          <a:prstGeom prst="rect">
            <a:avLst/>
          </a:prstGeom>
          <a:noFill/>
          <a:ln w="0">
            <a:noFill/>
          </a:ln>
        </p:spPr>
        <p:txBody>
          <a:bodyPr lIns="90000" tIns="45000" rIns="90000" bIns="45000" anchor="t">
            <a:spAutoFit/>
          </a:bodyPr>
          <a:p>
            <a:r>
              <a:rPr lang="en-US" sz="1200" b="1" u="none" strike="noStrike">
                <a:solidFill>
                  <a:srgbClr val="2A3547"/>
                </a:solidFill>
                <a:effectLst/>
                <a:uFillTx/>
                <a:latin typeface="Calibri-Bold"/>
                <a:ea typeface="Calibri-Bold"/>
              </a:rPr>
              <a:t>NECTIN4</a:t>
            </a:r>
            <a:endParaRPr lang="en-US" sz="1200" b="0" u="none" strike="noStrike">
              <a:solidFill>
                <a:srgbClr val="000000"/>
              </a:solidFill>
              <a:effectLst/>
              <a:uFillTx/>
              <a:latin typeface="Arial"/>
            </a:endParaRPr>
          </a:p>
        </p:txBody>
      </p:sp>
      <p:sp>
        <p:nvSpPr>
          <p:cNvPr id="284" name=""/>
          <p:cNvSpPr/>
          <p:nvPr/>
        </p:nvSpPr>
        <p:spPr>
          <a:xfrm>
            <a:off x="2194560" y="3867840"/>
            <a:ext cx="4341240" cy="256320"/>
          </a:xfrm>
          <a:custGeom>
            <a:avLst/>
            <a:gdLst/>
            <a:ahLst/>
            <a:rect l="0" t="0" r="r" b="b"/>
            <a:pathLst>
              <a:path w="12059" h="712">
                <a:moveTo>
                  <a:pt x="0" y="0"/>
                </a:moveTo>
                <a:lnTo>
                  <a:pt x="12059" y="0"/>
                </a:lnTo>
                <a:lnTo>
                  <a:pt x="12059" y="712"/>
                </a:lnTo>
                <a:lnTo>
                  <a:pt x="0" y="712"/>
                </a:lnTo>
                <a:lnTo>
                  <a:pt x="0" y="0"/>
                </a:lnTo>
                <a:close/>
              </a:path>
            </a:pathLst>
          </a:custGeom>
          <a:solidFill>
            <a:srgbClr val="E9C467"/>
          </a:solidFill>
          <a:ln w="0">
            <a:noFill/>
          </a:ln>
        </p:spPr>
        <p:txBody>
          <a:bodyPr lIns="90000" tIns="45000" rIns="90000" bIns="45000" anchor="t">
            <a:noAutofit/>
          </a:bodyPr>
          <a:p>
            <a:endParaRPr lang="en-US" sz="1800" b="0" u="none" strike="noStrike">
              <a:solidFill>
                <a:srgbClr val="000000"/>
              </a:solidFill>
              <a:effectLst/>
              <a:uFillTx/>
              <a:latin typeface="Arial"/>
            </a:endParaRPr>
          </a:p>
        </p:txBody>
      </p:sp>
      <p:sp>
        <p:nvSpPr>
          <p:cNvPr id="285" name=""/>
          <p:cNvSpPr txBox="1"/>
          <p:nvPr/>
        </p:nvSpPr>
        <p:spPr>
          <a:xfrm>
            <a:off x="6626880" y="3822120"/>
            <a:ext cx="731520" cy="329040"/>
          </a:xfrm>
          <a:prstGeom prst="rect">
            <a:avLst/>
          </a:prstGeom>
          <a:noFill/>
          <a:ln w="0">
            <a:noFill/>
          </a:ln>
        </p:spPr>
        <p:txBody>
          <a:bodyPr lIns="90000" tIns="45000" rIns="90000" bIns="45000" anchor="t">
            <a:spAutoFit/>
          </a:bodyPr>
          <a:p>
            <a:r>
              <a:rPr lang="en-US" sz="1100" b="0" u="none" strike="noStrike">
                <a:solidFill>
                  <a:srgbClr val="475265"/>
                </a:solidFill>
                <a:effectLst/>
                <a:uFillTx/>
                <a:latin typeface="Calibri"/>
                <a:ea typeface="Calibri"/>
              </a:rPr>
              <a:t>6.6%</a:t>
            </a:r>
            <a:endParaRPr lang="en-US" sz="1100" b="0" u="none" strike="noStrike">
              <a:solidFill>
                <a:srgbClr val="000000"/>
              </a:solidFill>
              <a:effectLst/>
              <a:uFillTx/>
              <a:latin typeface="Arial"/>
            </a:endParaRPr>
          </a:p>
        </p:txBody>
      </p:sp>
      <p:sp>
        <p:nvSpPr>
          <p:cNvPr id="286" name=""/>
          <p:cNvSpPr txBox="1"/>
          <p:nvPr/>
        </p:nvSpPr>
        <p:spPr>
          <a:xfrm>
            <a:off x="548640" y="4206240"/>
            <a:ext cx="1554480" cy="329040"/>
          </a:xfrm>
          <a:prstGeom prst="rect">
            <a:avLst/>
          </a:prstGeom>
          <a:noFill/>
          <a:ln w="0">
            <a:noFill/>
          </a:ln>
        </p:spPr>
        <p:txBody>
          <a:bodyPr lIns="90000" tIns="45000" rIns="90000" bIns="45000" anchor="t">
            <a:spAutoFit/>
          </a:bodyPr>
          <a:p>
            <a:r>
              <a:rPr lang="en-US" sz="1200" b="1" u="none" strike="noStrike">
                <a:solidFill>
                  <a:srgbClr val="2A3547"/>
                </a:solidFill>
                <a:effectLst/>
                <a:uFillTx/>
                <a:latin typeface="Calibri-Bold"/>
                <a:ea typeface="Calibri-Bold"/>
              </a:rPr>
              <a:t>NTHL1</a:t>
            </a:r>
            <a:endParaRPr lang="en-US" sz="1200" b="0" u="none" strike="noStrike">
              <a:solidFill>
                <a:srgbClr val="000000"/>
              </a:solidFill>
              <a:effectLst/>
              <a:uFillTx/>
              <a:latin typeface="Arial"/>
            </a:endParaRPr>
          </a:p>
        </p:txBody>
      </p:sp>
      <p:sp>
        <p:nvSpPr>
          <p:cNvPr id="287" name=""/>
          <p:cNvSpPr/>
          <p:nvPr/>
        </p:nvSpPr>
        <p:spPr>
          <a:xfrm>
            <a:off x="2194560" y="4251960"/>
            <a:ext cx="4341240" cy="256320"/>
          </a:xfrm>
          <a:custGeom>
            <a:avLst/>
            <a:gdLst/>
            <a:ahLst/>
            <a:rect l="0" t="0" r="r" b="b"/>
            <a:pathLst>
              <a:path w="12059" h="712">
                <a:moveTo>
                  <a:pt x="0" y="0"/>
                </a:moveTo>
                <a:lnTo>
                  <a:pt x="12059" y="0"/>
                </a:lnTo>
                <a:lnTo>
                  <a:pt x="12059" y="712"/>
                </a:lnTo>
                <a:lnTo>
                  <a:pt x="0" y="712"/>
                </a:lnTo>
                <a:lnTo>
                  <a:pt x="0" y="0"/>
                </a:lnTo>
                <a:close/>
              </a:path>
            </a:pathLst>
          </a:custGeom>
          <a:solidFill>
            <a:srgbClr val="E9C467"/>
          </a:solidFill>
          <a:ln w="0">
            <a:noFill/>
          </a:ln>
        </p:spPr>
        <p:txBody>
          <a:bodyPr lIns="90000" tIns="45000" rIns="90000" bIns="45000" anchor="t">
            <a:noAutofit/>
          </a:bodyPr>
          <a:p>
            <a:endParaRPr lang="en-US" sz="1800" b="0" u="none" strike="noStrike">
              <a:solidFill>
                <a:srgbClr val="000000"/>
              </a:solidFill>
              <a:effectLst/>
              <a:uFillTx/>
              <a:latin typeface="Arial"/>
            </a:endParaRPr>
          </a:p>
        </p:txBody>
      </p:sp>
      <p:sp>
        <p:nvSpPr>
          <p:cNvPr id="288" name=""/>
          <p:cNvSpPr txBox="1"/>
          <p:nvPr/>
        </p:nvSpPr>
        <p:spPr>
          <a:xfrm>
            <a:off x="6626880" y="4206240"/>
            <a:ext cx="731520" cy="329040"/>
          </a:xfrm>
          <a:prstGeom prst="rect">
            <a:avLst/>
          </a:prstGeom>
          <a:noFill/>
          <a:ln w="0">
            <a:noFill/>
          </a:ln>
        </p:spPr>
        <p:txBody>
          <a:bodyPr lIns="90000" tIns="45000" rIns="90000" bIns="45000" anchor="t">
            <a:spAutoFit/>
          </a:bodyPr>
          <a:p>
            <a:r>
              <a:rPr lang="en-US" sz="1100" b="0" u="none" strike="noStrike">
                <a:solidFill>
                  <a:srgbClr val="475265"/>
                </a:solidFill>
                <a:effectLst/>
                <a:uFillTx/>
                <a:latin typeface="Calibri"/>
                <a:ea typeface="Calibri"/>
              </a:rPr>
              <a:t>6.6%</a:t>
            </a:r>
            <a:endParaRPr lang="en-US" sz="1100" b="0" u="none" strike="noStrike">
              <a:solidFill>
                <a:srgbClr val="000000"/>
              </a:solidFill>
              <a:effectLst/>
              <a:uFillTx/>
              <a:latin typeface="Arial"/>
            </a:endParaRPr>
          </a:p>
        </p:txBody>
      </p:sp>
      <p:sp>
        <p:nvSpPr>
          <p:cNvPr id="289" name=""/>
          <p:cNvSpPr txBox="1"/>
          <p:nvPr/>
        </p:nvSpPr>
        <p:spPr>
          <a:xfrm>
            <a:off x="548640" y="4590360"/>
            <a:ext cx="1554480" cy="329040"/>
          </a:xfrm>
          <a:prstGeom prst="rect">
            <a:avLst/>
          </a:prstGeom>
          <a:noFill/>
          <a:ln w="0">
            <a:noFill/>
          </a:ln>
        </p:spPr>
        <p:txBody>
          <a:bodyPr lIns="90000" tIns="45000" rIns="90000" bIns="45000" anchor="t">
            <a:spAutoFit/>
          </a:bodyPr>
          <a:p>
            <a:r>
              <a:rPr lang="en-US" sz="1200" b="1" u="none" strike="noStrike">
                <a:solidFill>
                  <a:srgbClr val="2A3547"/>
                </a:solidFill>
                <a:effectLst/>
                <a:uFillTx/>
                <a:latin typeface="Calibri-Bold"/>
                <a:ea typeface="Calibri-Bold"/>
              </a:rPr>
              <a:t>STAG2</a:t>
            </a:r>
            <a:endParaRPr lang="en-US" sz="1200" b="0" u="none" strike="noStrike">
              <a:solidFill>
                <a:srgbClr val="000000"/>
              </a:solidFill>
              <a:effectLst/>
              <a:uFillTx/>
              <a:latin typeface="Arial"/>
            </a:endParaRPr>
          </a:p>
        </p:txBody>
      </p:sp>
      <p:sp>
        <p:nvSpPr>
          <p:cNvPr id="290" name=""/>
          <p:cNvSpPr/>
          <p:nvPr/>
        </p:nvSpPr>
        <p:spPr>
          <a:xfrm>
            <a:off x="2194560" y="4636080"/>
            <a:ext cx="4341240" cy="256320"/>
          </a:xfrm>
          <a:custGeom>
            <a:avLst/>
            <a:gdLst/>
            <a:ahLst/>
            <a:rect l="0" t="0" r="r" b="b"/>
            <a:pathLst>
              <a:path w="12059" h="712">
                <a:moveTo>
                  <a:pt x="0" y="0"/>
                </a:moveTo>
                <a:lnTo>
                  <a:pt x="12059" y="0"/>
                </a:lnTo>
                <a:lnTo>
                  <a:pt x="12059" y="712"/>
                </a:lnTo>
                <a:lnTo>
                  <a:pt x="0" y="712"/>
                </a:lnTo>
                <a:lnTo>
                  <a:pt x="0" y="0"/>
                </a:lnTo>
                <a:close/>
              </a:path>
            </a:pathLst>
          </a:custGeom>
          <a:solidFill>
            <a:srgbClr val="E9C467"/>
          </a:solidFill>
          <a:ln w="0">
            <a:noFill/>
          </a:ln>
        </p:spPr>
        <p:txBody>
          <a:bodyPr lIns="90000" tIns="45000" rIns="90000" bIns="45000" anchor="t">
            <a:noAutofit/>
          </a:bodyPr>
          <a:p>
            <a:endParaRPr lang="en-US" sz="1800" b="0" u="none" strike="noStrike">
              <a:solidFill>
                <a:srgbClr val="000000"/>
              </a:solidFill>
              <a:effectLst/>
              <a:uFillTx/>
              <a:latin typeface="Arial"/>
            </a:endParaRPr>
          </a:p>
        </p:txBody>
      </p:sp>
      <p:sp>
        <p:nvSpPr>
          <p:cNvPr id="291" name=""/>
          <p:cNvSpPr txBox="1"/>
          <p:nvPr/>
        </p:nvSpPr>
        <p:spPr>
          <a:xfrm>
            <a:off x="6626880" y="4590360"/>
            <a:ext cx="731520" cy="329040"/>
          </a:xfrm>
          <a:prstGeom prst="rect">
            <a:avLst/>
          </a:prstGeom>
          <a:noFill/>
          <a:ln w="0">
            <a:noFill/>
          </a:ln>
        </p:spPr>
        <p:txBody>
          <a:bodyPr lIns="90000" tIns="45000" rIns="90000" bIns="45000" anchor="t">
            <a:spAutoFit/>
          </a:bodyPr>
          <a:p>
            <a:r>
              <a:rPr lang="en-US" sz="1100" b="0" u="none" strike="noStrike">
                <a:solidFill>
                  <a:srgbClr val="475265"/>
                </a:solidFill>
                <a:effectLst/>
                <a:uFillTx/>
                <a:latin typeface="Calibri"/>
                <a:ea typeface="Calibri"/>
              </a:rPr>
              <a:t>6.6%</a:t>
            </a:r>
            <a:endParaRPr lang="en-US" sz="1100" b="0" u="none" strike="noStrike">
              <a:solidFill>
                <a:srgbClr val="000000"/>
              </a:solidFill>
              <a:effectLst/>
              <a:uFillTx/>
              <a:latin typeface="Arial"/>
            </a:endParaRPr>
          </a:p>
        </p:txBody>
      </p:sp>
      <p:sp>
        <p:nvSpPr>
          <p:cNvPr id="292" name=""/>
          <p:cNvSpPr txBox="1"/>
          <p:nvPr/>
        </p:nvSpPr>
        <p:spPr>
          <a:xfrm>
            <a:off x="548640" y="4974480"/>
            <a:ext cx="1554480" cy="329040"/>
          </a:xfrm>
          <a:prstGeom prst="rect">
            <a:avLst/>
          </a:prstGeom>
          <a:noFill/>
          <a:ln w="0">
            <a:noFill/>
          </a:ln>
        </p:spPr>
        <p:txBody>
          <a:bodyPr lIns="90000" tIns="45000" rIns="90000" bIns="45000" anchor="t">
            <a:spAutoFit/>
          </a:bodyPr>
          <a:p>
            <a:r>
              <a:rPr lang="en-US" sz="1200" b="1" u="none" strike="noStrike">
                <a:solidFill>
                  <a:srgbClr val="2A3547"/>
                </a:solidFill>
                <a:effectLst/>
                <a:uFillTx/>
                <a:latin typeface="Calibri-Bold"/>
                <a:ea typeface="Calibri-Bold"/>
              </a:rPr>
              <a:t>TBX2</a:t>
            </a:r>
            <a:endParaRPr lang="en-US" sz="1200" b="0" u="none" strike="noStrike">
              <a:solidFill>
                <a:srgbClr val="000000"/>
              </a:solidFill>
              <a:effectLst/>
              <a:uFillTx/>
              <a:latin typeface="Arial"/>
            </a:endParaRPr>
          </a:p>
        </p:txBody>
      </p:sp>
      <p:sp>
        <p:nvSpPr>
          <p:cNvPr id="293" name=""/>
          <p:cNvSpPr/>
          <p:nvPr/>
        </p:nvSpPr>
        <p:spPr>
          <a:xfrm>
            <a:off x="2194560" y="5020200"/>
            <a:ext cx="4341240" cy="256320"/>
          </a:xfrm>
          <a:custGeom>
            <a:avLst/>
            <a:gdLst/>
            <a:ahLst/>
            <a:rect l="0" t="0" r="r" b="b"/>
            <a:pathLst>
              <a:path w="12059" h="712">
                <a:moveTo>
                  <a:pt x="0" y="0"/>
                </a:moveTo>
                <a:lnTo>
                  <a:pt x="12059" y="0"/>
                </a:lnTo>
                <a:lnTo>
                  <a:pt x="12059" y="712"/>
                </a:lnTo>
                <a:lnTo>
                  <a:pt x="0" y="712"/>
                </a:lnTo>
                <a:lnTo>
                  <a:pt x="0" y="0"/>
                </a:lnTo>
                <a:close/>
              </a:path>
            </a:pathLst>
          </a:custGeom>
          <a:solidFill>
            <a:srgbClr val="E9C467"/>
          </a:solidFill>
          <a:ln w="0">
            <a:noFill/>
          </a:ln>
        </p:spPr>
        <p:txBody>
          <a:bodyPr lIns="90000" tIns="45000" rIns="90000" bIns="45000" anchor="t">
            <a:noAutofit/>
          </a:bodyPr>
          <a:p>
            <a:endParaRPr lang="en-US" sz="1800" b="0" u="none" strike="noStrike">
              <a:solidFill>
                <a:srgbClr val="000000"/>
              </a:solidFill>
              <a:effectLst/>
              <a:uFillTx/>
              <a:latin typeface="Arial"/>
            </a:endParaRPr>
          </a:p>
        </p:txBody>
      </p:sp>
      <p:sp>
        <p:nvSpPr>
          <p:cNvPr id="294" name=""/>
          <p:cNvSpPr txBox="1"/>
          <p:nvPr/>
        </p:nvSpPr>
        <p:spPr>
          <a:xfrm>
            <a:off x="6626880" y="4974480"/>
            <a:ext cx="731520" cy="329040"/>
          </a:xfrm>
          <a:prstGeom prst="rect">
            <a:avLst/>
          </a:prstGeom>
          <a:noFill/>
          <a:ln w="0">
            <a:noFill/>
          </a:ln>
        </p:spPr>
        <p:txBody>
          <a:bodyPr lIns="90000" tIns="45000" rIns="90000" bIns="45000" anchor="t">
            <a:spAutoFit/>
          </a:bodyPr>
          <a:p>
            <a:r>
              <a:rPr lang="en-US" sz="1100" b="0" u="none" strike="noStrike">
                <a:solidFill>
                  <a:srgbClr val="475265"/>
                </a:solidFill>
                <a:effectLst/>
                <a:uFillTx/>
                <a:latin typeface="Calibri"/>
                <a:ea typeface="Calibri"/>
              </a:rPr>
              <a:t>6.6%</a:t>
            </a:r>
            <a:endParaRPr lang="en-US" sz="1100" b="0" u="none" strike="noStrike">
              <a:solidFill>
                <a:srgbClr val="000000"/>
              </a:solidFill>
              <a:effectLst/>
              <a:uFillTx/>
              <a:latin typeface="Arial"/>
            </a:endParaRPr>
          </a:p>
        </p:txBody>
      </p:sp>
      <p:sp>
        <p:nvSpPr>
          <p:cNvPr id="295" name=""/>
          <p:cNvSpPr txBox="1"/>
          <p:nvPr/>
        </p:nvSpPr>
        <p:spPr>
          <a:xfrm>
            <a:off x="548640" y="5358240"/>
            <a:ext cx="1554480" cy="329040"/>
          </a:xfrm>
          <a:prstGeom prst="rect">
            <a:avLst/>
          </a:prstGeom>
          <a:noFill/>
          <a:ln w="0">
            <a:noFill/>
          </a:ln>
        </p:spPr>
        <p:txBody>
          <a:bodyPr lIns="90000" tIns="45000" rIns="90000" bIns="45000" anchor="t">
            <a:spAutoFit/>
          </a:bodyPr>
          <a:p>
            <a:r>
              <a:rPr lang="en-US" sz="1200" b="1" u="none" strike="noStrike">
                <a:solidFill>
                  <a:srgbClr val="2A3547"/>
                </a:solidFill>
                <a:effectLst/>
                <a:uFillTx/>
                <a:latin typeface="Calibri-Bold"/>
                <a:ea typeface="Calibri-Bold"/>
              </a:rPr>
              <a:t>UBA5</a:t>
            </a:r>
            <a:endParaRPr lang="en-US" sz="1200" b="0" u="none" strike="noStrike">
              <a:solidFill>
                <a:srgbClr val="000000"/>
              </a:solidFill>
              <a:effectLst/>
              <a:uFillTx/>
              <a:latin typeface="Arial"/>
            </a:endParaRPr>
          </a:p>
        </p:txBody>
      </p:sp>
      <p:sp>
        <p:nvSpPr>
          <p:cNvPr id="296" name=""/>
          <p:cNvSpPr/>
          <p:nvPr/>
        </p:nvSpPr>
        <p:spPr>
          <a:xfrm>
            <a:off x="2194560" y="5403960"/>
            <a:ext cx="4341240" cy="256320"/>
          </a:xfrm>
          <a:custGeom>
            <a:avLst/>
            <a:gdLst/>
            <a:ahLst/>
            <a:rect l="0" t="0" r="r" b="b"/>
            <a:pathLst>
              <a:path w="12059" h="712">
                <a:moveTo>
                  <a:pt x="0" y="0"/>
                </a:moveTo>
                <a:lnTo>
                  <a:pt x="12059" y="0"/>
                </a:lnTo>
                <a:lnTo>
                  <a:pt x="12059" y="712"/>
                </a:lnTo>
                <a:lnTo>
                  <a:pt x="0" y="712"/>
                </a:lnTo>
                <a:lnTo>
                  <a:pt x="0" y="0"/>
                </a:lnTo>
                <a:close/>
              </a:path>
            </a:pathLst>
          </a:custGeom>
          <a:solidFill>
            <a:srgbClr val="E9C467"/>
          </a:solidFill>
          <a:ln w="0">
            <a:noFill/>
          </a:ln>
        </p:spPr>
        <p:txBody>
          <a:bodyPr lIns="90000" tIns="45000" rIns="90000" bIns="45000" anchor="t">
            <a:noAutofit/>
          </a:bodyPr>
          <a:p>
            <a:endParaRPr lang="en-US" sz="1800" b="0" u="none" strike="noStrike">
              <a:solidFill>
                <a:srgbClr val="000000"/>
              </a:solidFill>
              <a:effectLst/>
              <a:uFillTx/>
              <a:latin typeface="Arial"/>
            </a:endParaRPr>
          </a:p>
        </p:txBody>
      </p:sp>
      <p:sp>
        <p:nvSpPr>
          <p:cNvPr id="297" name=""/>
          <p:cNvSpPr txBox="1"/>
          <p:nvPr/>
        </p:nvSpPr>
        <p:spPr>
          <a:xfrm>
            <a:off x="6626880" y="5358240"/>
            <a:ext cx="731520" cy="329040"/>
          </a:xfrm>
          <a:prstGeom prst="rect">
            <a:avLst/>
          </a:prstGeom>
          <a:noFill/>
          <a:ln w="0">
            <a:noFill/>
          </a:ln>
        </p:spPr>
        <p:txBody>
          <a:bodyPr lIns="90000" tIns="45000" rIns="90000" bIns="45000" anchor="t">
            <a:spAutoFit/>
          </a:bodyPr>
          <a:p>
            <a:r>
              <a:rPr lang="en-US" sz="1100" b="0" u="none" strike="noStrike">
                <a:solidFill>
                  <a:srgbClr val="475265"/>
                </a:solidFill>
                <a:effectLst/>
                <a:uFillTx/>
                <a:latin typeface="Calibri"/>
                <a:ea typeface="Calibri"/>
              </a:rPr>
              <a:t>6.6%</a:t>
            </a:r>
            <a:endParaRPr lang="en-US" sz="1100" b="0" u="none" strike="noStrike">
              <a:solidFill>
                <a:srgbClr val="000000"/>
              </a:solidFill>
              <a:effectLst/>
              <a:uFillTx/>
              <a:latin typeface="Arial"/>
            </a:endParaRPr>
          </a:p>
        </p:txBody>
      </p:sp>
      <p:sp>
        <p:nvSpPr>
          <p:cNvPr id="298" name=""/>
          <p:cNvSpPr txBox="1"/>
          <p:nvPr/>
        </p:nvSpPr>
        <p:spPr>
          <a:xfrm>
            <a:off x="548640" y="5742360"/>
            <a:ext cx="1554480" cy="329040"/>
          </a:xfrm>
          <a:prstGeom prst="rect">
            <a:avLst/>
          </a:prstGeom>
          <a:noFill/>
          <a:ln w="0">
            <a:noFill/>
          </a:ln>
        </p:spPr>
        <p:txBody>
          <a:bodyPr lIns="90000" tIns="45000" rIns="90000" bIns="45000" anchor="t">
            <a:spAutoFit/>
          </a:bodyPr>
          <a:p>
            <a:r>
              <a:rPr lang="en-US" sz="1200" b="1" u="none" strike="noStrike">
                <a:solidFill>
                  <a:srgbClr val="2A3547"/>
                </a:solidFill>
                <a:effectLst/>
                <a:uFillTx/>
                <a:latin typeface="Calibri-Bold"/>
                <a:ea typeface="Calibri-Bold"/>
              </a:rPr>
              <a:t>ARL3</a:t>
            </a:r>
            <a:endParaRPr lang="en-US" sz="1200" b="0" u="none" strike="noStrike">
              <a:solidFill>
                <a:srgbClr val="000000"/>
              </a:solidFill>
              <a:effectLst/>
              <a:uFillTx/>
              <a:latin typeface="Arial"/>
            </a:endParaRPr>
          </a:p>
        </p:txBody>
      </p:sp>
      <p:sp>
        <p:nvSpPr>
          <p:cNvPr id="299" name=""/>
          <p:cNvSpPr/>
          <p:nvPr/>
        </p:nvSpPr>
        <p:spPr>
          <a:xfrm>
            <a:off x="2194560" y="5788080"/>
            <a:ext cx="4341240" cy="256320"/>
          </a:xfrm>
          <a:custGeom>
            <a:avLst/>
            <a:gdLst/>
            <a:ahLst/>
            <a:rect l="0" t="0" r="r" b="b"/>
            <a:pathLst>
              <a:path w="12059" h="712">
                <a:moveTo>
                  <a:pt x="0" y="0"/>
                </a:moveTo>
                <a:lnTo>
                  <a:pt x="12059" y="0"/>
                </a:lnTo>
                <a:lnTo>
                  <a:pt x="12059" y="712"/>
                </a:lnTo>
                <a:lnTo>
                  <a:pt x="0" y="712"/>
                </a:lnTo>
                <a:lnTo>
                  <a:pt x="0" y="0"/>
                </a:lnTo>
                <a:close/>
              </a:path>
            </a:pathLst>
          </a:custGeom>
          <a:solidFill>
            <a:srgbClr val="E9C467"/>
          </a:solidFill>
          <a:ln w="0">
            <a:noFill/>
          </a:ln>
        </p:spPr>
        <p:txBody>
          <a:bodyPr lIns="90000" tIns="45000" rIns="90000" bIns="45000" anchor="t">
            <a:noAutofit/>
          </a:bodyPr>
          <a:p>
            <a:endParaRPr lang="en-US" sz="1800" b="0" u="none" strike="noStrike">
              <a:solidFill>
                <a:srgbClr val="000000"/>
              </a:solidFill>
              <a:effectLst/>
              <a:uFillTx/>
              <a:latin typeface="Arial"/>
            </a:endParaRPr>
          </a:p>
        </p:txBody>
      </p:sp>
      <p:sp>
        <p:nvSpPr>
          <p:cNvPr id="300" name=""/>
          <p:cNvSpPr txBox="1"/>
          <p:nvPr/>
        </p:nvSpPr>
        <p:spPr>
          <a:xfrm>
            <a:off x="6626880" y="5742360"/>
            <a:ext cx="731520" cy="329040"/>
          </a:xfrm>
          <a:prstGeom prst="rect">
            <a:avLst/>
          </a:prstGeom>
          <a:noFill/>
          <a:ln w="0">
            <a:noFill/>
          </a:ln>
        </p:spPr>
        <p:txBody>
          <a:bodyPr lIns="90000" tIns="45000" rIns="90000" bIns="45000" anchor="t">
            <a:spAutoFit/>
          </a:bodyPr>
          <a:p>
            <a:r>
              <a:rPr lang="en-US" sz="1100" b="0" u="none" strike="noStrike">
                <a:solidFill>
                  <a:srgbClr val="475265"/>
                </a:solidFill>
                <a:effectLst/>
                <a:uFillTx/>
                <a:latin typeface="Calibri"/>
                <a:ea typeface="Calibri"/>
              </a:rPr>
              <a:t>6.6%</a:t>
            </a:r>
            <a:endParaRPr lang="en-US" sz="1100" b="0" u="none" strike="noStrike">
              <a:solidFill>
                <a:srgbClr val="000000"/>
              </a:solidFill>
              <a:effectLst/>
              <a:uFillTx/>
              <a:latin typeface="Arial"/>
            </a:endParaRPr>
          </a:p>
        </p:txBody>
      </p:sp>
      <p:sp>
        <p:nvSpPr>
          <p:cNvPr id="301" name=""/>
          <p:cNvSpPr txBox="1"/>
          <p:nvPr/>
        </p:nvSpPr>
        <p:spPr>
          <a:xfrm>
            <a:off x="548640" y="6172200"/>
            <a:ext cx="10972800" cy="548640"/>
          </a:xfrm>
          <a:prstGeom prst="rect">
            <a:avLst/>
          </a:prstGeom>
          <a:noFill/>
          <a:ln w="0">
            <a:noFill/>
          </a:ln>
        </p:spPr>
        <p:txBody>
          <a:bodyPr lIns="90000" tIns="45000" rIns="90000" bIns="45000" anchor="t">
            <a:spAutoFit/>
          </a:bodyPr>
          <a:p>
            <a:pPr>
              <a:lnSpc>
                <a:spcPct val="125000"/>
              </a:lnSpc>
            </a:pPr>
            <a:r>
              <a:rPr lang="en-US" sz="1100" b="0" u="none" strike="noStrike">
                <a:solidFill>
                  <a:srgbClr val="475265"/>
                </a:solidFill>
                <a:effectLst/>
                <a:uFillTx/>
                <a:latin typeface="Calibri"/>
                <a:ea typeface="Calibri"/>
              </a:rPr>
              <a:t>Baseline resolution rate across all of ClinVar: 7.0%. TP53 sits at 20.4%, well above baseline but outside this top 10, which is dominated by lower-submission-volume genes with unusually consistent early curator agreement</a:t>
            </a:r>
            <a:r>
              <a:rPr lang="en-US" sz="1100" b="0" u="none" strike="noStrike">
                <a:solidFill>
                  <a:srgbClr val="475265"/>
                </a:solidFill>
                <a:effectLst/>
                <a:uFillTx/>
                <a:latin typeface="Calibri"/>
                <a:ea typeface="Calibri"/>
              </a:rPr>
              <a:t>.</a:t>
            </a:r>
            <a:endParaRPr lang="en-US" sz="1100" b="0" u="none" strike="noStrike">
              <a:solidFill>
                <a:srgbClr val="000000"/>
              </a:solidFill>
              <a:effectLst/>
              <a:uFillTx/>
              <a:latin typeface="Arial"/>
            </a:endParaRPr>
          </a:p>
        </p:txBody>
      </p:sp>
      <p:sp>
        <p:nvSpPr>
          <p:cNvPr id="302" name=""/>
          <p:cNvSpPr txBox="1"/>
          <p:nvPr/>
        </p:nvSpPr>
        <p:spPr>
          <a:xfrm>
            <a:off x="11368840" y="6446520"/>
            <a:ext cx="500000" cy="300000"/>
          </a:xfrm>
          <a:prstGeom prst="rect">
            <a:avLst/>
          </a:prstGeom>
          <a:noFill/>
          <a:ln w="0">
            <a:noFill/>
          </a:ln>
        </p:spPr>
        <p:txBody>
          <a:bodyPr lIns="90000" tIns="45000" rIns="90000" bIns="45000" anchor="t">
            <a:spAutoFit/>
          </a:bodyPr>
          <a:p>
            <a:pPr algn="r"/>
            <a:r>
              <a:rPr lang="en-US" sz="1000" b="0" u="none" strike="noStrike">
                <a:solidFill>
                  <a:srgbClr val="8D99AE"/>
                </a:solidFill>
                <a:effectLst/>
                <a:uFillTx/>
                <a:latin typeface="Calibri"/>
                <a:ea typeface="Calibri"/>
              </a:rPr>
              <a:t>2</a:t>
            </a:r>
            <a:r>
              <a:rPr lang="en-US" sz="1000" b="0" u="none" strike="noStrike">
                <a:solidFill>
                  <a:srgbClr val="8D99AE"/>
                </a:solidFill>
                <a:effectLst/>
                <a:uFillTx/>
                <a:latin typeface="Calibri"/>
                <a:ea typeface="Calibri"/>
              </a:rPr>
              <a:t>5</a:t>
            </a:r>
            <a:endParaRPr lang="en-US"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03" name=""/>
          <p:cNvSpPr txBox="1"/>
          <p:nvPr/>
        </p:nvSpPr>
        <p:spPr>
          <a:xfrm>
            <a:off x="548640" y="384120"/>
            <a:ext cx="7315200" cy="292680"/>
          </a:xfrm>
          <a:prstGeom prst="rect">
            <a:avLst/>
          </a:prstGeom>
          <a:noFill/>
          <a:ln w="0">
            <a:noFill/>
          </a:ln>
        </p:spPr>
        <p:txBody>
          <a:bodyPr lIns="90000" tIns="45000" rIns="90000" bIns="45000" anchor="t">
            <a:spAutoFit/>
          </a:bodyPr>
          <a:p>
            <a:r>
              <a:rPr lang="en-US" sz="1200" b="1" u="none" spc="201" strike="noStrike">
                <a:solidFill>
                  <a:srgbClr val="E76C4E"/>
                </a:solidFill>
                <a:effectLst/>
                <a:uFillTx/>
                <a:latin typeface="Calibri-Bold"/>
                <a:ea typeface="Calibri-Bold"/>
              </a:rPr>
              <a:t>WHAT THIS MEANS</a:t>
            </a:r>
            <a:endParaRPr lang="en-US" sz="1200" b="0" u="none" strike="noStrike">
              <a:solidFill>
                <a:srgbClr val="000000"/>
              </a:solidFill>
              <a:effectLst/>
              <a:uFillTx/>
              <a:latin typeface="Arial"/>
            </a:endParaRPr>
          </a:p>
        </p:txBody>
      </p:sp>
      <p:sp>
        <p:nvSpPr>
          <p:cNvPr id="304" name=""/>
          <p:cNvSpPr txBox="1"/>
          <p:nvPr/>
        </p:nvSpPr>
        <p:spPr>
          <a:xfrm>
            <a:off x="548640" y="658440"/>
            <a:ext cx="10789920" cy="777240"/>
          </a:xfrm>
          <a:prstGeom prst="rect">
            <a:avLst/>
          </a:prstGeom>
          <a:noFill/>
          <a:ln w="0">
            <a:noFill/>
          </a:ln>
        </p:spPr>
        <p:txBody>
          <a:bodyPr lIns="90000" tIns="45000" rIns="90000" bIns="45000" anchor="t">
            <a:spAutoFit/>
          </a:bodyPr>
          <a:p>
            <a:r>
              <a:rPr lang="en-US" sz="3000" b="1" u="none" strike="noStrike">
                <a:solidFill>
                  <a:srgbClr val="1F242E"/>
                </a:solidFill>
                <a:effectLst/>
                <a:uFillTx/>
                <a:latin typeface="Cambria-Bold"/>
                <a:ea typeface="Cambria-Bold"/>
              </a:rPr>
              <a:t>How This Changes VUS Reporting</a:t>
            </a:r>
            <a:endParaRPr lang="en-US" sz="3000" b="0" u="none" strike="noStrike">
              <a:solidFill>
                <a:srgbClr val="000000"/>
              </a:solidFill>
              <a:effectLst/>
              <a:uFillTx/>
              <a:latin typeface="Arial"/>
            </a:endParaRPr>
          </a:p>
        </p:txBody>
      </p:sp>
      <p:sp>
        <p:nvSpPr>
          <p:cNvPr id="305" name=""/>
          <p:cNvSpPr/>
          <p:nvPr/>
        </p:nvSpPr>
        <p:spPr>
          <a:xfrm>
            <a:off x="548640" y="1554480"/>
            <a:ext cx="11064600" cy="1051920"/>
          </a:xfrm>
          <a:custGeom>
            <a:avLst/>
            <a:gdLst/>
            <a:ahLst/>
            <a:rect l="0" t="0" r="r" b="b"/>
            <a:pathLst>
              <a:path w="30735" h="2922">
                <a:moveTo>
                  <a:pt x="30531" y="0"/>
                </a:moveTo>
                <a:cubicBezTo>
                  <a:pt x="30667" y="0"/>
                  <a:pt x="30735" y="68"/>
                  <a:pt x="30735" y="203"/>
                </a:cubicBezTo>
                <a:lnTo>
                  <a:pt x="30735" y="2718"/>
                </a:lnTo>
                <a:cubicBezTo>
                  <a:pt x="30735" y="2854"/>
                  <a:pt x="30667" y="2922"/>
                  <a:pt x="30531" y="2922"/>
                </a:cubicBezTo>
                <a:lnTo>
                  <a:pt x="203" y="2922"/>
                </a:lnTo>
                <a:cubicBezTo>
                  <a:pt x="68" y="2922"/>
                  <a:pt x="0" y="2854"/>
                  <a:pt x="0" y="2718"/>
                </a:cubicBezTo>
                <a:lnTo>
                  <a:pt x="0" y="203"/>
                </a:lnTo>
                <a:cubicBezTo>
                  <a:pt x="0" y="68"/>
                  <a:pt x="68" y="0"/>
                  <a:pt x="203" y="0"/>
                </a:cubicBezTo>
                <a:lnTo>
                  <a:pt x="30531" y="0"/>
                </a:lnTo>
                <a:close/>
              </a:path>
            </a:pathLst>
          </a:custGeom>
          <a:solidFill>
            <a:srgbClr val="F5F7FA"/>
          </a:solidFill>
          <a:ln w="12600">
            <a:solidFill>
              <a:srgbClr val="E2E7EF"/>
            </a:solidFill>
            <a:round/>
          </a:ln>
        </p:spPr>
        <p:txBody>
          <a:bodyPr lIns="96120" tIns="51120" rIns="96120" bIns="51120" anchor="t">
            <a:noAutofit/>
          </a:bodyPr>
          <a:p>
            <a:endParaRPr lang="en-US" sz="1800" b="0" u="none" strike="noStrike">
              <a:solidFill>
                <a:srgbClr val="000000"/>
              </a:solidFill>
              <a:effectLst/>
              <a:uFillTx/>
              <a:latin typeface="Arial"/>
            </a:endParaRPr>
          </a:p>
        </p:txBody>
      </p:sp>
      <p:sp>
        <p:nvSpPr>
          <p:cNvPr id="306" name=""/>
          <p:cNvSpPr txBox="1"/>
          <p:nvPr/>
        </p:nvSpPr>
        <p:spPr>
          <a:xfrm>
            <a:off x="777240" y="1645920"/>
            <a:ext cx="2103120" cy="868680"/>
          </a:xfrm>
          <a:prstGeom prst="rect">
            <a:avLst/>
          </a:prstGeom>
          <a:noFill/>
          <a:ln w="0">
            <a:noFill/>
          </a:ln>
        </p:spPr>
        <p:txBody>
          <a:bodyPr lIns="90000" tIns="45000" rIns="90000" bIns="45000" anchor="t">
            <a:spAutoFit/>
          </a:bodyPr>
          <a:p>
            <a:r>
              <a:rPr lang="en-US" sz="1500" b="1" u="none" strike="noStrike">
                <a:solidFill>
                  <a:srgbClr val="1C375C"/>
                </a:solidFill>
                <a:effectLst/>
                <a:uFillTx/>
                <a:latin typeface="Cambria-Bold"/>
                <a:ea typeface="Cambria-Bold"/>
              </a:rPr>
              <a:t>Today</a:t>
            </a:r>
            <a:endParaRPr lang="en-US" sz="1500" b="0" u="none" strike="noStrike">
              <a:solidFill>
                <a:srgbClr val="000000"/>
              </a:solidFill>
              <a:effectLst/>
              <a:uFillTx/>
              <a:latin typeface="Arial"/>
            </a:endParaRPr>
          </a:p>
        </p:txBody>
      </p:sp>
      <p:sp>
        <p:nvSpPr>
          <p:cNvPr id="307" name=""/>
          <p:cNvSpPr txBox="1"/>
          <p:nvPr/>
        </p:nvSpPr>
        <p:spPr>
          <a:xfrm>
            <a:off x="3063240" y="1645920"/>
            <a:ext cx="8366760" cy="868680"/>
          </a:xfrm>
          <a:prstGeom prst="rect">
            <a:avLst/>
          </a:prstGeom>
          <a:noFill/>
          <a:ln w="0">
            <a:noFill/>
          </a:ln>
        </p:spPr>
        <p:txBody>
          <a:bodyPr lIns="90000" tIns="45000" rIns="90000" bIns="45000" anchor="t">
            <a:spAutoFit/>
          </a:bodyPr>
          <a:p>
            <a:pPr>
              <a:lnSpc>
                <a:spcPct val="120000"/>
              </a:lnSpc>
            </a:pPr>
            <a:r>
              <a:rPr lang="en-US" sz="1200" b="0" u="none" strike="noStrike">
                <a:solidFill>
                  <a:srgbClr val="2A3547"/>
                </a:solidFill>
                <a:effectLst/>
                <a:uFillTx/>
                <a:latin typeface="Calibri"/>
                <a:ea typeface="Calibri"/>
              </a:rPr>
              <a:t>Every VUS is reported with equal uncertainty, regardless of how likely it is to resolve soon</a:t>
            </a:r>
            <a:r>
              <a:rPr lang="en-US" sz="1200" b="0" u="none" strike="noStrike">
                <a:solidFill>
                  <a:srgbClr val="2A3547"/>
                </a:solidFill>
                <a:effectLst/>
                <a:uFillTx/>
                <a:latin typeface="Calibri"/>
                <a:ea typeface="Calibri"/>
              </a:rPr>
              <a:t>.</a:t>
            </a:r>
            <a:endParaRPr lang="en-US" sz="1200" b="0" u="none" strike="noStrike">
              <a:solidFill>
                <a:srgbClr val="000000"/>
              </a:solidFill>
              <a:effectLst/>
              <a:uFillTx/>
              <a:latin typeface="Arial"/>
            </a:endParaRPr>
          </a:p>
        </p:txBody>
      </p:sp>
      <p:sp>
        <p:nvSpPr>
          <p:cNvPr id="308" name=""/>
          <p:cNvSpPr/>
          <p:nvPr/>
        </p:nvSpPr>
        <p:spPr>
          <a:xfrm>
            <a:off x="548640" y="2743200"/>
            <a:ext cx="11064600" cy="1051920"/>
          </a:xfrm>
          <a:custGeom>
            <a:avLst/>
            <a:gdLst/>
            <a:ahLst/>
            <a:rect l="0" t="0" r="r" b="b"/>
            <a:pathLst>
              <a:path w="30735" h="2922">
                <a:moveTo>
                  <a:pt x="30531" y="0"/>
                </a:moveTo>
                <a:cubicBezTo>
                  <a:pt x="30667" y="0"/>
                  <a:pt x="30735" y="68"/>
                  <a:pt x="30735" y="203"/>
                </a:cubicBezTo>
                <a:lnTo>
                  <a:pt x="30735" y="2718"/>
                </a:lnTo>
                <a:cubicBezTo>
                  <a:pt x="30735" y="2854"/>
                  <a:pt x="30667" y="2922"/>
                  <a:pt x="30531" y="2922"/>
                </a:cubicBezTo>
                <a:lnTo>
                  <a:pt x="203" y="2922"/>
                </a:lnTo>
                <a:cubicBezTo>
                  <a:pt x="68" y="2922"/>
                  <a:pt x="0" y="2854"/>
                  <a:pt x="0" y="2718"/>
                </a:cubicBezTo>
                <a:lnTo>
                  <a:pt x="0" y="203"/>
                </a:lnTo>
                <a:cubicBezTo>
                  <a:pt x="0" y="68"/>
                  <a:pt x="68" y="0"/>
                  <a:pt x="203" y="0"/>
                </a:cubicBezTo>
                <a:lnTo>
                  <a:pt x="30531" y="0"/>
                </a:lnTo>
                <a:close/>
              </a:path>
            </a:pathLst>
          </a:custGeom>
          <a:solidFill>
            <a:srgbClr val="F5F7FA"/>
          </a:solidFill>
          <a:ln w="12600">
            <a:solidFill>
              <a:srgbClr val="E2E7EF"/>
            </a:solidFill>
            <a:round/>
          </a:ln>
        </p:spPr>
        <p:txBody>
          <a:bodyPr lIns="96120" tIns="51120" rIns="96120" bIns="51120" anchor="t">
            <a:noAutofit/>
          </a:bodyPr>
          <a:p>
            <a:endParaRPr lang="en-US" sz="1800" b="0" u="none" strike="noStrike">
              <a:solidFill>
                <a:srgbClr val="000000"/>
              </a:solidFill>
              <a:effectLst/>
              <a:uFillTx/>
              <a:latin typeface="Arial"/>
            </a:endParaRPr>
          </a:p>
        </p:txBody>
      </p:sp>
      <p:sp>
        <p:nvSpPr>
          <p:cNvPr id="309" name=""/>
          <p:cNvSpPr txBox="1"/>
          <p:nvPr/>
        </p:nvSpPr>
        <p:spPr>
          <a:xfrm>
            <a:off x="777240" y="2834640"/>
            <a:ext cx="2103120" cy="868680"/>
          </a:xfrm>
          <a:prstGeom prst="rect">
            <a:avLst/>
          </a:prstGeom>
          <a:noFill/>
          <a:ln w="0">
            <a:noFill/>
          </a:ln>
        </p:spPr>
        <p:txBody>
          <a:bodyPr lIns="90000" tIns="45000" rIns="90000" bIns="45000" anchor="t">
            <a:spAutoFit/>
          </a:bodyPr>
          <a:p>
            <a:r>
              <a:rPr lang="en-US" sz="1500" b="1" u="none" strike="noStrike">
                <a:solidFill>
                  <a:srgbClr val="1C375C"/>
                </a:solidFill>
                <a:effectLst/>
                <a:uFillTx/>
                <a:latin typeface="Cambria-Bold"/>
                <a:ea typeface="Cambria-Bold"/>
              </a:rPr>
              <a:t>With this model</a:t>
            </a:r>
            <a:endParaRPr lang="en-US" sz="1500" b="0" u="none" strike="noStrike">
              <a:solidFill>
                <a:srgbClr val="000000"/>
              </a:solidFill>
              <a:effectLst/>
              <a:uFillTx/>
              <a:latin typeface="Arial"/>
            </a:endParaRPr>
          </a:p>
        </p:txBody>
      </p:sp>
      <p:sp>
        <p:nvSpPr>
          <p:cNvPr id="310" name=""/>
          <p:cNvSpPr txBox="1"/>
          <p:nvPr/>
        </p:nvSpPr>
        <p:spPr>
          <a:xfrm>
            <a:off x="3063240" y="2834640"/>
            <a:ext cx="8366760" cy="868680"/>
          </a:xfrm>
          <a:prstGeom prst="rect">
            <a:avLst/>
          </a:prstGeom>
          <a:noFill/>
          <a:ln w="0">
            <a:noFill/>
          </a:ln>
        </p:spPr>
        <p:txBody>
          <a:bodyPr lIns="90000" tIns="45000" rIns="90000" bIns="45000" anchor="t">
            <a:spAutoFit/>
          </a:bodyPr>
          <a:p>
            <a:pPr>
              <a:lnSpc>
                <a:spcPct val="120000"/>
              </a:lnSpc>
            </a:pPr>
            <a:r>
              <a:rPr lang="en-US" sz="1200" b="0" u="none" strike="noStrike">
                <a:solidFill>
                  <a:srgbClr val="2A3547"/>
                </a:solidFill>
                <a:effectLst/>
                <a:uFillTx/>
                <a:latin typeface="Calibri"/>
                <a:ea typeface="Calibri"/>
              </a:rPr>
              <a:t>Each VUS in ClinVar carries a ranked probability, so any report drawing on it can flag which variants deserve closer attention</a:t>
            </a:r>
            <a:r>
              <a:rPr lang="en-US" sz="1200" b="0" u="none" strike="noStrike">
                <a:solidFill>
                  <a:srgbClr val="2A3547"/>
                </a:solidFill>
                <a:effectLst/>
                <a:uFillTx/>
                <a:latin typeface="Calibri"/>
                <a:ea typeface="Calibri"/>
              </a:rPr>
              <a:t>.</a:t>
            </a:r>
            <a:endParaRPr lang="en-US" sz="1200" b="0" u="none" strike="noStrike">
              <a:solidFill>
                <a:srgbClr val="000000"/>
              </a:solidFill>
              <a:effectLst/>
              <a:uFillTx/>
              <a:latin typeface="Arial"/>
            </a:endParaRPr>
          </a:p>
        </p:txBody>
      </p:sp>
      <p:sp>
        <p:nvSpPr>
          <p:cNvPr id="311" name=""/>
          <p:cNvSpPr/>
          <p:nvPr/>
        </p:nvSpPr>
        <p:spPr>
          <a:xfrm>
            <a:off x="548640" y="3931920"/>
            <a:ext cx="11064600" cy="1051920"/>
          </a:xfrm>
          <a:custGeom>
            <a:avLst/>
            <a:gdLst/>
            <a:ahLst/>
            <a:rect l="0" t="0" r="r" b="b"/>
            <a:pathLst>
              <a:path w="30735" h="2922">
                <a:moveTo>
                  <a:pt x="30531" y="0"/>
                </a:moveTo>
                <a:cubicBezTo>
                  <a:pt x="30667" y="0"/>
                  <a:pt x="30735" y="68"/>
                  <a:pt x="30735" y="203"/>
                </a:cubicBezTo>
                <a:lnTo>
                  <a:pt x="30735" y="2718"/>
                </a:lnTo>
                <a:cubicBezTo>
                  <a:pt x="30735" y="2854"/>
                  <a:pt x="30667" y="2922"/>
                  <a:pt x="30531" y="2922"/>
                </a:cubicBezTo>
                <a:lnTo>
                  <a:pt x="203" y="2922"/>
                </a:lnTo>
                <a:cubicBezTo>
                  <a:pt x="68" y="2922"/>
                  <a:pt x="0" y="2854"/>
                  <a:pt x="0" y="2718"/>
                </a:cubicBezTo>
                <a:lnTo>
                  <a:pt x="0" y="203"/>
                </a:lnTo>
                <a:cubicBezTo>
                  <a:pt x="0" y="68"/>
                  <a:pt x="68" y="0"/>
                  <a:pt x="203" y="0"/>
                </a:cubicBezTo>
                <a:lnTo>
                  <a:pt x="30531" y="0"/>
                </a:lnTo>
                <a:close/>
              </a:path>
            </a:pathLst>
          </a:custGeom>
          <a:solidFill>
            <a:srgbClr val="F5F7FA"/>
          </a:solidFill>
          <a:ln w="12600">
            <a:solidFill>
              <a:srgbClr val="E2E7EF"/>
            </a:solidFill>
            <a:round/>
          </a:ln>
        </p:spPr>
        <p:txBody>
          <a:bodyPr lIns="96120" tIns="51120" rIns="96120" bIns="51120" anchor="t">
            <a:noAutofit/>
          </a:bodyPr>
          <a:p>
            <a:endParaRPr lang="en-US" sz="1800" b="0" u="none" strike="noStrike">
              <a:solidFill>
                <a:srgbClr val="000000"/>
              </a:solidFill>
              <a:effectLst/>
              <a:uFillTx/>
              <a:latin typeface="Arial"/>
            </a:endParaRPr>
          </a:p>
        </p:txBody>
      </p:sp>
      <p:sp>
        <p:nvSpPr>
          <p:cNvPr id="312" name=""/>
          <p:cNvSpPr txBox="1"/>
          <p:nvPr/>
        </p:nvSpPr>
        <p:spPr>
          <a:xfrm>
            <a:off x="777240" y="4023360"/>
            <a:ext cx="2103120" cy="868680"/>
          </a:xfrm>
          <a:prstGeom prst="rect">
            <a:avLst/>
          </a:prstGeom>
          <a:noFill/>
          <a:ln w="0">
            <a:noFill/>
          </a:ln>
        </p:spPr>
        <p:txBody>
          <a:bodyPr lIns="90000" tIns="45000" rIns="90000" bIns="45000" anchor="t">
            <a:spAutoFit/>
          </a:bodyPr>
          <a:p>
            <a:r>
              <a:rPr lang="en-US" sz="1500" b="1" u="none" strike="noStrike">
                <a:solidFill>
                  <a:srgbClr val="1C375C"/>
                </a:solidFill>
                <a:effectLst/>
                <a:uFillTx/>
                <a:latin typeface="Cambria-Bold"/>
                <a:ea typeface="Cambria-Bold"/>
              </a:rPr>
              <a:t>For curators</a:t>
            </a:r>
            <a:endParaRPr lang="en-US" sz="1500" b="0" u="none" strike="noStrike">
              <a:solidFill>
                <a:srgbClr val="000000"/>
              </a:solidFill>
              <a:effectLst/>
              <a:uFillTx/>
              <a:latin typeface="Arial"/>
            </a:endParaRPr>
          </a:p>
        </p:txBody>
      </p:sp>
      <p:sp>
        <p:nvSpPr>
          <p:cNvPr id="313" name=""/>
          <p:cNvSpPr txBox="1"/>
          <p:nvPr/>
        </p:nvSpPr>
        <p:spPr>
          <a:xfrm>
            <a:off x="3063240" y="4023360"/>
            <a:ext cx="8366760" cy="868680"/>
          </a:xfrm>
          <a:prstGeom prst="rect">
            <a:avLst/>
          </a:prstGeom>
          <a:noFill/>
          <a:ln w="0">
            <a:noFill/>
          </a:ln>
        </p:spPr>
        <p:txBody>
          <a:bodyPr lIns="90000" tIns="45000" rIns="90000" bIns="45000" anchor="t">
            <a:spAutoFit/>
          </a:bodyPr>
          <a:p>
            <a:pPr>
              <a:lnSpc>
                <a:spcPct val="120000"/>
              </a:lnSpc>
            </a:pPr>
            <a:r>
              <a:rPr lang="en-US" sz="1200" b="0" u="none" strike="noStrike">
                <a:solidFill>
                  <a:srgbClr val="2A3547"/>
                </a:solidFill>
                <a:effectLst/>
                <a:uFillTx/>
                <a:latin typeface="Calibri"/>
                <a:ea typeface="Calibri"/>
              </a:rPr>
              <a:t>The 37,167-variant high-probability pool is a real, prioritized review queue instead of 2,330,308 undifferentiated variants.</a:t>
            </a:r>
            <a:endParaRPr lang="en-US" sz="1200" b="0" u="none" strike="noStrike">
              <a:solidFill>
                <a:srgbClr val="000000"/>
              </a:solidFill>
              <a:effectLst/>
              <a:uFillTx/>
              <a:latin typeface="Arial"/>
            </a:endParaRPr>
          </a:p>
        </p:txBody>
      </p:sp>
      <p:sp>
        <p:nvSpPr>
          <p:cNvPr id="314" name=""/>
          <p:cNvSpPr/>
          <p:nvPr/>
        </p:nvSpPr>
        <p:spPr>
          <a:xfrm>
            <a:off x="548640" y="5120640"/>
            <a:ext cx="11064600" cy="1051920"/>
          </a:xfrm>
          <a:custGeom>
            <a:avLst/>
            <a:gdLst/>
            <a:ahLst/>
            <a:rect l="0" t="0" r="r" b="b"/>
            <a:pathLst>
              <a:path w="30735" h="2922">
                <a:moveTo>
                  <a:pt x="30531" y="0"/>
                </a:moveTo>
                <a:cubicBezTo>
                  <a:pt x="30667" y="0"/>
                  <a:pt x="30735" y="68"/>
                  <a:pt x="30735" y="203"/>
                </a:cubicBezTo>
                <a:lnTo>
                  <a:pt x="30735" y="2718"/>
                </a:lnTo>
                <a:cubicBezTo>
                  <a:pt x="30735" y="2854"/>
                  <a:pt x="30667" y="2922"/>
                  <a:pt x="30531" y="2922"/>
                </a:cubicBezTo>
                <a:lnTo>
                  <a:pt x="203" y="2922"/>
                </a:lnTo>
                <a:cubicBezTo>
                  <a:pt x="68" y="2922"/>
                  <a:pt x="0" y="2854"/>
                  <a:pt x="0" y="2718"/>
                </a:cubicBezTo>
                <a:lnTo>
                  <a:pt x="0" y="203"/>
                </a:lnTo>
                <a:cubicBezTo>
                  <a:pt x="0" y="68"/>
                  <a:pt x="68" y="0"/>
                  <a:pt x="203" y="0"/>
                </a:cubicBezTo>
                <a:lnTo>
                  <a:pt x="30531" y="0"/>
                </a:lnTo>
                <a:close/>
              </a:path>
            </a:pathLst>
          </a:custGeom>
          <a:solidFill>
            <a:srgbClr val="F5F7FA"/>
          </a:solidFill>
          <a:ln w="12600">
            <a:solidFill>
              <a:srgbClr val="E2E7EF"/>
            </a:solidFill>
            <a:round/>
          </a:ln>
        </p:spPr>
        <p:txBody>
          <a:bodyPr lIns="96120" tIns="51120" rIns="96120" bIns="51120" anchor="t">
            <a:noAutofit/>
          </a:bodyPr>
          <a:p>
            <a:endParaRPr lang="en-US" sz="1800" b="0" u="none" strike="noStrike">
              <a:solidFill>
                <a:srgbClr val="000000"/>
              </a:solidFill>
              <a:effectLst/>
              <a:uFillTx/>
              <a:latin typeface="Arial"/>
            </a:endParaRPr>
          </a:p>
        </p:txBody>
      </p:sp>
      <p:sp>
        <p:nvSpPr>
          <p:cNvPr id="315" name=""/>
          <p:cNvSpPr txBox="1"/>
          <p:nvPr/>
        </p:nvSpPr>
        <p:spPr>
          <a:xfrm>
            <a:off x="777240" y="5212080"/>
            <a:ext cx="2103120" cy="868680"/>
          </a:xfrm>
          <a:prstGeom prst="rect">
            <a:avLst/>
          </a:prstGeom>
          <a:noFill/>
          <a:ln w="0">
            <a:noFill/>
          </a:ln>
        </p:spPr>
        <p:txBody>
          <a:bodyPr lIns="90000" tIns="45000" rIns="90000" bIns="45000" anchor="t">
            <a:spAutoFit/>
          </a:bodyPr>
          <a:p>
            <a:r>
              <a:rPr lang="en-US" sz="1500" b="1" u="none" strike="noStrike">
                <a:solidFill>
                  <a:srgbClr val="1C375C"/>
                </a:solidFill>
                <a:effectLst/>
                <a:uFillTx/>
                <a:latin typeface="Cambria-Bold"/>
                <a:ea typeface="Cambria-Bold"/>
              </a:rPr>
              <a:t>For patients</a:t>
            </a:r>
            <a:endParaRPr lang="en-US" sz="1500" b="0" u="none" strike="noStrike">
              <a:solidFill>
                <a:srgbClr val="000000"/>
              </a:solidFill>
              <a:effectLst/>
              <a:uFillTx/>
              <a:latin typeface="Arial"/>
            </a:endParaRPr>
          </a:p>
        </p:txBody>
      </p:sp>
      <p:sp>
        <p:nvSpPr>
          <p:cNvPr id="316" name=""/>
          <p:cNvSpPr txBox="1"/>
          <p:nvPr/>
        </p:nvSpPr>
        <p:spPr>
          <a:xfrm>
            <a:off x="3063240" y="5212080"/>
            <a:ext cx="8366760" cy="868680"/>
          </a:xfrm>
          <a:prstGeom prst="rect">
            <a:avLst/>
          </a:prstGeom>
          <a:noFill/>
          <a:ln w="0">
            <a:noFill/>
          </a:ln>
        </p:spPr>
        <p:txBody>
          <a:bodyPr lIns="90000" tIns="45000" rIns="90000" bIns="45000" anchor="t">
            <a:spAutoFit/>
          </a:bodyPr>
          <a:p>
            <a:pPr>
              <a:lnSpc>
                <a:spcPct val="120000"/>
              </a:lnSpc>
            </a:pPr>
            <a:r>
              <a:rPr lang="en-US" sz="1200" b="0" u="none" strike="noStrike">
                <a:solidFill>
                  <a:srgbClr val="2A3547"/>
                </a:solidFill>
                <a:effectLst/>
                <a:uFillTx/>
                <a:latin typeface="Calibri"/>
                <a:ea typeface="Calibri"/>
              </a:rPr>
              <a:t>A variant in a gene with a real, historically-high resolution rate is a fundamentally different conversation than one sitting at the model's flat baseline</a:t>
            </a:r>
            <a:r>
              <a:rPr lang="en-US" sz="1200" b="0" u="none" strike="noStrike">
                <a:solidFill>
                  <a:srgbClr val="2A3547"/>
                </a:solidFill>
                <a:effectLst/>
                <a:uFillTx/>
                <a:latin typeface="Calibri"/>
                <a:ea typeface="Calibri"/>
              </a:rPr>
              <a:t>.</a:t>
            </a:r>
            <a:endParaRPr lang="en-US" sz="1200" b="0" u="none" strike="noStrike">
              <a:solidFill>
                <a:srgbClr val="000000"/>
              </a:solidFill>
              <a:effectLst/>
              <a:uFillTx/>
              <a:latin typeface="Arial"/>
            </a:endParaRPr>
          </a:p>
        </p:txBody>
      </p:sp>
      <p:sp>
        <p:nvSpPr>
          <p:cNvPr id="317" name=""/>
          <p:cNvSpPr txBox="1"/>
          <p:nvPr/>
        </p:nvSpPr>
        <p:spPr>
          <a:xfrm>
            <a:off x="11368840" y="6446520"/>
            <a:ext cx="500000" cy="300000"/>
          </a:xfrm>
          <a:prstGeom prst="rect">
            <a:avLst/>
          </a:prstGeom>
          <a:noFill/>
          <a:ln w="0">
            <a:noFill/>
          </a:ln>
        </p:spPr>
        <p:txBody>
          <a:bodyPr lIns="90000" tIns="45000" rIns="90000" bIns="45000" anchor="t">
            <a:spAutoFit/>
          </a:bodyPr>
          <a:p>
            <a:pPr algn="r"/>
            <a:r>
              <a:rPr lang="en-US" sz="1000" b="0" u="none" strike="noStrike">
                <a:solidFill>
                  <a:srgbClr val="8D99AE"/>
                </a:solidFill>
                <a:effectLst/>
                <a:uFillTx/>
                <a:latin typeface="Calibri"/>
                <a:ea typeface="Calibri"/>
              </a:rPr>
              <a:t>26</a:t>
            </a:r>
            <a:endParaRPr lang="en-US"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18" name=""/>
          <p:cNvSpPr txBox="1"/>
          <p:nvPr/>
        </p:nvSpPr>
        <p:spPr>
          <a:xfrm>
            <a:off x="548640" y="384120"/>
            <a:ext cx="7315200" cy="292680"/>
          </a:xfrm>
          <a:prstGeom prst="rect">
            <a:avLst/>
          </a:prstGeom>
          <a:noFill/>
          <a:ln w="0">
            <a:noFill/>
          </a:ln>
        </p:spPr>
        <p:txBody>
          <a:bodyPr lIns="90000" tIns="45000" rIns="90000" bIns="45000" anchor="t">
            <a:spAutoFit/>
          </a:bodyPr>
          <a:p>
            <a:r>
              <a:rPr lang="en-US" sz="1200" b="1" u="none" spc="201" strike="noStrike">
                <a:solidFill>
                  <a:srgbClr val="E76C4E"/>
                </a:solidFill>
                <a:effectLst/>
                <a:uFillTx/>
                <a:latin typeface="Calibri-Bold"/>
                <a:ea typeface="Calibri-Bold"/>
              </a:rPr>
              <a:t>RESULTS</a:t>
            </a:r>
            <a:endParaRPr lang="en-US" sz="1200" b="0" u="none" strike="noStrike">
              <a:solidFill>
                <a:srgbClr val="000000"/>
              </a:solidFill>
              <a:effectLst/>
              <a:uFillTx/>
              <a:latin typeface="Arial"/>
            </a:endParaRPr>
          </a:p>
        </p:txBody>
      </p:sp>
      <p:sp>
        <p:nvSpPr>
          <p:cNvPr id="319" name=""/>
          <p:cNvSpPr txBox="1"/>
          <p:nvPr/>
        </p:nvSpPr>
        <p:spPr>
          <a:xfrm>
            <a:off x="548640" y="658440"/>
            <a:ext cx="10789920" cy="777240"/>
          </a:xfrm>
          <a:prstGeom prst="rect">
            <a:avLst/>
          </a:prstGeom>
          <a:noFill/>
          <a:ln w="0">
            <a:noFill/>
          </a:ln>
        </p:spPr>
        <p:txBody>
          <a:bodyPr lIns="90000" tIns="45000" rIns="90000" bIns="45000" anchor="t">
            <a:spAutoFit/>
          </a:bodyPr>
          <a:p>
            <a:r>
              <a:rPr lang="en-US" sz="2800" b="1" u="none" strike="noStrike">
                <a:solidFill>
                  <a:srgbClr val="1F242E"/>
                </a:solidFill>
                <a:effectLst/>
                <a:uFillTx/>
                <a:latin typeface="Cambria-Bold"/>
                <a:ea typeface="Cambria-Bold"/>
              </a:rPr>
              <a:t>What the Numbers Actually Say</a:t>
            </a:r>
            <a:endParaRPr lang="en-US" sz="2800" b="0" u="none" strike="noStrike">
              <a:solidFill>
                <a:srgbClr val="000000"/>
              </a:solidFill>
              <a:effectLst/>
              <a:uFillTx/>
              <a:latin typeface="Arial"/>
            </a:endParaRPr>
          </a:p>
        </p:txBody>
      </p:sp>
      <p:sp>
        <p:nvSpPr>
          <p:cNvPr id="320" name=""/>
          <p:cNvSpPr/>
          <p:nvPr/>
        </p:nvSpPr>
        <p:spPr>
          <a:xfrm>
            <a:off x="548640" y="1508760"/>
            <a:ext cx="11064600" cy="1097640"/>
          </a:xfrm>
          <a:custGeom>
            <a:avLst/>
            <a:gdLst/>
            <a:ahLst/>
            <a:rect l="0" t="0" r="r" b="b"/>
            <a:pathLst>
              <a:path w="30735" h="3049">
                <a:moveTo>
                  <a:pt x="30531" y="0"/>
                </a:moveTo>
                <a:cubicBezTo>
                  <a:pt x="30667" y="0"/>
                  <a:pt x="30735" y="68"/>
                  <a:pt x="30735" y="203"/>
                </a:cubicBezTo>
                <a:lnTo>
                  <a:pt x="30735" y="2845"/>
                </a:lnTo>
                <a:cubicBezTo>
                  <a:pt x="30735" y="2981"/>
                  <a:pt x="30667" y="3049"/>
                  <a:pt x="30531" y="3049"/>
                </a:cubicBezTo>
                <a:lnTo>
                  <a:pt x="203" y="3049"/>
                </a:lnTo>
                <a:cubicBezTo>
                  <a:pt x="68" y="3049"/>
                  <a:pt x="0" y="2981"/>
                  <a:pt x="0" y="2845"/>
                </a:cubicBezTo>
                <a:lnTo>
                  <a:pt x="0" y="203"/>
                </a:lnTo>
                <a:cubicBezTo>
                  <a:pt x="0" y="68"/>
                  <a:pt x="68" y="0"/>
                  <a:pt x="203" y="0"/>
                </a:cubicBezTo>
                <a:lnTo>
                  <a:pt x="30531" y="0"/>
                </a:lnTo>
                <a:close/>
              </a:path>
            </a:pathLst>
          </a:custGeom>
          <a:solidFill>
            <a:srgbClr val="F5F7FA"/>
          </a:solidFill>
          <a:ln w="12600">
            <a:solidFill>
              <a:srgbClr val="E2E7EF"/>
            </a:solidFill>
            <a:round/>
          </a:ln>
        </p:spPr>
        <p:txBody>
          <a:bodyPr lIns="96120" tIns="51120" rIns="96120" bIns="51120" anchor="t">
            <a:noAutofit/>
          </a:bodyPr>
          <a:p>
            <a:endParaRPr lang="en-US" sz="1800" b="0" u="none" strike="noStrike">
              <a:solidFill>
                <a:srgbClr val="000000"/>
              </a:solidFill>
              <a:effectLst/>
              <a:uFillTx/>
              <a:latin typeface="Arial"/>
            </a:endParaRPr>
          </a:p>
        </p:txBody>
      </p:sp>
      <p:sp>
        <p:nvSpPr>
          <p:cNvPr id="321" name=""/>
          <p:cNvSpPr txBox="1"/>
          <p:nvPr/>
        </p:nvSpPr>
        <p:spPr>
          <a:xfrm>
            <a:off x="777240" y="1600200"/>
            <a:ext cx="1828800" cy="914400"/>
          </a:xfrm>
          <a:prstGeom prst="rect">
            <a:avLst/>
          </a:prstGeom>
          <a:noFill/>
          <a:ln w="0">
            <a:noFill/>
          </a:ln>
        </p:spPr>
        <p:txBody>
          <a:bodyPr lIns="90000" tIns="45000" rIns="90000" bIns="45000" anchor="t">
            <a:spAutoFit/>
          </a:bodyPr>
          <a:p>
            <a:pPr>
              <a:lnSpc>
                <a:spcPct val="115000"/>
              </a:lnSpc>
            </a:pPr>
            <a:r>
              <a:rPr lang="en-US" sz="1400" b="1" u="none" strike="noStrike">
                <a:solidFill>
                  <a:srgbClr val="1C375C"/>
                </a:solidFill>
                <a:effectLst/>
                <a:uFillTx/>
                <a:latin typeface="Cambria-Bold"/>
                <a:ea typeface="Cambria-Bold"/>
              </a:rPr>
              <a:t>Variant origin</a:t>
            </a:r>
            <a:endParaRPr lang="en-US" sz="1400" b="0" u="none" strike="noStrike">
              <a:solidFill>
                <a:srgbClr val="000000"/>
              </a:solidFill>
              <a:effectLst/>
              <a:uFillTx/>
              <a:latin typeface="Arial"/>
            </a:endParaRPr>
          </a:p>
        </p:txBody>
      </p:sp>
      <p:sp>
        <p:nvSpPr>
          <p:cNvPr id="322" name=""/>
          <p:cNvSpPr txBox="1"/>
          <p:nvPr/>
        </p:nvSpPr>
        <p:spPr>
          <a:xfrm>
            <a:off x="2697480" y="1600200"/>
            <a:ext cx="3520440" cy="914400"/>
          </a:xfrm>
          <a:prstGeom prst="rect">
            <a:avLst/>
          </a:prstGeom>
          <a:noFill/>
          <a:ln w="0">
            <a:noFill/>
          </a:ln>
        </p:spPr>
        <p:txBody>
          <a:bodyPr lIns="90000" tIns="45000" rIns="90000" bIns="45000" anchor="t">
            <a:spAutoFit/>
          </a:bodyPr>
          <a:p>
            <a:pPr>
              <a:lnSpc>
                <a:spcPct val="120000"/>
              </a:lnSpc>
            </a:pPr>
            <a:r>
              <a:rPr lang="en-US" sz="1100" b="1" u="none" strike="noStrike">
                <a:solidFill>
                  <a:srgbClr val="E76C4E"/>
                </a:solidFill>
                <a:effectLst/>
                <a:uFillTx/>
                <a:latin typeface="Calibri-Bold"/>
                <a:ea typeface="Calibri-Bold"/>
              </a:rPr>
              <a:t>Precision ≥ 0.90 across 45,706 rows, 149 real patients</a:t>
            </a:r>
            <a:r>
              <a:rPr lang="en-US" sz="1100" b="1" u="none" strike="noStrike">
                <a:solidFill>
                  <a:srgbClr val="E76C4E"/>
                </a:solidFill>
                <a:effectLst/>
                <a:uFillTx/>
                <a:latin typeface="Calibri-Bold"/>
                <a:ea typeface="Calibri-Bold"/>
              </a:rPr>
              <a:t>.</a:t>
            </a:r>
            <a:endParaRPr lang="en-US" sz="1100" b="0" u="none" strike="noStrike">
              <a:solidFill>
                <a:srgbClr val="000000"/>
              </a:solidFill>
              <a:effectLst/>
              <a:uFillTx/>
              <a:latin typeface="Arial"/>
            </a:endParaRPr>
          </a:p>
        </p:txBody>
      </p:sp>
      <p:sp>
        <p:nvSpPr>
          <p:cNvPr id="323" name=""/>
          <p:cNvSpPr txBox="1"/>
          <p:nvPr/>
        </p:nvSpPr>
        <p:spPr>
          <a:xfrm>
            <a:off x="6355080" y="1600200"/>
            <a:ext cx="5074920" cy="914400"/>
          </a:xfrm>
          <a:prstGeom prst="rect">
            <a:avLst/>
          </a:prstGeom>
          <a:noFill/>
          <a:ln w="0">
            <a:noFill/>
          </a:ln>
        </p:spPr>
        <p:txBody>
          <a:bodyPr lIns="90000" tIns="45000" rIns="90000" bIns="45000" anchor="t">
            <a:spAutoFit/>
          </a:bodyPr>
          <a:p>
            <a:pPr>
              <a:lnSpc>
                <a:spcPct val="120000"/>
              </a:lnSpc>
            </a:pPr>
            <a:r>
              <a:rPr lang="en-US" sz="1000" b="0" u="none" strike="noStrike">
                <a:solidFill>
                  <a:srgbClr val="2A3547"/>
                </a:solidFill>
                <a:effectLst/>
                <a:uFillTx/>
                <a:latin typeface="Calibri"/>
                <a:ea typeface="Calibri"/>
              </a:rPr>
              <a:t>Strong enough to trust in a real pipeline. This stage is essentially solved for the data it was trained on</a:t>
            </a:r>
            <a:r>
              <a:rPr lang="en-US" sz="1000" b="0" u="none" strike="noStrike">
                <a:solidFill>
                  <a:srgbClr val="2A3547"/>
                </a:solidFill>
                <a:effectLst/>
                <a:uFillTx/>
                <a:latin typeface="Calibri"/>
                <a:ea typeface="Calibri"/>
              </a:rPr>
              <a:t>.</a:t>
            </a:r>
            <a:endParaRPr lang="en-US" sz="1000" b="0" u="none" strike="noStrike">
              <a:solidFill>
                <a:srgbClr val="000000"/>
              </a:solidFill>
              <a:effectLst/>
              <a:uFillTx/>
              <a:latin typeface="Arial"/>
            </a:endParaRPr>
          </a:p>
        </p:txBody>
      </p:sp>
      <p:sp>
        <p:nvSpPr>
          <p:cNvPr id="324" name=""/>
          <p:cNvSpPr/>
          <p:nvPr/>
        </p:nvSpPr>
        <p:spPr>
          <a:xfrm>
            <a:off x="548640" y="2715840"/>
            <a:ext cx="11064600" cy="1097640"/>
          </a:xfrm>
          <a:custGeom>
            <a:avLst/>
            <a:gdLst/>
            <a:ahLst/>
            <a:rect l="0" t="0" r="r" b="b"/>
            <a:pathLst>
              <a:path w="30735" h="3049">
                <a:moveTo>
                  <a:pt x="30531" y="0"/>
                </a:moveTo>
                <a:cubicBezTo>
                  <a:pt x="30667" y="0"/>
                  <a:pt x="30735" y="68"/>
                  <a:pt x="30735" y="203"/>
                </a:cubicBezTo>
                <a:lnTo>
                  <a:pt x="30735" y="2845"/>
                </a:lnTo>
                <a:cubicBezTo>
                  <a:pt x="30735" y="2981"/>
                  <a:pt x="30667" y="3049"/>
                  <a:pt x="30531" y="3049"/>
                </a:cubicBezTo>
                <a:lnTo>
                  <a:pt x="203" y="3049"/>
                </a:lnTo>
                <a:cubicBezTo>
                  <a:pt x="68" y="3049"/>
                  <a:pt x="0" y="2981"/>
                  <a:pt x="0" y="2845"/>
                </a:cubicBezTo>
                <a:lnTo>
                  <a:pt x="0" y="203"/>
                </a:lnTo>
                <a:cubicBezTo>
                  <a:pt x="0" y="68"/>
                  <a:pt x="68" y="0"/>
                  <a:pt x="203" y="0"/>
                </a:cubicBezTo>
                <a:lnTo>
                  <a:pt x="30531" y="0"/>
                </a:lnTo>
                <a:close/>
              </a:path>
            </a:pathLst>
          </a:custGeom>
          <a:solidFill>
            <a:srgbClr val="F5F7FA"/>
          </a:solidFill>
          <a:ln w="12600">
            <a:solidFill>
              <a:srgbClr val="E2E7EF"/>
            </a:solidFill>
            <a:round/>
          </a:ln>
        </p:spPr>
        <p:txBody>
          <a:bodyPr lIns="96120" tIns="51120" rIns="96120" bIns="51120" anchor="t">
            <a:noAutofit/>
          </a:bodyPr>
          <a:p>
            <a:endParaRPr lang="en-US" sz="1800" b="0" u="none" strike="noStrike">
              <a:solidFill>
                <a:srgbClr val="000000"/>
              </a:solidFill>
              <a:effectLst/>
              <a:uFillTx/>
              <a:latin typeface="Arial"/>
            </a:endParaRPr>
          </a:p>
        </p:txBody>
      </p:sp>
      <p:sp>
        <p:nvSpPr>
          <p:cNvPr id="325" name=""/>
          <p:cNvSpPr txBox="1"/>
          <p:nvPr/>
        </p:nvSpPr>
        <p:spPr>
          <a:xfrm>
            <a:off x="777240" y="2807280"/>
            <a:ext cx="1828800" cy="914400"/>
          </a:xfrm>
          <a:prstGeom prst="rect">
            <a:avLst/>
          </a:prstGeom>
          <a:noFill/>
          <a:ln w="0">
            <a:noFill/>
          </a:ln>
        </p:spPr>
        <p:txBody>
          <a:bodyPr lIns="90000" tIns="45000" rIns="90000" bIns="45000" anchor="t">
            <a:spAutoFit/>
          </a:bodyPr>
          <a:p>
            <a:pPr>
              <a:lnSpc>
                <a:spcPct val="115000"/>
              </a:lnSpc>
            </a:pPr>
            <a:r>
              <a:rPr lang="en-US" sz="1400" b="1" u="none" strike="noStrike">
                <a:solidFill>
                  <a:srgbClr val="1C375C"/>
                </a:solidFill>
                <a:effectLst/>
                <a:uFillTx/>
                <a:latin typeface="Cambria-Bold"/>
                <a:ea typeface="Cambria-Bold"/>
              </a:rPr>
              <a:t>Will it resolve</a:t>
            </a:r>
            <a:endParaRPr lang="en-US" sz="1400" b="0" u="none" strike="noStrike">
              <a:solidFill>
                <a:srgbClr val="000000"/>
              </a:solidFill>
              <a:effectLst/>
              <a:uFillTx/>
              <a:latin typeface="Arial"/>
            </a:endParaRPr>
          </a:p>
        </p:txBody>
      </p:sp>
      <p:sp>
        <p:nvSpPr>
          <p:cNvPr id="326" name=""/>
          <p:cNvSpPr txBox="1"/>
          <p:nvPr/>
        </p:nvSpPr>
        <p:spPr>
          <a:xfrm>
            <a:off x="2697480" y="2807280"/>
            <a:ext cx="3520440" cy="914400"/>
          </a:xfrm>
          <a:prstGeom prst="rect">
            <a:avLst/>
          </a:prstGeom>
          <a:noFill/>
          <a:ln w="0">
            <a:noFill/>
          </a:ln>
        </p:spPr>
        <p:txBody>
          <a:bodyPr lIns="90000" tIns="45000" rIns="90000" bIns="45000" anchor="t">
            <a:spAutoFit/>
          </a:bodyPr>
          <a:p>
            <a:pPr>
              <a:lnSpc>
                <a:spcPct val="120000"/>
              </a:lnSpc>
            </a:pPr>
            <a:r>
              <a:rPr lang="en-US" sz="1100" b="1" u="none" strike="noStrike">
                <a:solidFill>
                  <a:srgbClr val="E76C4E"/>
                </a:solidFill>
                <a:effectLst/>
                <a:uFillTx/>
                <a:latin typeface="Calibri-Bold"/>
                <a:ea typeface="Calibri-Bold"/>
              </a:rPr>
              <a:t>PR-AUC 0.432, ROC-AUC 0.849, against a population base rate under 10%</a:t>
            </a:r>
            <a:r>
              <a:rPr lang="en-US" sz="1100" b="1" u="none" strike="noStrike">
                <a:solidFill>
                  <a:srgbClr val="E76C4E"/>
                </a:solidFill>
                <a:effectLst/>
                <a:uFillTx/>
                <a:latin typeface="Calibri-Bold"/>
                <a:ea typeface="Calibri-Bold"/>
              </a:rPr>
              <a:t>.</a:t>
            </a:r>
            <a:endParaRPr lang="en-US" sz="1100" b="0" u="none" strike="noStrike">
              <a:solidFill>
                <a:srgbClr val="000000"/>
              </a:solidFill>
              <a:effectLst/>
              <a:uFillTx/>
              <a:latin typeface="Arial"/>
            </a:endParaRPr>
          </a:p>
        </p:txBody>
      </p:sp>
      <p:sp>
        <p:nvSpPr>
          <p:cNvPr id="327" name=""/>
          <p:cNvSpPr txBox="1"/>
          <p:nvPr/>
        </p:nvSpPr>
        <p:spPr>
          <a:xfrm>
            <a:off x="6355080" y="2807280"/>
            <a:ext cx="5074920" cy="914400"/>
          </a:xfrm>
          <a:prstGeom prst="rect">
            <a:avLst/>
          </a:prstGeom>
          <a:noFill/>
          <a:ln w="0">
            <a:noFill/>
          </a:ln>
        </p:spPr>
        <p:txBody>
          <a:bodyPr lIns="90000" tIns="45000" rIns="90000" bIns="45000" anchor="t">
            <a:spAutoFit/>
          </a:bodyPr>
          <a:p>
            <a:pPr>
              <a:lnSpc>
                <a:spcPct val="120000"/>
              </a:lnSpc>
            </a:pPr>
            <a:r>
              <a:rPr lang="en-US" sz="1000" b="0" u="none" strike="noStrike">
                <a:solidFill>
                  <a:srgbClr val="2A3547"/>
                </a:solidFill>
                <a:effectLst/>
                <a:uFillTx/>
                <a:latin typeface="Calibri"/>
                <a:ea typeface="Calibri"/>
              </a:rPr>
              <a:t>Meaningful signal on a hard, imbalanced problem, though short of the 0.50-0.60 range this project originally aimed for</a:t>
            </a:r>
            <a:r>
              <a:rPr lang="en-US" sz="1000" b="0" u="none" strike="noStrike">
                <a:solidFill>
                  <a:srgbClr val="2A3547"/>
                </a:solidFill>
                <a:effectLst/>
                <a:uFillTx/>
                <a:latin typeface="Calibri"/>
                <a:ea typeface="Calibri"/>
              </a:rPr>
              <a:t>.</a:t>
            </a:r>
            <a:endParaRPr lang="en-US" sz="1000" b="0" u="none" strike="noStrike">
              <a:solidFill>
                <a:srgbClr val="000000"/>
              </a:solidFill>
              <a:effectLst/>
              <a:uFillTx/>
              <a:latin typeface="Arial"/>
            </a:endParaRPr>
          </a:p>
        </p:txBody>
      </p:sp>
      <p:sp>
        <p:nvSpPr>
          <p:cNvPr id="328" name=""/>
          <p:cNvSpPr/>
          <p:nvPr/>
        </p:nvSpPr>
        <p:spPr>
          <a:xfrm>
            <a:off x="548640" y="3922920"/>
            <a:ext cx="11064600" cy="1097640"/>
          </a:xfrm>
          <a:custGeom>
            <a:avLst/>
            <a:gdLst/>
            <a:ahLst/>
            <a:rect l="0" t="0" r="r" b="b"/>
            <a:pathLst>
              <a:path w="30735" h="3049">
                <a:moveTo>
                  <a:pt x="30531" y="0"/>
                </a:moveTo>
                <a:cubicBezTo>
                  <a:pt x="30667" y="0"/>
                  <a:pt x="30735" y="68"/>
                  <a:pt x="30735" y="203"/>
                </a:cubicBezTo>
                <a:lnTo>
                  <a:pt x="30735" y="2845"/>
                </a:lnTo>
                <a:cubicBezTo>
                  <a:pt x="30735" y="2981"/>
                  <a:pt x="30667" y="3049"/>
                  <a:pt x="30531" y="3049"/>
                </a:cubicBezTo>
                <a:lnTo>
                  <a:pt x="203" y="3049"/>
                </a:lnTo>
                <a:cubicBezTo>
                  <a:pt x="68" y="3049"/>
                  <a:pt x="0" y="2981"/>
                  <a:pt x="0" y="2845"/>
                </a:cubicBezTo>
                <a:lnTo>
                  <a:pt x="0" y="203"/>
                </a:lnTo>
                <a:cubicBezTo>
                  <a:pt x="0" y="68"/>
                  <a:pt x="68" y="0"/>
                  <a:pt x="203" y="0"/>
                </a:cubicBezTo>
                <a:lnTo>
                  <a:pt x="30531" y="0"/>
                </a:lnTo>
                <a:close/>
              </a:path>
            </a:pathLst>
          </a:custGeom>
          <a:solidFill>
            <a:srgbClr val="F5F7FA"/>
          </a:solidFill>
          <a:ln w="12600">
            <a:solidFill>
              <a:srgbClr val="E2E7EF"/>
            </a:solidFill>
            <a:round/>
          </a:ln>
        </p:spPr>
        <p:txBody>
          <a:bodyPr lIns="96120" tIns="51120" rIns="96120" bIns="51120" anchor="t">
            <a:noAutofit/>
          </a:bodyPr>
          <a:p>
            <a:endParaRPr lang="en-US" sz="1800" b="0" u="none" strike="noStrike">
              <a:solidFill>
                <a:srgbClr val="000000"/>
              </a:solidFill>
              <a:effectLst/>
              <a:uFillTx/>
              <a:latin typeface="Arial"/>
            </a:endParaRPr>
          </a:p>
        </p:txBody>
      </p:sp>
      <p:sp>
        <p:nvSpPr>
          <p:cNvPr id="329" name=""/>
          <p:cNvSpPr txBox="1"/>
          <p:nvPr/>
        </p:nvSpPr>
        <p:spPr>
          <a:xfrm>
            <a:off x="777240" y="4014360"/>
            <a:ext cx="1828800" cy="914400"/>
          </a:xfrm>
          <a:prstGeom prst="rect">
            <a:avLst/>
          </a:prstGeom>
          <a:noFill/>
          <a:ln w="0">
            <a:noFill/>
          </a:ln>
        </p:spPr>
        <p:txBody>
          <a:bodyPr lIns="90000" tIns="45000" rIns="90000" bIns="45000" anchor="t">
            <a:spAutoFit/>
          </a:bodyPr>
          <a:p>
            <a:pPr>
              <a:lnSpc>
                <a:spcPct val="115000"/>
              </a:lnSpc>
            </a:pPr>
            <a:r>
              <a:rPr lang="en-US" sz="1400" b="1" u="none" strike="noStrike">
                <a:solidFill>
                  <a:srgbClr val="1C375C"/>
                </a:solidFill>
                <a:effectLst/>
                <a:uFillTx/>
                <a:latin typeface="Cambria-Bold"/>
                <a:ea typeface="Cambria-Bold"/>
              </a:rPr>
              <a:t>When it resolves</a:t>
            </a:r>
            <a:endParaRPr lang="en-US" sz="1400" b="0" u="none" strike="noStrike">
              <a:solidFill>
                <a:srgbClr val="000000"/>
              </a:solidFill>
              <a:effectLst/>
              <a:uFillTx/>
              <a:latin typeface="Arial"/>
            </a:endParaRPr>
          </a:p>
        </p:txBody>
      </p:sp>
      <p:sp>
        <p:nvSpPr>
          <p:cNvPr id="330" name=""/>
          <p:cNvSpPr txBox="1"/>
          <p:nvPr/>
        </p:nvSpPr>
        <p:spPr>
          <a:xfrm>
            <a:off x="2697480" y="4014360"/>
            <a:ext cx="3520440" cy="914400"/>
          </a:xfrm>
          <a:prstGeom prst="rect">
            <a:avLst/>
          </a:prstGeom>
          <a:noFill/>
          <a:ln w="0">
            <a:noFill/>
          </a:ln>
        </p:spPr>
        <p:txBody>
          <a:bodyPr lIns="90000" tIns="45000" rIns="90000" bIns="45000" anchor="t">
            <a:spAutoFit/>
          </a:bodyPr>
          <a:p>
            <a:pPr>
              <a:lnSpc>
                <a:spcPct val="120000"/>
              </a:lnSpc>
            </a:pPr>
            <a:r>
              <a:rPr lang="en-US" sz="1100" b="1" u="none" strike="noStrike">
                <a:solidFill>
                  <a:srgbClr val="E76C4E"/>
                </a:solidFill>
                <a:effectLst/>
                <a:uFillTx/>
                <a:latin typeface="Calibri-Bold"/>
                <a:ea typeface="Calibri-Bold"/>
              </a:rPr>
              <a:t>c-index 0.760, with a year-by-year breakdown instead of one point estimate</a:t>
            </a:r>
            <a:r>
              <a:rPr lang="en-US" sz="1100" b="1" u="none" strike="noStrike">
                <a:solidFill>
                  <a:srgbClr val="E76C4E"/>
                </a:solidFill>
                <a:effectLst/>
                <a:uFillTx/>
                <a:latin typeface="Calibri-Bold"/>
                <a:ea typeface="Calibri-Bold"/>
              </a:rPr>
              <a:t>.</a:t>
            </a:r>
            <a:endParaRPr lang="en-US" sz="1100" b="0" u="none" strike="noStrike">
              <a:solidFill>
                <a:srgbClr val="000000"/>
              </a:solidFill>
              <a:effectLst/>
              <a:uFillTx/>
              <a:latin typeface="Arial"/>
            </a:endParaRPr>
          </a:p>
        </p:txBody>
      </p:sp>
      <p:sp>
        <p:nvSpPr>
          <p:cNvPr id="331" name=""/>
          <p:cNvSpPr txBox="1"/>
          <p:nvPr/>
        </p:nvSpPr>
        <p:spPr>
          <a:xfrm>
            <a:off x="6355080" y="4014360"/>
            <a:ext cx="5074920" cy="914400"/>
          </a:xfrm>
          <a:prstGeom prst="rect">
            <a:avLst/>
          </a:prstGeom>
          <a:noFill/>
          <a:ln w="0">
            <a:noFill/>
          </a:ln>
        </p:spPr>
        <p:txBody>
          <a:bodyPr lIns="90000" tIns="45000" rIns="90000" bIns="45000" anchor="t">
            <a:spAutoFit/>
          </a:bodyPr>
          <a:p>
            <a:pPr>
              <a:lnSpc>
                <a:spcPct val="120000"/>
              </a:lnSpc>
            </a:pPr>
            <a:r>
              <a:rPr lang="en-US" sz="1000" b="0" u="none" strike="noStrike">
                <a:solidFill>
                  <a:srgbClr val="2A3547"/>
                </a:solidFill>
                <a:effectLst/>
                <a:uFillTx/>
                <a:latin typeface="Calibri"/>
                <a:ea typeface="Calibri"/>
              </a:rPr>
              <a:t>The most conservative result by design: 90.2% of the watchlist is expected to still be unresolved past year 10, and the model says so rather than guessing further out.</a:t>
            </a:r>
            <a:endParaRPr lang="en-US" sz="1000" b="0" u="none" strike="noStrike">
              <a:solidFill>
                <a:srgbClr val="000000"/>
              </a:solidFill>
              <a:effectLst/>
              <a:uFillTx/>
              <a:latin typeface="Arial"/>
            </a:endParaRPr>
          </a:p>
        </p:txBody>
      </p:sp>
      <p:sp>
        <p:nvSpPr>
          <p:cNvPr id="332" name=""/>
          <p:cNvSpPr/>
          <p:nvPr/>
        </p:nvSpPr>
        <p:spPr>
          <a:xfrm>
            <a:off x="548640" y="5129640"/>
            <a:ext cx="11064600" cy="1097640"/>
          </a:xfrm>
          <a:custGeom>
            <a:avLst/>
            <a:gdLst/>
            <a:ahLst/>
            <a:rect l="0" t="0" r="r" b="b"/>
            <a:pathLst>
              <a:path w="30735" h="3049">
                <a:moveTo>
                  <a:pt x="30531" y="0"/>
                </a:moveTo>
                <a:cubicBezTo>
                  <a:pt x="30667" y="0"/>
                  <a:pt x="30735" y="68"/>
                  <a:pt x="30735" y="203"/>
                </a:cubicBezTo>
                <a:lnTo>
                  <a:pt x="30735" y="2845"/>
                </a:lnTo>
                <a:cubicBezTo>
                  <a:pt x="30735" y="2981"/>
                  <a:pt x="30667" y="3049"/>
                  <a:pt x="30531" y="3049"/>
                </a:cubicBezTo>
                <a:lnTo>
                  <a:pt x="203" y="3049"/>
                </a:lnTo>
                <a:cubicBezTo>
                  <a:pt x="68" y="3049"/>
                  <a:pt x="0" y="2981"/>
                  <a:pt x="0" y="2845"/>
                </a:cubicBezTo>
                <a:lnTo>
                  <a:pt x="0" y="203"/>
                </a:lnTo>
                <a:cubicBezTo>
                  <a:pt x="0" y="68"/>
                  <a:pt x="68" y="0"/>
                  <a:pt x="203" y="0"/>
                </a:cubicBezTo>
                <a:lnTo>
                  <a:pt x="30531" y="0"/>
                </a:lnTo>
                <a:close/>
              </a:path>
            </a:pathLst>
          </a:custGeom>
          <a:solidFill>
            <a:srgbClr val="F5F7FA"/>
          </a:solidFill>
          <a:ln w="12600">
            <a:solidFill>
              <a:srgbClr val="E2E7EF"/>
            </a:solidFill>
            <a:round/>
          </a:ln>
        </p:spPr>
        <p:txBody>
          <a:bodyPr lIns="96120" tIns="51120" rIns="96120" bIns="51120" anchor="t">
            <a:noAutofit/>
          </a:bodyPr>
          <a:p>
            <a:endParaRPr lang="en-US" sz="1800" b="0" u="none" strike="noStrike">
              <a:solidFill>
                <a:srgbClr val="000000"/>
              </a:solidFill>
              <a:effectLst/>
              <a:uFillTx/>
              <a:latin typeface="Arial"/>
            </a:endParaRPr>
          </a:p>
        </p:txBody>
      </p:sp>
      <p:sp>
        <p:nvSpPr>
          <p:cNvPr id="333" name=""/>
          <p:cNvSpPr txBox="1"/>
          <p:nvPr/>
        </p:nvSpPr>
        <p:spPr>
          <a:xfrm>
            <a:off x="777240" y="5221080"/>
            <a:ext cx="1828800" cy="914400"/>
          </a:xfrm>
          <a:prstGeom prst="rect">
            <a:avLst/>
          </a:prstGeom>
          <a:noFill/>
          <a:ln w="0">
            <a:noFill/>
          </a:ln>
        </p:spPr>
        <p:txBody>
          <a:bodyPr lIns="90000" tIns="45000" rIns="90000" bIns="45000" anchor="t">
            <a:spAutoFit/>
          </a:bodyPr>
          <a:p>
            <a:pPr>
              <a:lnSpc>
                <a:spcPct val="115000"/>
              </a:lnSpc>
            </a:pPr>
            <a:r>
              <a:rPr lang="en-US" sz="1400" b="1" u="none" strike="noStrike">
                <a:solidFill>
                  <a:srgbClr val="1C375C"/>
                </a:solidFill>
                <a:effectLst/>
                <a:uFillTx/>
                <a:latin typeface="Cambria-Bold"/>
                <a:ea typeface="Cambria-Bold"/>
              </a:rPr>
              <a:t>Which way it resolves</a:t>
            </a:r>
            <a:endParaRPr lang="en-US" sz="1400" b="0" u="none" strike="noStrike">
              <a:solidFill>
                <a:srgbClr val="000000"/>
              </a:solidFill>
              <a:effectLst/>
              <a:uFillTx/>
              <a:latin typeface="Arial"/>
            </a:endParaRPr>
          </a:p>
        </p:txBody>
      </p:sp>
      <p:sp>
        <p:nvSpPr>
          <p:cNvPr id="334" name=""/>
          <p:cNvSpPr txBox="1"/>
          <p:nvPr/>
        </p:nvSpPr>
        <p:spPr>
          <a:xfrm>
            <a:off x="2697480" y="5221080"/>
            <a:ext cx="3520440" cy="914400"/>
          </a:xfrm>
          <a:prstGeom prst="rect">
            <a:avLst/>
          </a:prstGeom>
          <a:noFill/>
          <a:ln w="0">
            <a:noFill/>
          </a:ln>
        </p:spPr>
        <p:txBody>
          <a:bodyPr lIns="90000" tIns="45000" rIns="90000" bIns="45000" anchor="t">
            <a:spAutoFit/>
          </a:bodyPr>
          <a:p>
            <a:pPr>
              <a:lnSpc>
                <a:spcPct val="120000"/>
              </a:lnSpc>
            </a:pPr>
            <a:r>
              <a:rPr lang="en-US" sz="1100" b="1" u="none" strike="noStrike">
                <a:solidFill>
                  <a:srgbClr val="E76C4E"/>
                </a:solidFill>
                <a:effectLst/>
                <a:uFillTx/>
                <a:latin typeface="Calibri-Bold"/>
                <a:ea typeface="Calibri-Bold"/>
              </a:rPr>
              <a:t>ROC-AUC 0.946, PR-AUC 0.862, the strongest result in the project</a:t>
            </a:r>
            <a:r>
              <a:rPr lang="en-US" sz="1100" b="1" u="none" strike="noStrike">
                <a:solidFill>
                  <a:srgbClr val="E76C4E"/>
                </a:solidFill>
                <a:effectLst/>
                <a:uFillTx/>
                <a:latin typeface="Calibri-Bold"/>
                <a:ea typeface="Calibri-Bold"/>
              </a:rPr>
              <a:t>.</a:t>
            </a:r>
            <a:endParaRPr lang="en-US" sz="1100" b="0" u="none" strike="noStrike">
              <a:solidFill>
                <a:srgbClr val="000000"/>
              </a:solidFill>
              <a:effectLst/>
              <a:uFillTx/>
              <a:latin typeface="Arial"/>
            </a:endParaRPr>
          </a:p>
        </p:txBody>
      </p:sp>
      <p:sp>
        <p:nvSpPr>
          <p:cNvPr id="335" name=""/>
          <p:cNvSpPr txBox="1"/>
          <p:nvPr/>
        </p:nvSpPr>
        <p:spPr>
          <a:xfrm>
            <a:off x="6355080" y="5221080"/>
            <a:ext cx="5074920" cy="914400"/>
          </a:xfrm>
          <a:prstGeom prst="rect">
            <a:avLst/>
          </a:prstGeom>
          <a:noFill/>
          <a:ln w="0">
            <a:noFill/>
          </a:ln>
        </p:spPr>
        <p:txBody>
          <a:bodyPr lIns="90000" tIns="45000" rIns="90000" bIns="45000" anchor="t">
            <a:spAutoFit/>
          </a:bodyPr>
          <a:p>
            <a:pPr>
              <a:lnSpc>
                <a:spcPct val="120000"/>
              </a:lnSpc>
            </a:pPr>
            <a:r>
              <a:rPr lang="en-US" sz="1000" b="0" u="none" strike="noStrike">
                <a:solidFill>
                  <a:srgbClr val="2A3547"/>
                </a:solidFill>
                <a:effectLst/>
                <a:uFillTx/>
                <a:latin typeface="Calibri"/>
                <a:ea typeface="Calibri"/>
              </a:rPr>
              <a:t>Once a variant has enough evidence to resolve, gene identity alone predicts the outcome well. That's a genuinely easier problem than resolution itself</a:t>
            </a:r>
            <a:r>
              <a:rPr lang="en-US" sz="1000" b="0" u="none" strike="noStrike">
                <a:solidFill>
                  <a:srgbClr val="2A3547"/>
                </a:solidFill>
                <a:effectLst/>
                <a:uFillTx/>
                <a:latin typeface="Calibri"/>
                <a:ea typeface="Calibri"/>
              </a:rPr>
              <a:t>.</a:t>
            </a:r>
            <a:endParaRPr lang="en-US" sz="1000" b="0" u="none" strike="noStrike">
              <a:solidFill>
                <a:srgbClr val="000000"/>
              </a:solidFill>
              <a:effectLst/>
              <a:uFillTx/>
              <a:latin typeface="Arial"/>
            </a:endParaRPr>
          </a:p>
        </p:txBody>
      </p:sp>
      <p:sp>
        <p:nvSpPr>
          <p:cNvPr id="336" name=""/>
          <p:cNvSpPr txBox="1"/>
          <p:nvPr/>
        </p:nvSpPr>
        <p:spPr>
          <a:xfrm>
            <a:off x="11368840" y="6446520"/>
            <a:ext cx="500000" cy="300000"/>
          </a:xfrm>
          <a:prstGeom prst="rect">
            <a:avLst/>
          </a:prstGeom>
          <a:noFill/>
          <a:ln w="0">
            <a:noFill/>
          </a:ln>
        </p:spPr>
        <p:txBody>
          <a:bodyPr lIns="90000" tIns="45000" rIns="90000" bIns="45000" anchor="t">
            <a:spAutoFit/>
          </a:bodyPr>
          <a:p>
            <a:pPr algn="r"/>
            <a:r>
              <a:rPr lang="en-US" sz="1000" b="0" u="none" strike="noStrike">
                <a:solidFill>
                  <a:srgbClr val="8D99AE"/>
                </a:solidFill>
                <a:effectLst/>
                <a:uFillTx/>
                <a:latin typeface="Calibri"/>
                <a:ea typeface="Calibri"/>
              </a:rPr>
              <a:t>27</a:t>
            </a:r>
            <a:endParaRPr lang="en-US"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F242E"/>
        </a:solidFill>
      </p:bgPr>
    </p:bg>
    <p:spTree>
      <p:nvGrpSpPr>
        <p:cNvPr id="1" name=""/>
        <p:cNvGrpSpPr/>
        <p:nvPr/>
      </p:nvGrpSpPr>
      <p:grpSpPr>
        <a:xfrm>
          <a:off x="0" y="0"/>
          <a:ext cx="0" cy="0"/>
          <a:chOff x="0" y="0"/>
          <a:chExt cx="0" cy="0"/>
        </a:xfrm>
      </p:grpSpPr>
      <p:sp>
        <p:nvSpPr>
          <p:cNvPr id="337" name=""/>
          <p:cNvSpPr txBox="1"/>
          <p:nvPr/>
        </p:nvSpPr>
        <p:spPr>
          <a:xfrm>
            <a:off x="548640" y="502920"/>
            <a:ext cx="7315200" cy="365760"/>
          </a:xfrm>
          <a:prstGeom prst="rect">
            <a:avLst/>
          </a:prstGeom>
          <a:noFill/>
          <a:ln w="0">
            <a:noFill/>
          </a:ln>
        </p:spPr>
        <p:txBody>
          <a:bodyPr lIns="90000" tIns="45000" rIns="90000" bIns="45000" anchor="t">
            <a:spAutoFit/>
          </a:bodyPr>
          <a:p>
            <a:r>
              <a:rPr lang="en-US" sz="1300" b="1" u="none" spc="201" strike="noStrike">
                <a:solidFill>
                  <a:srgbClr val="E9C467"/>
                </a:solidFill>
                <a:effectLst/>
                <a:uFillTx/>
                <a:latin typeface="Calibri-Bold"/>
                <a:ea typeface="Calibri-Bold"/>
              </a:rPr>
              <a:t>GLOBAL VUS WATCHLIST</a:t>
            </a:r>
            <a:endParaRPr lang="en-US" sz="1300" b="0" u="none" strike="noStrike">
              <a:solidFill>
                <a:srgbClr val="FFFFFF"/>
              </a:solidFill>
              <a:effectLst/>
              <a:uFillTx/>
              <a:latin typeface="Arial"/>
            </a:endParaRPr>
          </a:p>
        </p:txBody>
      </p:sp>
      <p:sp>
        <p:nvSpPr>
          <p:cNvPr id="338" name=""/>
          <p:cNvSpPr txBox="1"/>
          <p:nvPr/>
        </p:nvSpPr>
        <p:spPr>
          <a:xfrm>
            <a:off x="548640" y="868680"/>
            <a:ext cx="11064240" cy="914400"/>
          </a:xfrm>
          <a:prstGeom prst="rect">
            <a:avLst/>
          </a:prstGeom>
          <a:noFill/>
          <a:ln w="0">
            <a:noFill/>
          </a:ln>
        </p:spPr>
        <p:txBody>
          <a:bodyPr lIns="90000" tIns="45000" rIns="90000" bIns="45000" anchor="t">
            <a:spAutoFit/>
          </a:bodyPr>
          <a:p>
            <a:pPr>
              <a:lnSpc>
                <a:spcPct val="105000"/>
              </a:lnSpc>
            </a:pPr>
            <a:r>
              <a:rPr lang="en-US" sz="3000" b="1" u="none" strike="noStrike">
                <a:solidFill>
                  <a:srgbClr val="FFFFFF"/>
                </a:solidFill>
                <a:effectLst/>
                <a:uFillTx/>
                <a:latin typeface="Cambria-Bold"/>
                <a:ea typeface="Cambria-Bold"/>
              </a:rPr>
              <a:t>Two Watchlist Deliverables, Ready to Share</a:t>
            </a:r>
            <a:endParaRPr lang="en-US" sz="3000" b="0" u="none" strike="noStrike">
              <a:solidFill>
                <a:srgbClr val="FFFFFF"/>
              </a:solidFill>
              <a:effectLst/>
              <a:uFillTx/>
              <a:latin typeface="Arial"/>
            </a:endParaRPr>
          </a:p>
        </p:txBody>
      </p:sp>
      <p:sp>
        <p:nvSpPr>
          <p:cNvPr id="339" name=""/>
          <p:cNvSpPr txBox="1"/>
          <p:nvPr/>
        </p:nvSpPr>
        <p:spPr>
          <a:xfrm>
            <a:off x="548640" y="1783080"/>
            <a:ext cx="11064240" cy="640080"/>
          </a:xfrm>
          <a:prstGeom prst="rect">
            <a:avLst/>
          </a:prstGeom>
          <a:noFill/>
          <a:ln w="0">
            <a:noFill/>
          </a:ln>
        </p:spPr>
        <p:txBody>
          <a:bodyPr lIns="90000" tIns="45000" rIns="90000" bIns="45000" anchor="t">
            <a:spAutoFit/>
          </a:bodyPr>
          <a:p>
            <a:pPr>
              <a:lnSpc>
                <a:spcPct val="135000"/>
              </a:lnSpc>
            </a:pPr>
            <a:r>
              <a:rPr lang="en-US" sz="1400" b="0" u="none" strike="noStrike">
                <a:solidFill>
                  <a:srgbClr val="D6DEEC"/>
                </a:solidFill>
                <a:effectLst/>
                <a:uFillTx/>
                <a:latin typeface="Calibri"/>
                <a:ea typeface="Calibri"/>
              </a:rPr>
              <a:t>Every VUS the model has scored, delivered as two linked spreadsheets: the full model output </a:t>
            </a:r>
            <a:r>
              <a:rPr lang="en-US" sz="1400" b="0" u="none" strike="noStrike">
                <a:solidFill>
                  <a:srgbClr val="D6DEEC"/>
                </a:solidFill>
                <a:effectLst/>
                <a:uFillTx/>
                <a:latin typeface="Calibri"/>
                <a:ea typeface="Calibri"/>
              </a:rPr>
              <a:t>for all the VUS in ClinVar</a:t>
            </a:r>
            <a:r>
              <a:rPr lang="en-US" sz="1400" b="0" u="none" strike="noStrike">
                <a:solidFill>
                  <a:srgbClr val="D6DEEC"/>
                </a:solidFill>
                <a:effectLst/>
                <a:uFillTx/>
                <a:latin typeface="Calibri"/>
                <a:ea typeface="Calibri"/>
              </a:rPr>
              <a:t>, and a short, </a:t>
            </a:r>
            <a:r>
              <a:rPr lang="en-US" sz="1400" b="0" u="none" strike="noStrike">
                <a:solidFill>
                  <a:srgbClr val="D6DEEC"/>
                </a:solidFill>
                <a:effectLst/>
                <a:uFillTx/>
                <a:latin typeface="Calibri"/>
                <a:ea typeface="Calibri"/>
              </a:rPr>
              <a:t>global watchlist for VUS’s likely to be reclassified in the next five years</a:t>
            </a:r>
            <a:endParaRPr lang="en-US" sz="1400" b="0" u="none" strike="noStrike">
              <a:solidFill>
                <a:srgbClr val="FFFFFF"/>
              </a:solidFill>
              <a:effectLst/>
              <a:uFillTx/>
              <a:latin typeface="Arial"/>
            </a:endParaRPr>
          </a:p>
        </p:txBody>
      </p:sp>
      <p:sp>
        <p:nvSpPr>
          <p:cNvPr id="340" name=""/>
          <p:cNvSpPr/>
          <p:nvPr/>
        </p:nvSpPr>
        <p:spPr>
          <a:xfrm>
            <a:off x="548640" y="2606040"/>
            <a:ext cx="5441040" cy="3566520"/>
          </a:xfrm>
          <a:custGeom>
            <a:avLst/>
            <a:gdLst/>
            <a:ahLst/>
            <a:rect l="0" t="0" r="r" b="b"/>
            <a:pathLst>
              <a:path w="15114" h="9907">
                <a:moveTo>
                  <a:pt x="14911" y="0"/>
                </a:moveTo>
                <a:cubicBezTo>
                  <a:pt x="15046" y="0"/>
                  <a:pt x="15114" y="68"/>
                  <a:pt x="15114" y="203"/>
                </a:cubicBezTo>
                <a:lnTo>
                  <a:pt x="15114" y="9704"/>
                </a:lnTo>
                <a:cubicBezTo>
                  <a:pt x="15114" y="9839"/>
                  <a:pt x="15046" y="9907"/>
                  <a:pt x="14911" y="9907"/>
                </a:cubicBezTo>
                <a:lnTo>
                  <a:pt x="203" y="9907"/>
                </a:lnTo>
                <a:cubicBezTo>
                  <a:pt x="68" y="9907"/>
                  <a:pt x="0" y="9839"/>
                  <a:pt x="0" y="9704"/>
                </a:cubicBezTo>
                <a:lnTo>
                  <a:pt x="0" y="203"/>
                </a:lnTo>
                <a:cubicBezTo>
                  <a:pt x="0" y="68"/>
                  <a:pt x="68" y="0"/>
                  <a:pt x="203" y="0"/>
                </a:cubicBezTo>
                <a:lnTo>
                  <a:pt x="14911" y="0"/>
                </a:lnTo>
                <a:close/>
              </a:path>
            </a:pathLst>
          </a:custGeom>
          <a:solidFill>
            <a:srgbClr val="1C375C"/>
          </a:solidFill>
          <a:ln w="0">
            <a:noFill/>
          </a:ln>
        </p:spPr>
        <p:txBody>
          <a:bodyPr lIns="90000" tIns="45000" rIns="90000" bIns="45000" anchor="t">
            <a:noAutofit/>
          </a:bodyPr>
          <a:p>
            <a:endParaRPr lang="en-US" sz="1800" b="0" u="none" strike="noStrike">
              <a:solidFill>
                <a:srgbClr val="FFFFFF"/>
              </a:solidFill>
              <a:effectLst/>
              <a:uFillTx/>
              <a:latin typeface="Arial"/>
            </a:endParaRPr>
          </a:p>
        </p:txBody>
      </p:sp>
      <p:sp>
        <p:nvSpPr>
          <p:cNvPr id="341" name=""/>
          <p:cNvSpPr txBox="1"/>
          <p:nvPr/>
        </p:nvSpPr>
        <p:spPr>
          <a:xfrm>
            <a:off x="868680" y="2880360"/>
            <a:ext cx="4800600" cy="320040"/>
          </a:xfrm>
          <a:prstGeom prst="rect">
            <a:avLst/>
          </a:prstGeom>
          <a:noFill/>
          <a:ln w="0">
            <a:noFill/>
          </a:ln>
        </p:spPr>
        <p:txBody>
          <a:bodyPr lIns="90000" tIns="45000" rIns="90000" bIns="45000" anchor="t">
            <a:spAutoFit/>
          </a:bodyPr>
          <a:p>
            <a:r>
              <a:rPr lang="en-US" sz="1100" b="1" u="none" spc="150" strike="noStrike">
                <a:solidFill>
                  <a:srgbClr val="279D8F"/>
                </a:solidFill>
                <a:effectLst/>
                <a:uFillTx/>
                <a:latin typeface="Calibri-Bold"/>
                <a:ea typeface="Calibri-Bold"/>
              </a:rPr>
              <a:t>FULL MODEL OUTPUT</a:t>
            </a:r>
            <a:endParaRPr lang="en-US" sz="1100" b="0" u="none" strike="noStrike">
              <a:solidFill>
                <a:srgbClr val="FFFFFF"/>
              </a:solidFill>
              <a:effectLst/>
              <a:uFillTx/>
              <a:latin typeface="Arial"/>
            </a:endParaRPr>
          </a:p>
        </p:txBody>
      </p:sp>
      <p:sp>
        <p:nvSpPr>
          <p:cNvPr id="342" name=""/>
          <p:cNvSpPr txBox="1"/>
          <p:nvPr/>
        </p:nvSpPr>
        <p:spPr>
          <a:xfrm>
            <a:off x="868680" y="3200400"/>
            <a:ext cx="4800600" cy="502920"/>
          </a:xfrm>
          <a:prstGeom prst="rect">
            <a:avLst/>
          </a:prstGeom>
          <a:noFill/>
          <a:ln w="0">
            <a:noFill/>
          </a:ln>
        </p:spPr>
        <p:txBody>
          <a:bodyPr lIns="90000" tIns="45000" rIns="90000" bIns="45000" anchor="t">
            <a:spAutoFit/>
          </a:bodyPr>
          <a:p>
            <a:r>
              <a:rPr lang="en-US" sz="2000" b="1" u="none" strike="noStrike">
                <a:solidFill>
                  <a:srgbClr val="FFFFFF"/>
                </a:solidFill>
                <a:effectLst/>
                <a:uFillTx/>
                <a:latin typeface="Cambria-Bold"/>
                <a:ea typeface="Cambria-Bold"/>
              </a:rPr>
              <a:t>Global VUS Watchlist</a:t>
            </a:r>
            <a:endParaRPr lang="en-US" sz="2000" b="0" u="none" strike="noStrike">
              <a:solidFill>
                <a:srgbClr val="FFFFFF"/>
              </a:solidFill>
              <a:effectLst/>
              <a:uFillTx/>
              <a:latin typeface="Arial"/>
            </a:endParaRPr>
          </a:p>
        </p:txBody>
      </p:sp>
      <p:sp>
        <p:nvSpPr>
          <p:cNvPr id="343" name=""/>
          <p:cNvSpPr txBox="1"/>
          <p:nvPr/>
        </p:nvSpPr>
        <p:spPr>
          <a:xfrm>
            <a:off x="868680" y="3749040"/>
            <a:ext cx="4800600" cy="1554480"/>
          </a:xfrm>
          <a:prstGeom prst="rect">
            <a:avLst/>
          </a:prstGeom>
          <a:noFill/>
          <a:ln w="0">
            <a:noFill/>
          </a:ln>
        </p:spPr>
        <p:txBody>
          <a:bodyPr lIns="90000" tIns="45000" rIns="90000" bIns="45000" anchor="t">
            <a:spAutoFit/>
          </a:bodyPr>
          <a:p>
            <a:pPr>
              <a:lnSpc>
                <a:spcPct val="140000"/>
              </a:lnSpc>
            </a:pPr>
            <a:r>
              <a:rPr lang="en-US" sz="1300" b="0" u="none" strike="noStrike">
                <a:solidFill>
                  <a:srgbClr val="AEBEDD"/>
                </a:solidFill>
                <a:effectLst/>
                <a:uFillTx/>
                <a:latin typeface="Calibri"/>
                <a:ea typeface="Calibri"/>
              </a:rPr>
              <a:t>All 2,330,308 VUS currently open in ClinVar, every model column: overall reclassification likelihood, all ten yearly resolution probabilities, predicted direction, and the driver features behind each score. Ranked by likelihood, descending.</a:t>
            </a:r>
            <a:endParaRPr lang="en-US" sz="1300" b="0" u="none" strike="noStrike">
              <a:solidFill>
                <a:srgbClr val="FFFFFF"/>
              </a:solidFill>
              <a:effectLst/>
              <a:uFillTx/>
              <a:latin typeface="Arial"/>
            </a:endParaRPr>
          </a:p>
        </p:txBody>
      </p:sp>
      <p:sp>
        <p:nvSpPr>
          <p:cNvPr id="344" name=""/>
          <p:cNvSpPr txBox="1"/>
          <p:nvPr/>
        </p:nvSpPr>
        <p:spPr>
          <a:xfrm>
            <a:off x="868680" y="5577840"/>
            <a:ext cx="4800600" cy="365760"/>
          </a:xfrm>
          <a:prstGeom prst="rect">
            <a:avLst/>
          </a:prstGeom>
          <a:noFill/>
          <a:ln w="0">
            <a:noFill/>
          </a:ln>
        </p:spPr>
        <p:txBody>
          <a:bodyPr lIns="90000" tIns="45000" rIns="90000" bIns="45000" anchor="t">
            <a:spAutoFit/>
          </a:bodyPr>
          <a:p>
            <a:r>
              <a:rPr lang="en-US" sz="1800" b="1" u="sng" strike="noStrike">
                <a:solidFill>
                  <a:srgbClr val="E9C467"/>
                </a:solidFill>
                <a:effectLst/>
                <a:uFillTx/>
                <a:latin typeface="Arial"/>
                <a:hlinkClick r:id="rId1"/>
              </a:rPr>
              <a:t>Open in Google Drive</a:t>
            </a:r>
            <a:endParaRPr lang="en-US" sz="1800" b="0" u="none" strike="noStrike">
              <a:solidFill>
                <a:srgbClr val="FFFFFF"/>
              </a:solidFill>
              <a:effectLst/>
              <a:uFillTx/>
              <a:latin typeface="Arial"/>
            </a:endParaRPr>
          </a:p>
        </p:txBody>
      </p:sp>
      <p:sp>
        <p:nvSpPr>
          <p:cNvPr id="345" name=""/>
          <p:cNvSpPr/>
          <p:nvPr/>
        </p:nvSpPr>
        <p:spPr>
          <a:xfrm>
            <a:off x="6172200" y="2606040"/>
            <a:ext cx="5441040" cy="3566520"/>
          </a:xfrm>
          <a:custGeom>
            <a:avLst/>
            <a:gdLst/>
            <a:ahLst/>
            <a:rect l="0" t="0" r="r" b="b"/>
            <a:pathLst>
              <a:path w="15114" h="9907">
                <a:moveTo>
                  <a:pt x="14911" y="0"/>
                </a:moveTo>
                <a:cubicBezTo>
                  <a:pt x="15046" y="0"/>
                  <a:pt x="15114" y="68"/>
                  <a:pt x="15114" y="203"/>
                </a:cubicBezTo>
                <a:lnTo>
                  <a:pt x="15114" y="9704"/>
                </a:lnTo>
                <a:cubicBezTo>
                  <a:pt x="15114" y="9839"/>
                  <a:pt x="15046" y="9907"/>
                  <a:pt x="14911" y="9907"/>
                </a:cubicBezTo>
                <a:lnTo>
                  <a:pt x="203" y="9907"/>
                </a:lnTo>
                <a:cubicBezTo>
                  <a:pt x="68" y="9907"/>
                  <a:pt x="0" y="9839"/>
                  <a:pt x="0" y="9704"/>
                </a:cubicBezTo>
                <a:lnTo>
                  <a:pt x="0" y="203"/>
                </a:lnTo>
                <a:cubicBezTo>
                  <a:pt x="0" y="68"/>
                  <a:pt x="68" y="0"/>
                  <a:pt x="203" y="0"/>
                </a:cubicBezTo>
                <a:lnTo>
                  <a:pt x="14911" y="0"/>
                </a:lnTo>
                <a:close/>
              </a:path>
            </a:pathLst>
          </a:custGeom>
          <a:solidFill>
            <a:srgbClr val="1C375C"/>
          </a:solidFill>
          <a:ln w="0">
            <a:noFill/>
          </a:ln>
        </p:spPr>
        <p:txBody>
          <a:bodyPr lIns="90000" tIns="45000" rIns="90000" bIns="45000" anchor="t">
            <a:noAutofit/>
          </a:bodyPr>
          <a:p>
            <a:endParaRPr lang="en-US" sz="1800" b="0" u="none" strike="noStrike">
              <a:solidFill>
                <a:srgbClr val="FFFFFF"/>
              </a:solidFill>
              <a:effectLst/>
              <a:uFillTx/>
              <a:latin typeface="Arial"/>
            </a:endParaRPr>
          </a:p>
        </p:txBody>
      </p:sp>
      <p:sp>
        <p:nvSpPr>
          <p:cNvPr id="346" name=""/>
          <p:cNvSpPr txBox="1"/>
          <p:nvPr/>
        </p:nvSpPr>
        <p:spPr>
          <a:xfrm>
            <a:off x="6492240" y="2880360"/>
            <a:ext cx="4800600" cy="320040"/>
          </a:xfrm>
          <a:prstGeom prst="rect">
            <a:avLst/>
          </a:prstGeom>
          <a:noFill/>
          <a:ln w="0">
            <a:noFill/>
          </a:ln>
        </p:spPr>
        <p:txBody>
          <a:bodyPr lIns="90000" tIns="45000" rIns="90000" bIns="45000" anchor="t">
            <a:spAutoFit/>
          </a:bodyPr>
          <a:p>
            <a:r>
              <a:rPr lang="en-US" sz="1100" b="1" u="none" spc="150" strike="noStrike">
                <a:solidFill>
                  <a:srgbClr val="E76C4E"/>
                </a:solidFill>
                <a:effectLst/>
                <a:uFillTx/>
                <a:latin typeface="Calibri-Bold"/>
                <a:ea typeface="Calibri-Bold"/>
              </a:rPr>
              <a:t>TOP CANDIDATES, NEXT 5 YEARS</a:t>
            </a:r>
            <a:endParaRPr lang="en-US" sz="1100" b="0" u="none" strike="noStrike">
              <a:solidFill>
                <a:srgbClr val="FFFFFF"/>
              </a:solidFill>
              <a:effectLst/>
              <a:uFillTx/>
              <a:latin typeface="Arial"/>
            </a:endParaRPr>
          </a:p>
        </p:txBody>
      </p:sp>
      <p:sp>
        <p:nvSpPr>
          <p:cNvPr id="347" name=""/>
          <p:cNvSpPr txBox="1"/>
          <p:nvPr/>
        </p:nvSpPr>
        <p:spPr>
          <a:xfrm>
            <a:off x="6492240" y="3200400"/>
            <a:ext cx="4800600" cy="502920"/>
          </a:xfrm>
          <a:prstGeom prst="rect">
            <a:avLst/>
          </a:prstGeom>
          <a:noFill/>
          <a:ln w="0">
            <a:noFill/>
          </a:ln>
        </p:spPr>
        <p:txBody>
          <a:bodyPr lIns="90000" tIns="45000" rIns="90000" bIns="45000" anchor="t">
            <a:spAutoFit/>
          </a:bodyPr>
          <a:p>
            <a:r>
              <a:rPr lang="en-US" sz="2000" b="1" u="none" strike="noStrike">
                <a:solidFill>
                  <a:srgbClr val="FFFFFF"/>
                </a:solidFill>
                <a:effectLst/>
                <a:uFillTx/>
                <a:latin typeface="Cambria-Bold"/>
                <a:ea typeface="Cambria-Bold"/>
              </a:rPr>
              <a:t>Watchlist: Likely Within 5 Years</a:t>
            </a:r>
            <a:endParaRPr lang="en-US" sz="2000" b="0" u="none" strike="noStrike">
              <a:solidFill>
                <a:srgbClr val="FFFFFF"/>
              </a:solidFill>
              <a:effectLst/>
              <a:uFillTx/>
              <a:latin typeface="Arial"/>
            </a:endParaRPr>
          </a:p>
        </p:txBody>
      </p:sp>
      <p:sp>
        <p:nvSpPr>
          <p:cNvPr id="348" name=""/>
          <p:cNvSpPr txBox="1"/>
          <p:nvPr/>
        </p:nvSpPr>
        <p:spPr>
          <a:xfrm>
            <a:off x="6492240" y="3749040"/>
            <a:ext cx="4800600" cy="1554480"/>
          </a:xfrm>
          <a:prstGeom prst="rect">
            <a:avLst/>
          </a:prstGeom>
          <a:noFill/>
          <a:ln w="0">
            <a:noFill/>
          </a:ln>
        </p:spPr>
        <p:txBody>
          <a:bodyPr lIns="90000" tIns="45000" rIns="90000" bIns="45000" anchor="t">
            <a:spAutoFit/>
          </a:bodyPr>
          <a:p>
            <a:pPr>
              <a:lnSpc>
                <a:spcPct val="140000"/>
              </a:lnSpc>
            </a:pPr>
            <a:r>
              <a:rPr lang="en-US" sz="1300" b="0" u="none" strike="noStrike">
                <a:solidFill>
                  <a:srgbClr val="AEBEDD"/>
                </a:solidFill>
                <a:effectLst/>
                <a:uFillTx/>
                <a:latin typeface="Calibri"/>
                <a:ea typeface="Calibri"/>
              </a:rPr>
              <a:t>The relative top tier of the watchlist by 5-year resolution probability (8,655 variants, just above the real 99th percentile). Gene name and score only.</a:t>
            </a:r>
            <a:endParaRPr lang="en-US" sz="1300" b="0" u="none" strike="noStrike">
              <a:solidFill>
                <a:srgbClr val="FFFFFF"/>
              </a:solidFill>
              <a:effectLst/>
              <a:uFillTx/>
              <a:latin typeface="Arial"/>
            </a:endParaRPr>
          </a:p>
        </p:txBody>
      </p:sp>
      <p:sp>
        <p:nvSpPr>
          <p:cNvPr id="349" name=""/>
          <p:cNvSpPr txBox="1"/>
          <p:nvPr/>
        </p:nvSpPr>
        <p:spPr>
          <a:xfrm>
            <a:off x="6492240" y="5577840"/>
            <a:ext cx="4800600" cy="365760"/>
          </a:xfrm>
          <a:prstGeom prst="rect">
            <a:avLst/>
          </a:prstGeom>
          <a:noFill/>
          <a:ln w="0">
            <a:noFill/>
          </a:ln>
        </p:spPr>
        <p:txBody>
          <a:bodyPr lIns="90000" tIns="45000" rIns="90000" bIns="45000" anchor="t">
            <a:spAutoFit/>
          </a:bodyPr>
          <a:p>
            <a:r>
              <a:rPr lang="en-US" sz="1800" b="1" u="sng" strike="noStrike">
                <a:solidFill>
                  <a:srgbClr val="E9C467"/>
                </a:solidFill>
                <a:effectLst/>
                <a:uFillTx/>
                <a:latin typeface="Arial"/>
                <a:hlinkClick r:id="rId2"/>
              </a:rPr>
              <a:t>Open in Google Drive</a:t>
            </a:r>
            <a:endParaRPr lang="en-US" sz="1800" b="0" u="none" strike="noStrike">
              <a:solidFill>
                <a:srgbClr val="FFFFFF"/>
              </a:solidFill>
              <a:effectLst/>
              <a:uFillTx/>
              <a:latin typeface="Arial"/>
            </a:endParaRPr>
          </a:p>
        </p:txBody>
      </p:sp>
      <p:sp>
        <p:nvSpPr>
          <p:cNvPr id="350" name=""/>
          <p:cNvSpPr txBox="1"/>
          <p:nvPr/>
        </p:nvSpPr>
        <p:spPr>
          <a:xfrm>
            <a:off x="11368840" y="6469560"/>
            <a:ext cx="500000" cy="300000"/>
          </a:xfrm>
          <a:prstGeom prst="rect">
            <a:avLst/>
          </a:prstGeom>
          <a:noFill/>
          <a:ln w="0">
            <a:noFill/>
          </a:ln>
        </p:spPr>
        <p:txBody>
          <a:bodyPr lIns="90000" tIns="45000" rIns="90000" bIns="45000" anchor="t">
            <a:spAutoFit/>
          </a:bodyPr>
          <a:p>
            <a:pPr algn="r"/>
            <a:r>
              <a:rPr lang="en-US" sz="1000" b="0" u="none" strike="noStrike">
                <a:solidFill>
                  <a:srgbClr val="8D99AE"/>
                </a:solidFill>
                <a:effectLst/>
                <a:uFillTx/>
                <a:latin typeface="Calibri"/>
                <a:ea typeface="Calibri"/>
              </a:rPr>
              <a:t>2</a:t>
            </a:r>
            <a:r>
              <a:rPr lang="en-US" sz="1000" b="0" u="none" strike="noStrike">
                <a:solidFill>
                  <a:srgbClr val="8D99AE"/>
                </a:solidFill>
                <a:effectLst/>
                <a:uFillTx/>
                <a:latin typeface="Calibri"/>
                <a:ea typeface="Calibri"/>
              </a:rPr>
              <a:t>8</a:t>
            </a:r>
            <a:endParaRPr lang="en-US" sz="10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F242E"/>
        </a:solidFill>
      </p:bgPr>
    </p:bg>
    <p:spTree>
      <p:nvGrpSpPr>
        <p:cNvPr id="1" name=""/>
        <p:cNvGrpSpPr/>
        <p:nvPr/>
      </p:nvGrpSpPr>
      <p:grpSpPr>
        <a:xfrm>
          <a:off x="0" y="0"/>
          <a:ext cx="0" cy="0"/>
          <a:chOff x="0" y="0"/>
          <a:chExt cx="0" cy="0"/>
        </a:xfrm>
      </p:grpSpPr>
      <p:sp>
        <p:nvSpPr>
          <p:cNvPr id="337" name=""/>
          <p:cNvSpPr txBox="1"/>
          <p:nvPr/>
        </p:nvSpPr>
        <p:spPr>
          <a:xfrm>
            <a:off x="548640" y="502920"/>
            <a:ext cx="7315200" cy="365760"/>
          </a:xfrm>
          <a:prstGeom prst="rect">
            <a:avLst/>
          </a:prstGeom>
          <a:noFill/>
          <a:ln w="0">
            <a:noFill/>
          </a:ln>
        </p:spPr>
        <p:txBody>
          <a:bodyPr lIns="90000" tIns="45000" rIns="90000" bIns="45000" anchor="t">
            <a:spAutoFit/>
          </a:bodyPr>
          <a:p>
            <a:r>
              <a:rPr lang="en-US" sz="1300" b="1" u="none" spc="201" strike="noStrike">
                <a:solidFill>
                  <a:srgbClr val="E9C467"/>
                </a:solidFill>
                <a:effectLst/>
                <a:uFillTx/>
                <a:latin typeface="Calibri-Bold"/>
                <a:ea typeface="Calibri-Bold"/>
              </a:rPr>
              <a:t>LIVE DEMO</a:t>
            </a:r>
            <a:endParaRPr lang="en-US" sz="1300" b="0" u="none" strike="noStrike">
              <a:solidFill>
                <a:srgbClr val="FFFFFF"/>
              </a:solidFill>
              <a:effectLst/>
              <a:uFillTx/>
              <a:latin typeface="Arial"/>
            </a:endParaRPr>
          </a:p>
        </p:txBody>
      </p:sp>
      <p:sp>
        <p:nvSpPr>
          <p:cNvPr id="338" name=""/>
          <p:cNvSpPr txBox="1"/>
          <p:nvPr/>
        </p:nvSpPr>
        <p:spPr>
          <a:xfrm>
            <a:off x="548640" y="868680"/>
            <a:ext cx="11064240" cy="914400"/>
          </a:xfrm>
          <a:prstGeom prst="rect">
            <a:avLst/>
          </a:prstGeom>
          <a:noFill/>
          <a:ln w="0">
            <a:noFill/>
          </a:ln>
        </p:spPr>
        <p:txBody>
          <a:bodyPr lIns="90000" tIns="45000" rIns="90000" bIns="45000" anchor="t">
            <a:spAutoFit/>
          </a:bodyPr>
          <a:p>
            <a:pPr>
              <a:lnSpc>
                <a:spcPct val="105000"/>
              </a:lnSpc>
            </a:pPr>
            <a:r>
              <a:rPr lang="en-US" sz="3000" b="1" u="none" strike="noStrike">
                <a:solidFill>
                  <a:srgbClr val="FFFFFF"/>
                </a:solidFill>
                <a:effectLst/>
                <a:uFillTx/>
                <a:latin typeface="Cambria-Bold"/>
                <a:ea typeface="Cambria-Bold"/>
              </a:rPr>
              <a:t>See the Model Run, Live</a:t>
            </a:r>
            <a:endParaRPr lang="en-US" sz="3000" b="0" u="none" strike="noStrike">
              <a:solidFill>
                <a:srgbClr val="FFFFFF"/>
              </a:solidFill>
              <a:effectLst/>
              <a:uFillTx/>
              <a:latin typeface="Arial"/>
            </a:endParaRPr>
          </a:p>
        </p:txBody>
      </p:sp>
      <p:sp>
        <p:nvSpPr>
          <p:cNvPr id="339" name=""/>
          <p:cNvSpPr txBox="1"/>
          <p:nvPr/>
        </p:nvSpPr>
        <p:spPr>
          <a:xfrm>
            <a:off x="548640" y="1783080"/>
            <a:ext cx="11064240" cy="640080"/>
          </a:xfrm>
          <a:prstGeom prst="rect">
            <a:avLst/>
          </a:prstGeom>
          <a:noFill/>
          <a:ln w="0">
            <a:noFill/>
          </a:ln>
        </p:spPr>
        <p:txBody>
          <a:bodyPr lIns="90000" tIns="45000" rIns="90000" bIns="45000" anchor="t">
            <a:spAutoFit/>
          </a:bodyPr>
          <a:p>
            <a:pPr>
              <a:lnSpc>
                <a:spcPct val="135000"/>
              </a:lnSpc>
            </a:pPr>
            <a:r>
              <a:rPr lang="en-US" sz="1400" b="0" u="none" strike="noStrike">
                <a:solidFill>
                  <a:srgbClr val="D6DEEC"/>
                </a:solidFill>
                <a:effectLst/>
                <a:uFillTx/>
                <a:latin typeface="Calibri"/>
                <a:ea typeface="Calibri"/>
              </a:rPr>
              <a:t>The full Stage 1 and Stage 2 pipeline is deployed as a working web app: upload a MAF or VCF file and get real predictions back from the actual trained models behind this deck, not a mockup.</a:t>
            </a:r>
            <a:r>
              <a:rPr lang="en-US" sz="1400" b="0" u="none" strike="noStrike">
                <a:solidFill>
                  <a:srgbClr val="D6DEEC"/>
                </a:solidFill>
                <a:effectLst/>
                <a:uFillTx/>
                <a:latin typeface="Calibri"/>
                <a:ea typeface="Calibri"/>
              </a:rPr>
              <a:t/>
            </a:r>
            <a:r>
              <a:rPr lang="en-US" sz="1400" b="0" u="none" strike="noStrike">
                <a:solidFill>
                  <a:srgbClr val="D6DEEC"/>
                </a:solidFill>
                <a:effectLst/>
                <a:uFillTx/>
                <a:latin typeface="Calibri"/>
                <a:ea typeface="Calibri"/>
              </a:rPr>
              <a:t/>
            </a:r>
            <a:r>
              <a:rPr lang="en-US" sz="1400" b="0" u="none" strike="noStrike">
                <a:solidFill>
                  <a:srgbClr val="D6DEEC"/>
                </a:solidFill>
                <a:effectLst/>
                <a:uFillTx/>
                <a:latin typeface="Calibri"/>
                <a:ea typeface="Calibri"/>
              </a:rPr>
              <a:t/>
            </a:r>
            <a:endParaRPr lang="en-US" sz="1400" b="0" u="none" strike="noStrike">
              <a:solidFill>
                <a:srgbClr val="FFFFFF"/>
              </a:solidFill>
              <a:effectLst/>
              <a:uFillTx/>
              <a:latin typeface="Arial"/>
            </a:endParaRPr>
          </a:p>
        </p:txBody>
      </p:sp>
      <p:sp>
        <p:nvSpPr>
          <p:cNvPr id="351" name="Rounded Rectangle 350"/>
          <p:cNvSpPr/>
          <p:nvPr/>
        </p:nvSpPr>
        <p:spPr>
          <a:xfrm>
            <a:off x="548640" y="2606040"/>
            <a:ext cx="11064240" cy="2454480"/>
          </a:xfrm>
          <a:prstGeom prst="roundRect">
            <a:avLst>
              <a:gd name="adj" fmla="val 2000"/>
            </a:avLst>
          </a:prstGeom>
          <a:solidFill>
            <a:srgbClr val="1C37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1" name=""/>
          <p:cNvSpPr txBox="1"/>
          <p:nvPr/>
        </p:nvSpPr>
        <p:spPr>
          <a:xfrm>
            <a:off x="868680" y="2880360"/>
            <a:ext cx="5012080" cy="320040"/>
          </a:xfrm>
          <a:prstGeom prst="rect">
            <a:avLst/>
          </a:prstGeom>
          <a:noFill/>
          <a:ln w="0">
            <a:noFill/>
          </a:ln>
        </p:spPr>
        <p:txBody>
          <a:bodyPr lIns="90000" tIns="45000" rIns="90000" bIns="45000" anchor="t">
            <a:spAutoFit/>
          </a:bodyPr>
          <a:p>
            <a:r>
              <a:rPr lang="en-US" sz="1100" b="1" u="none" spc="150" strike="noStrike">
                <a:solidFill>
                  <a:srgbClr val="279D8F"/>
                </a:solidFill>
                <a:effectLst/>
                <a:uFillTx/>
                <a:latin typeface="Calibri-Bold"/>
                <a:ea typeface="Calibri-Bold"/>
              </a:rPr>
              <a:t>WEB APP</a:t>
            </a:r>
            <a:endParaRPr lang="en-US" sz="1100" b="0" u="none" strike="noStrike">
              <a:solidFill>
                <a:srgbClr val="FFFFFF"/>
              </a:solidFill>
              <a:effectLst/>
              <a:uFillTx/>
              <a:latin typeface="Arial"/>
            </a:endParaRPr>
          </a:p>
        </p:txBody>
      </p:sp>
      <p:sp>
        <p:nvSpPr>
          <p:cNvPr id="343" name=""/>
          <p:cNvSpPr txBox="1"/>
          <p:nvPr/>
        </p:nvSpPr>
        <p:spPr>
          <a:xfrm>
            <a:off x="868680" y="3246120"/>
            <a:ext cx="5012080" cy="900000"/>
          </a:xfrm>
          <a:prstGeom prst="rect">
            <a:avLst/>
          </a:prstGeom>
          <a:noFill/>
          <a:ln w="0">
            <a:noFill/>
          </a:ln>
        </p:spPr>
        <p:txBody>
          <a:bodyPr lIns="90000" tIns="45000" rIns="90000" bIns="45000" anchor="t">
            <a:spAutoFit/>
          </a:bodyPr>
          <a:p>
            <a:pPr>
              <a:lnSpc>
                <a:spcPct val="140000"/>
              </a:lnSpc>
            </a:pPr>
            <a:r>
              <a:rPr lang="en-US" sz="1300" b="0" u="none" strike="noStrike">
                <a:solidFill>
                  <a:srgbClr val="AEBEDD"/>
                </a:solidFill>
                <a:effectLst/>
                <a:uFillTx/>
                <a:latin typeface="Calibri"/>
                <a:ea typeface="Calibri"/>
              </a:rPr>
              <a:t>Upload a MAF or VCF file and get real Stage 1 and Stage 2 predictions back, generated by the same trained models used throughout this deck.</a:t>
            </a:r>
            <a:endParaRPr lang="en-US" sz="1300" b="0" u="none" strike="noStrike">
              <a:solidFill>
                <a:srgbClr val="FFFFFF"/>
              </a:solidFill>
              <a:effectLst/>
              <a:uFillTx/>
              <a:latin typeface="Arial"/>
            </a:endParaRPr>
          </a:p>
        </p:txBody>
      </p:sp>
      <p:sp>
        <p:nvSpPr>
          <p:cNvPr id="344" name=""/>
          <p:cNvSpPr txBox="1"/>
          <p:nvPr/>
        </p:nvSpPr>
        <p:spPr>
          <a:xfrm>
            <a:off x="868680" y="4420440"/>
            <a:ext cx="10424160" cy="365760"/>
          </a:xfrm>
          <a:prstGeom prst="rect">
            <a:avLst/>
          </a:prstGeom>
          <a:noFill/>
          <a:ln w="0">
            <a:noFill/>
          </a:ln>
        </p:spPr>
        <p:txBody>
          <a:bodyPr lIns="90000" tIns="45000" rIns="90000" bIns="45000" anchor="t">
            <a:spAutoFit/>
          </a:bodyPr>
          <a:p>
            <a:pPr algn="ctr"/>
            <a:r>
              <a:rPr lang="en-US" sz="1800" b="1" u="sng" strike="noStrike">
                <a:solidFill>
                  <a:srgbClr val="E9C467"/>
                </a:solidFill>
                <a:effectLst/>
                <a:uFillTx/>
                <a:latin typeface="Arial"/>
                <a:hlinkClick r:id="rId2"/>
              </a:rPr>
              <a:t>Open the Live App</a:t>
            </a:r>
            <a:endParaRPr lang="en-US" sz="1800" b="0" u="none" strike="noStrike">
              <a:solidFill>
                <a:srgbClr val="FFFFFF"/>
              </a:solidFill>
              <a:effectLst/>
              <a:uFillTx/>
              <a:latin typeface="Arial"/>
            </a:endParaRPr>
          </a:p>
        </p:txBody>
      </p:sp>
      <p:sp>
        <p:nvSpPr>
          <p:cNvPr id="346" name=""/>
          <p:cNvSpPr txBox="1"/>
          <p:nvPr/>
        </p:nvSpPr>
        <p:spPr>
          <a:xfrm>
            <a:off x="6280760" y="2880360"/>
            <a:ext cx="5012080" cy="320040"/>
          </a:xfrm>
          <a:prstGeom prst="rect">
            <a:avLst/>
          </a:prstGeom>
          <a:noFill/>
          <a:ln w="0">
            <a:noFill/>
          </a:ln>
        </p:spPr>
        <p:txBody>
          <a:bodyPr lIns="90000" tIns="45000" rIns="90000" bIns="45000" anchor="t">
            <a:spAutoFit/>
          </a:bodyPr>
          <a:p>
            <a:r>
              <a:rPr lang="en-US" sz="1100" b="1" u="none" spc="150" strike="noStrike">
                <a:solidFill>
                  <a:srgbClr val="E76C4E"/>
                </a:solidFill>
                <a:effectLst/>
                <a:uFillTx/>
                <a:latin typeface="Calibri-Bold"/>
                <a:ea typeface="Calibri-Bold"/>
              </a:rPr>
              <a:t>HOW IT WORKS</a:t>
            </a:r>
            <a:endParaRPr lang="en-US" sz="1100" b="0" u="none" strike="noStrike">
              <a:solidFill>
                <a:srgbClr val="FFFFFF"/>
              </a:solidFill>
              <a:effectLst/>
              <a:uFillTx/>
              <a:latin typeface="Arial"/>
            </a:endParaRPr>
          </a:p>
        </p:txBody>
      </p:sp>
      <p:sp>
        <p:nvSpPr>
          <p:cNvPr id="348" name=""/>
          <p:cNvSpPr txBox="1"/>
          <p:nvPr/>
        </p:nvSpPr>
        <p:spPr>
          <a:xfrm>
            <a:off x="6280760" y="3246120"/>
            <a:ext cx="5012080" cy="900000"/>
          </a:xfrm>
          <a:prstGeom prst="rect">
            <a:avLst/>
          </a:prstGeom>
          <a:noFill/>
          <a:ln w="0">
            <a:noFill/>
          </a:ln>
        </p:spPr>
        <p:txBody>
          <a:bodyPr lIns="90000" tIns="45000" rIns="90000" bIns="45000" anchor="t">
            <a:spAutoFit/>
          </a:bodyPr>
          <a:p>
            <a:pPr>
              <a:lnSpc>
                <a:spcPct val="140000"/>
              </a:lnSpc>
            </a:pPr>
            <a:r>
              <a:rPr lang="en-US" sz="1300" b="0" u="none" strike="noStrike">
                <a:solidFill>
                  <a:srgbClr val="AEBEDD"/>
                </a:solidFill>
                <a:effectLst/>
                <a:uFillTx/>
                <a:latin typeface="Calibri"/>
                <a:ea typeface="Calibri"/>
              </a:rPr>
              <a:t>Each variant is sorted into germline, somatic, or VUS. Every VUS is then scored for reclassification probability, expected timing, and predicted direction.</a:t>
            </a:r>
            <a:endParaRPr lang="en-US" sz="1300" b="0" u="none" strike="noStrike">
              <a:solidFill>
                <a:srgbClr val="FFFFFF"/>
              </a:solidFill>
              <a:effectLst/>
              <a:uFillTx/>
              <a:latin typeface="Arial"/>
            </a:endParaRPr>
          </a:p>
        </p:txBody>
      </p:sp>
      <p:sp>
        <p:nvSpPr>
          <p:cNvPr id="350" name=""/>
          <p:cNvSpPr txBox="1"/>
          <p:nvPr/>
        </p:nvSpPr>
        <p:spPr>
          <a:xfrm>
            <a:off x="11368840" y="6469560"/>
            <a:ext cx="500000" cy="300000"/>
          </a:xfrm>
          <a:prstGeom prst="rect">
            <a:avLst/>
          </a:prstGeom>
          <a:noFill/>
          <a:ln w="0">
            <a:noFill/>
          </a:ln>
        </p:spPr>
        <p:txBody>
          <a:bodyPr lIns="90000" tIns="45000" rIns="90000" bIns="45000" anchor="t">
            <a:spAutoFit/>
          </a:bodyPr>
          <a:p>
            <a:pPr algn="r"/>
            <a:r>
              <a:rPr lang="en-US" sz="1000" b="0" u="none" strike="noStrike">
                <a:solidFill>
                  <a:srgbClr val="8D99AE"/>
                </a:solidFill>
                <a:effectLst/>
                <a:uFillTx/>
                <a:latin typeface="Calibri"/>
                <a:ea typeface="Calibri"/>
              </a:rPr>
              <a:t>2</a:t>
            </a:r>
            <a:r>
              <a:rPr lang="en-US" sz="1000" b="0" u="none" strike="noStrike">
                <a:solidFill>
                  <a:srgbClr val="8D99AE"/>
                </a:solidFill>
                <a:effectLst/>
                <a:uFillTx/>
                <a:latin typeface="Calibri"/>
                <a:ea typeface="Calibri"/>
              </a:rPr>
              <a:t>9</a:t>
            </a:r>
            <a:endParaRPr lang="en-US" sz="10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C375C"/>
        </a:solidFill>
      </p:bgPr>
    </p:bg>
    <p:spTree>
      <p:nvGrpSpPr>
        <p:cNvPr id="1" name=""/>
        <p:cNvGrpSpPr/>
        <p:nvPr/>
      </p:nvGrpSpPr>
      <p:grpSpPr>
        <a:xfrm>
          <a:off x="0" y="0"/>
          <a:ext cx="0" cy="0"/>
          <a:chOff x="0" y="0"/>
          <a:chExt cx="0" cy="0"/>
        </a:xfrm>
      </p:grpSpPr>
      <p:sp>
        <p:nvSpPr>
          <p:cNvPr id="351" name=""/>
          <p:cNvSpPr txBox="1"/>
          <p:nvPr/>
        </p:nvSpPr>
        <p:spPr>
          <a:xfrm>
            <a:off x="822960" y="1965960"/>
            <a:ext cx="10515600" cy="822960"/>
          </a:xfrm>
          <a:prstGeom prst="rect">
            <a:avLst/>
          </a:prstGeom>
          <a:noFill/>
          <a:ln w="0">
            <a:noFill/>
          </a:ln>
        </p:spPr>
        <p:txBody>
          <a:bodyPr lIns="90000" tIns="45000" rIns="90000" bIns="45000" anchor="t">
            <a:spAutoFit/>
          </a:bodyPr>
          <a:p>
            <a:r>
              <a:rPr lang="en-US" sz="3400" b="1" u="none" strike="noStrike">
                <a:solidFill>
                  <a:srgbClr val="FFFFFF"/>
                </a:solidFill>
                <a:effectLst/>
                <a:uFillTx/>
                <a:latin typeface="Cambria-Bold"/>
                <a:ea typeface="Cambria-Bold"/>
              </a:rPr>
              <a:t>Thank You</a:t>
            </a:r>
            <a:r>
              <a:rPr lang="en-US" sz="3400" b="1" u="none" strike="noStrike">
                <a:solidFill>
                  <a:srgbClr val="FFFFFF"/>
                </a:solidFill>
                <a:effectLst/>
                <a:uFillTx/>
                <a:latin typeface="Cambria-Bold"/>
                <a:ea typeface="Cambria-Bold"/>
              </a:rPr>
              <a:t>!</a:t>
            </a:r>
            <a:endParaRPr lang="en-US" sz="3400" b="0" u="none" strike="noStrike">
              <a:solidFill>
                <a:srgbClr val="FFFFFF"/>
              </a:solidFill>
              <a:effectLst/>
              <a:uFillTx/>
              <a:latin typeface="Arial"/>
            </a:endParaRPr>
          </a:p>
        </p:txBody>
      </p:sp>
      <p:sp>
        <p:nvSpPr>
          <p:cNvPr id="352" name=""/>
          <p:cNvSpPr txBox="1"/>
          <p:nvPr/>
        </p:nvSpPr>
        <p:spPr>
          <a:xfrm>
            <a:off x="822960" y="4343400"/>
            <a:ext cx="9875520" cy="914400"/>
          </a:xfrm>
          <a:prstGeom prst="rect">
            <a:avLst/>
          </a:prstGeom>
          <a:noFill/>
          <a:ln w="0">
            <a:noFill/>
          </a:ln>
        </p:spPr>
        <p:txBody>
          <a:bodyPr lIns="90000" tIns="45000" rIns="90000" bIns="45000" anchor="t">
            <a:spAutoFit/>
          </a:bodyPr>
          <a:p>
            <a:pPr>
              <a:lnSpc>
                <a:spcPct val="130000"/>
              </a:lnSpc>
            </a:pPr>
            <a:r>
              <a:rPr lang="en-US" sz="1300" b="0" u="none" strike="noStrike">
                <a:solidFill>
                  <a:srgbClr val="C9DADA"/>
                </a:solidFill>
                <a:effectLst/>
                <a:uFillTx/>
                <a:latin typeface="Calibri"/>
                <a:ea typeface="Calibri"/>
              </a:rPr>
              <a:t>Prakhar Shah</a:t>
            </a:r>
            <a:endParaRPr lang="en-US" sz="1300" b="0" u="none" strike="noStrike">
              <a:solidFill>
                <a:srgbClr val="FFFFFF"/>
              </a:solidFill>
              <a:effectLst/>
              <a:uFillTx/>
              <a:latin typeface="Arial"/>
            </a:endParaRPr>
          </a:p>
          <a:p>
            <a:pPr>
              <a:lnSpc>
                <a:spcPct val="130000"/>
              </a:lnSpc>
            </a:pPr>
            <a:r>
              <a:rPr lang="en-US" sz="1800" b="0" u="sng" strike="noStrike">
                <a:solidFill>
                  <a:srgbClr val="E9C467"/>
                </a:solidFill>
                <a:effectLst/>
                <a:uFillTx/>
                <a:latin typeface="Arial"/>
                <a:hlinkClick r:id="rId1"/>
              </a:rPr>
              <a:t>prs016@ucsd.edu</a:t>
            </a:r>
            <a:endParaRPr lang="en-US" sz="1800" b="0" u="none" strike="noStrike">
              <a:solidFill>
                <a:srgbClr val="FFFFFF"/>
              </a:solidFill>
              <a:effectLst/>
              <a:uFillTx/>
              <a:latin typeface="Arial"/>
            </a:endParaRPr>
          </a:p>
          <a:p>
            <a:pPr>
              <a:lnSpc>
                <a:spcPct val="130000"/>
              </a:lnSpc>
            </a:pPr>
            <a:r>
              <a:rPr lang="en-US" sz="1300" b="0" u="sng" strike="noStrike">
                <a:solidFill>
                  <a:srgbClr val="E9C467"/>
                </a:solidFill>
                <a:effectLst/>
                <a:uFillTx/>
                <a:latin typeface="Calibri"/>
                <a:ea typeface="Calibri"/>
                <a:hlinkClick r:id="rId3"/>
              </a:rPr>
              <a:t>https://www.linkedin.com/in/prakhar-shah-842b48293</a:t>
            </a:r>
            <a:endParaRPr lang="en-US" sz="1300" b="0" u="none" strike="noStrike">
              <a:solidFill>
                <a:srgbClr val="FFFFFF"/>
              </a:solidFill>
              <a:effectLst/>
              <a:uFillTx/>
              <a:latin typeface="Arial"/>
            </a:endParaRPr>
          </a:p>
        </p:txBody>
      </p:sp>
      <p:sp>
        <p:nvSpPr>
          <p:cNvPr id="353" name=""/>
          <p:cNvSpPr/>
          <p:nvPr/>
        </p:nvSpPr>
        <p:spPr>
          <a:xfrm>
            <a:off x="822960" y="5532120"/>
            <a:ext cx="1006200" cy="41400"/>
          </a:xfrm>
          <a:custGeom>
            <a:avLst/>
            <a:gdLst/>
            <a:ahLst/>
            <a:rect l="0" t="0" r="r" b="b"/>
            <a:pathLst>
              <a:path w="2795" h="115">
                <a:moveTo>
                  <a:pt x="0" y="0"/>
                </a:moveTo>
                <a:lnTo>
                  <a:pt x="2795" y="0"/>
                </a:lnTo>
                <a:lnTo>
                  <a:pt x="2795" y="115"/>
                </a:lnTo>
                <a:lnTo>
                  <a:pt x="0" y="115"/>
                </a:lnTo>
                <a:lnTo>
                  <a:pt x="0" y="0"/>
                </a:lnTo>
                <a:close/>
              </a:path>
            </a:pathLst>
          </a:custGeom>
          <a:solidFill>
            <a:srgbClr val="E76C4E"/>
          </a:solidFill>
          <a:ln w="0">
            <a:noFill/>
          </a:ln>
        </p:spPr>
        <p:txBody>
          <a:bodyPr lIns="90000" tIns="-3600" rIns="90000" bIns="-3600" anchor="t">
            <a:noAutofit/>
          </a:bodyPr>
          <a:p>
            <a:endParaRPr lang="en-US" sz="18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E9C467"/>
      </a:hlink>
      <a:folHlink>
        <a:srgbClr val="E9C467"/>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0</TotalTime>
  <Application>LibreOffice/26.2.5.2$Linux_AARCH64 LibreOffice_project/620$Build-2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dc:description/>
  <dc:language>en-US</dc:language>
  <cp:lastModifiedBy/>
  <cp:revision>0</cp:revision>
  <dc:subject/>
  <dc:title/>
</cp:coreProperties>
</file>